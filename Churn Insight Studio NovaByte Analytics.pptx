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Poppins Bold" charset="1" panose="00000800000000000000"/>
      <p:regular r:id="rId16"/>
    </p:embeddedFont>
    <p:embeddedFont>
      <p:font typeface="Poppins" charset="1" panose="00000500000000000000"/>
      <p:regular r:id="rId17"/>
    </p:embeddedFont>
    <p:embeddedFont>
      <p:font typeface="Bricolage Grotesque" charset="1" panose="020B0605040402000204"/>
      <p:regular r:id="rId18"/>
    </p:embeddedFont>
    <p:embeddedFont>
      <p:font typeface="Canva Sans Bold" charset="1" panose="020B0803030501040103"/>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2415882" cy="10287000"/>
            <a:chOff x="0" y="0"/>
            <a:chExt cx="636282" cy="2709333"/>
          </a:xfrm>
        </p:grpSpPr>
        <p:sp>
          <p:nvSpPr>
            <p:cNvPr name="Freeform 3" id="3"/>
            <p:cNvSpPr/>
            <p:nvPr/>
          </p:nvSpPr>
          <p:spPr>
            <a:xfrm flipH="false" flipV="false" rot="0">
              <a:off x="0" y="0"/>
              <a:ext cx="636282" cy="2709333"/>
            </a:xfrm>
            <a:custGeom>
              <a:avLst/>
              <a:gdLst/>
              <a:ahLst/>
              <a:cxnLst/>
              <a:rect r="r" b="b" t="t" l="l"/>
              <a:pathLst>
                <a:path h="2709333" w="636282">
                  <a:moveTo>
                    <a:pt x="0" y="0"/>
                  </a:moveTo>
                  <a:lnTo>
                    <a:pt x="636282" y="0"/>
                  </a:lnTo>
                  <a:lnTo>
                    <a:pt x="636282" y="2709333"/>
                  </a:lnTo>
                  <a:lnTo>
                    <a:pt x="0" y="2709333"/>
                  </a:ln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4" id="4"/>
            <p:cNvSpPr txBox="true"/>
            <p:nvPr/>
          </p:nvSpPr>
          <p:spPr>
            <a:xfrm>
              <a:off x="0" y="-38100"/>
              <a:ext cx="636282" cy="27474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10721096" y="-1183313"/>
            <a:ext cx="9217842" cy="13809501"/>
          </a:xfrm>
          <a:custGeom>
            <a:avLst/>
            <a:gdLst/>
            <a:ahLst/>
            <a:cxnLst/>
            <a:rect r="r" b="b" t="t" l="l"/>
            <a:pathLst>
              <a:path h="13809501" w="9217842">
                <a:moveTo>
                  <a:pt x="0" y="0"/>
                </a:moveTo>
                <a:lnTo>
                  <a:pt x="9217842" y="0"/>
                </a:lnTo>
                <a:lnTo>
                  <a:pt x="9217842" y="13809501"/>
                </a:lnTo>
                <a:lnTo>
                  <a:pt x="0" y="13809501"/>
                </a:lnTo>
                <a:lnTo>
                  <a:pt x="0" y="0"/>
                </a:lnTo>
                <a:close/>
              </a:path>
            </a:pathLst>
          </a:custGeom>
          <a:blipFill>
            <a:blip r:embed="rId2"/>
            <a:stretch>
              <a:fillRect l="0" t="0" r="0" b="0"/>
            </a:stretch>
          </a:blipFill>
        </p:spPr>
      </p:sp>
      <p:sp>
        <p:nvSpPr>
          <p:cNvPr name="Freeform 6" id="6"/>
          <p:cNvSpPr/>
          <p:nvPr/>
        </p:nvSpPr>
        <p:spPr>
          <a:xfrm flipH="false" flipV="false" rot="0">
            <a:off x="839956" y="1028700"/>
            <a:ext cx="735971" cy="710546"/>
          </a:xfrm>
          <a:custGeom>
            <a:avLst/>
            <a:gdLst/>
            <a:ahLst/>
            <a:cxnLst/>
            <a:rect r="r" b="b" t="t" l="l"/>
            <a:pathLst>
              <a:path h="710546" w="735971">
                <a:moveTo>
                  <a:pt x="0" y="0"/>
                </a:moveTo>
                <a:lnTo>
                  <a:pt x="735970" y="0"/>
                </a:lnTo>
                <a:lnTo>
                  <a:pt x="735970" y="710546"/>
                </a:lnTo>
                <a:lnTo>
                  <a:pt x="0" y="71054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3320099" y="7330105"/>
            <a:ext cx="2772573" cy="2104426"/>
            <a:chOff x="0" y="0"/>
            <a:chExt cx="3696764" cy="2805901"/>
          </a:xfrm>
        </p:grpSpPr>
        <p:grpSp>
          <p:nvGrpSpPr>
            <p:cNvPr name="Group 8" id="8"/>
            <p:cNvGrpSpPr/>
            <p:nvPr/>
          </p:nvGrpSpPr>
          <p:grpSpPr>
            <a:xfrm rot="0">
              <a:off x="0" y="385418"/>
              <a:ext cx="134591" cy="13459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10" id="10"/>
              <p:cNvSpPr txBox="true"/>
              <p:nvPr/>
            </p:nvSpPr>
            <p:spPr>
              <a:xfrm>
                <a:off x="76200" y="104775"/>
                <a:ext cx="660400" cy="631825"/>
              </a:xfrm>
              <a:prstGeom prst="rect">
                <a:avLst/>
              </a:prstGeom>
            </p:spPr>
            <p:txBody>
              <a:bodyPr anchor="ctr" rtlCol="false" tIns="50800" lIns="50800" bIns="50800" rIns="50800"/>
              <a:lstStyle/>
              <a:p>
                <a:pPr algn="ctr" marL="0" indent="0" lvl="0">
                  <a:lnSpc>
                    <a:spcPts val="1308"/>
                  </a:lnSpc>
                </a:pPr>
              </a:p>
            </p:txBody>
          </p:sp>
        </p:grpSp>
        <p:sp>
          <p:nvSpPr>
            <p:cNvPr name="TextBox 11" id="11"/>
            <p:cNvSpPr txBox="true"/>
            <p:nvPr/>
          </p:nvSpPr>
          <p:spPr>
            <a:xfrm rot="0">
              <a:off x="506484" y="47625"/>
              <a:ext cx="2749098" cy="381297"/>
            </a:xfrm>
            <a:prstGeom prst="rect">
              <a:avLst/>
            </a:prstGeom>
          </p:spPr>
          <p:txBody>
            <a:bodyPr anchor="t" rtlCol="false" tIns="0" lIns="0" bIns="0" rIns="0">
              <a:spAutoFit/>
            </a:bodyPr>
            <a:lstStyle/>
            <a:p>
              <a:pPr algn="l" marL="0" indent="0" lvl="0">
                <a:lnSpc>
                  <a:spcPts val="1869"/>
                </a:lnSpc>
              </a:pPr>
              <a:r>
                <a:rPr lang="en-US" b="true" sz="2149">
                  <a:gradFill>
                    <a:gsLst>
                      <a:gs pos="0">
                        <a:srgbClr val="293E9C">
                          <a:alpha val="100000"/>
                        </a:srgbClr>
                      </a:gs>
                      <a:gs pos="100000">
                        <a:srgbClr val="3A58E4">
                          <a:alpha val="100000"/>
                        </a:srgbClr>
                      </a:gs>
                    </a:gsLst>
                    <a:path path="circle">
                      <a:fillToRect l="0" r="100000" t="0" b="100000"/>
                    </a:path>
                    <a:tileRect r="0" l="-100000" b="0" t="-100000"/>
                  </a:gradFill>
                  <a:latin typeface="Poppins Bold"/>
                  <a:ea typeface="Poppins Bold"/>
                  <a:cs typeface="Poppins Bold"/>
                  <a:sym typeface="Poppins Bold"/>
                </a:rPr>
                <a:t>PRESENTED BY</a:t>
              </a:r>
            </a:p>
          </p:txBody>
        </p:sp>
        <p:sp>
          <p:nvSpPr>
            <p:cNvPr name="TextBox 12" id="12"/>
            <p:cNvSpPr txBox="true"/>
            <p:nvPr/>
          </p:nvSpPr>
          <p:spPr>
            <a:xfrm rot="0">
              <a:off x="506484" y="536670"/>
              <a:ext cx="3190280" cy="690116"/>
            </a:xfrm>
            <a:prstGeom prst="rect">
              <a:avLst/>
            </a:prstGeom>
          </p:spPr>
          <p:txBody>
            <a:bodyPr anchor="t" rtlCol="false" tIns="0" lIns="0" bIns="0" rIns="0">
              <a:spAutoFit/>
            </a:bodyPr>
            <a:lstStyle/>
            <a:p>
              <a:pPr algn="l" marL="0" indent="0" lvl="0">
                <a:lnSpc>
                  <a:spcPts val="1869"/>
                </a:lnSpc>
              </a:pPr>
              <a:r>
                <a:rPr lang="en-US" sz="2149">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Gadi Poojitha Sharini</a:t>
              </a:r>
            </a:p>
          </p:txBody>
        </p:sp>
        <p:sp>
          <p:nvSpPr>
            <p:cNvPr name="TextBox 13" id="13"/>
            <p:cNvSpPr txBox="true"/>
            <p:nvPr/>
          </p:nvSpPr>
          <p:spPr>
            <a:xfrm rot="0">
              <a:off x="506484" y="1328908"/>
              <a:ext cx="2749098" cy="377279"/>
            </a:xfrm>
            <a:prstGeom prst="rect">
              <a:avLst/>
            </a:prstGeom>
          </p:spPr>
          <p:txBody>
            <a:bodyPr anchor="t" rtlCol="false" tIns="0" lIns="0" bIns="0" rIns="0">
              <a:spAutoFit/>
            </a:bodyPr>
            <a:lstStyle/>
            <a:p>
              <a:pPr algn="l" marL="0" indent="0" lvl="0">
                <a:lnSpc>
                  <a:spcPts val="1869"/>
                </a:lnSpc>
              </a:pPr>
              <a:r>
                <a:rPr lang="en-US" sz="2149">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2303A54011</a:t>
              </a:r>
            </a:p>
          </p:txBody>
        </p:sp>
        <p:sp>
          <p:nvSpPr>
            <p:cNvPr name="TextBox 14" id="14"/>
            <p:cNvSpPr txBox="true"/>
            <p:nvPr/>
          </p:nvSpPr>
          <p:spPr>
            <a:xfrm rot="0">
              <a:off x="506484" y="1806966"/>
              <a:ext cx="3190280" cy="998935"/>
            </a:xfrm>
            <a:prstGeom prst="rect">
              <a:avLst/>
            </a:prstGeom>
          </p:spPr>
          <p:txBody>
            <a:bodyPr anchor="t" rtlCol="false" tIns="0" lIns="0" bIns="0" rIns="0">
              <a:spAutoFit/>
            </a:bodyPr>
            <a:lstStyle/>
            <a:p>
              <a:pPr algn="l">
                <a:lnSpc>
                  <a:spcPts val="1869"/>
                </a:lnSpc>
              </a:pPr>
              <a:r>
                <a:rPr lang="en-US" sz="2149">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Anjali shinde</a:t>
              </a:r>
            </a:p>
            <a:p>
              <a:pPr algn="l">
                <a:lnSpc>
                  <a:spcPts val="1869"/>
                </a:lnSpc>
              </a:pPr>
            </a:p>
            <a:p>
              <a:pPr algn="l" marL="0" indent="0" lvl="0">
                <a:lnSpc>
                  <a:spcPts val="1869"/>
                </a:lnSpc>
              </a:pPr>
              <a:r>
                <a:rPr lang="en-US" sz="2149">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2303A54037</a:t>
              </a:r>
            </a:p>
          </p:txBody>
        </p:sp>
        <p:grpSp>
          <p:nvGrpSpPr>
            <p:cNvPr name="Group 15" id="15"/>
            <p:cNvGrpSpPr/>
            <p:nvPr/>
          </p:nvGrpSpPr>
          <p:grpSpPr>
            <a:xfrm rot="0">
              <a:off x="0" y="1661082"/>
              <a:ext cx="134591" cy="13459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17" id="17"/>
              <p:cNvSpPr txBox="true"/>
              <p:nvPr/>
            </p:nvSpPr>
            <p:spPr>
              <a:xfrm>
                <a:off x="76200" y="104775"/>
                <a:ext cx="660400" cy="631825"/>
              </a:xfrm>
              <a:prstGeom prst="rect">
                <a:avLst/>
              </a:prstGeom>
            </p:spPr>
            <p:txBody>
              <a:bodyPr anchor="ctr" rtlCol="false" tIns="50800" lIns="50800" bIns="50800" rIns="50800"/>
              <a:lstStyle/>
              <a:p>
                <a:pPr algn="ctr" marL="0" indent="0" lvl="0">
                  <a:lnSpc>
                    <a:spcPts val="1308"/>
                  </a:lnSpc>
                </a:pPr>
              </a:p>
            </p:txBody>
          </p:sp>
        </p:grpSp>
      </p:grpSp>
      <p:sp>
        <p:nvSpPr>
          <p:cNvPr name="TextBox 18" id="18"/>
          <p:cNvSpPr txBox="true"/>
          <p:nvPr/>
        </p:nvSpPr>
        <p:spPr>
          <a:xfrm rot="0">
            <a:off x="3320099" y="955532"/>
            <a:ext cx="5996813" cy="4263982"/>
          </a:xfrm>
          <a:prstGeom prst="rect">
            <a:avLst/>
          </a:prstGeom>
        </p:spPr>
        <p:txBody>
          <a:bodyPr anchor="t" rtlCol="false" tIns="0" lIns="0" bIns="0" rIns="0">
            <a:spAutoFit/>
          </a:bodyPr>
          <a:lstStyle/>
          <a:p>
            <a:pPr algn="l" marL="0" indent="0" lvl="0">
              <a:lnSpc>
                <a:spcPts val="8279"/>
              </a:lnSpc>
            </a:pPr>
            <a:r>
              <a:rPr lang="en-US" sz="8448" spc="-540">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Customer Churn</a:t>
            </a:r>
          </a:p>
          <a:p>
            <a:pPr algn="l" marL="0" indent="0" lvl="0">
              <a:lnSpc>
                <a:spcPts val="8279"/>
              </a:lnSpc>
            </a:pPr>
            <a:r>
              <a:rPr lang="en-US" sz="8448" spc="-540">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Prediction</a:t>
            </a:r>
          </a:p>
          <a:p>
            <a:pPr algn="l" marL="0" indent="0" lvl="0">
              <a:lnSpc>
                <a:spcPts val="8279"/>
              </a:lnSpc>
            </a:pPr>
            <a:r>
              <a:rPr lang="en-US" sz="8448" spc="-540">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System</a:t>
            </a:r>
          </a:p>
        </p:txBody>
      </p:sp>
      <p:sp>
        <p:nvSpPr>
          <p:cNvPr name="TextBox 19" id="19"/>
          <p:cNvSpPr txBox="true"/>
          <p:nvPr/>
        </p:nvSpPr>
        <p:spPr>
          <a:xfrm rot="0">
            <a:off x="3320099" y="5923409"/>
            <a:ext cx="5696631" cy="747972"/>
          </a:xfrm>
          <a:prstGeom prst="rect">
            <a:avLst/>
          </a:prstGeom>
        </p:spPr>
        <p:txBody>
          <a:bodyPr anchor="t" rtlCol="false" tIns="0" lIns="0" bIns="0" rIns="0">
            <a:spAutoFit/>
          </a:bodyPr>
          <a:lstStyle/>
          <a:p>
            <a:pPr algn="just" marL="0" indent="0" lvl="0">
              <a:lnSpc>
                <a:spcPts val="2967"/>
              </a:lnSpc>
            </a:pPr>
            <a:r>
              <a:rPr lang="en-US" sz="2318" spc="-6">
                <a:solidFill>
                  <a:srgbClr val="3A58E4"/>
                </a:solidFill>
                <a:latin typeface="Poppins"/>
                <a:ea typeface="Poppins"/>
                <a:cs typeface="Poppins"/>
                <a:sym typeface="Poppins"/>
              </a:rPr>
              <a:t>With Behavioral Analysis | Data Science Project</a:t>
            </a:r>
          </a:p>
        </p:txBody>
      </p:sp>
      <p:sp>
        <p:nvSpPr>
          <p:cNvPr name="TextBox 20" id="20"/>
          <p:cNvSpPr txBox="true"/>
          <p:nvPr/>
        </p:nvSpPr>
        <p:spPr>
          <a:xfrm rot="0">
            <a:off x="350972" y="1968832"/>
            <a:ext cx="1704171" cy="342132"/>
          </a:xfrm>
          <a:prstGeom prst="rect">
            <a:avLst/>
          </a:prstGeom>
        </p:spPr>
        <p:txBody>
          <a:bodyPr anchor="t" rtlCol="false" tIns="0" lIns="0" bIns="0" rIns="0">
            <a:spAutoFit/>
          </a:bodyPr>
          <a:lstStyle/>
          <a:p>
            <a:pPr algn="ctr" marL="0" indent="0" lvl="0">
              <a:lnSpc>
                <a:spcPts val="2419"/>
              </a:lnSpc>
            </a:pPr>
            <a:r>
              <a:rPr lang="en-US" b="true" sz="2261">
                <a:solidFill>
                  <a:srgbClr val="FFFFFF"/>
                </a:solidFill>
                <a:latin typeface="Poppins Bold"/>
                <a:ea typeface="Poppins Bold"/>
                <a:cs typeface="Poppins Bold"/>
                <a:sym typeface="Poppins Bold"/>
              </a:rPr>
              <a:t>NovaByte</a:t>
            </a:r>
          </a:p>
        </p:txBody>
      </p:sp>
      <p:sp>
        <p:nvSpPr>
          <p:cNvPr name="TextBox 21" id="21"/>
          <p:cNvSpPr txBox="true"/>
          <p:nvPr/>
        </p:nvSpPr>
        <p:spPr>
          <a:xfrm rot="0">
            <a:off x="360740" y="2310991"/>
            <a:ext cx="1704171" cy="342132"/>
          </a:xfrm>
          <a:prstGeom prst="rect">
            <a:avLst/>
          </a:prstGeom>
        </p:spPr>
        <p:txBody>
          <a:bodyPr anchor="t" rtlCol="false" tIns="0" lIns="0" bIns="0" rIns="0">
            <a:spAutoFit/>
          </a:bodyPr>
          <a:lstStyle/>
          <a:p>
            <a:pPr algn="ctr" marL="0" indent="0" lvl="0">
              <a:lnSpc>
                <a:spcPts val="2419"/>
              </a:lnSpc>
            </a:pPr>
            <a:r>
              <a:rPr lang="en-US" sz="2261">
                <a:solidFill>
                  <a:srgbClr val="FFFFFF"/>
                </a:solidFill>
                <a:latin typeface="Poppins"/>
                <a:ea typeface="Poppins"/>
                <a:cs typeface="Poppins"/>
                <a:sym typeface="Poppins"/>
              </a:rPr>
              <a:t>Analytics</a:t>
            </a:r>
          </a:p>
        </p:txBody>
      </p:sp>
      <p:grpSp>
        <p:nvGrpSpPr>
          <p:cNvPr name="Group 22" id="22"/>
          <p:cNvGrpSpPr/>
          <p:nvPr/>
        </p:nvGrpSpPr>
        <p:grpSpPr>
          <a:xfrm rot="0">
            <a:off x="360740" y="8287049"/>
            <a:ext cx="1713939" cy="684264"/>
            <a:chOff x="0" y="0"/>
            <a:chExt cx="2285252" cy="912352"/>
          </a:xfrm>
        </p:grpSpPr>
        <p:sp>
          <p:nvSpPr>
            <p:cNvPr name="TextBox 23" id="23"/>
            <p:cNvSpPr txBox="true"/>
            <p:nvPr/>
          </p:nvSpPr>
          <p:spPr>
            <a:xfrm rot="0">
              <a:off x="0" y="0"/>
              <a:ext cx="2272228" cy="456176"/>
            </a:xfrm>
            <a:prstGeom prst="rect">
              <a:avLst/>
            </a:prstGeom>
          </p:spPr>
          <p:txBody>
            <a:bodyPr anchor="t" rtlCol="false" tIns="0" lIns="0" bIns="0" rIns="0">
              <a:spAutoFit/>
            </a:bodyPr>
            <a:lstStyle/>
            <a:p>
              <a:pPr algn="ctr" marL="0" indent="0" lvl="0">
                <a:lnSpc>
                  <a:spcPts val="2419"/>
                </a:lnSpc>
              </a:pPr>
              <a:r>
                <a:rPr lang="en-US" b="true" sz="2261">
                  <a:solidFill>
                    <a:srgbClr val="FFFFFF"/>
                  </a:solidFill>
                  <a:latin typeface="Poppins Bold"/>
                  <a:ea typeface="Poppins Bold"/>
                  <a:cs typeface="Poppins Bold"/>
                  <a:sym typeface="Poppins Bold"/>
                </a:rPr>
                <a:t>2025</a:t>
              </a:r>
            </a:p>
          </p:txBody>
        </p:sp>
        <p:sp>
          <p:nvSpPr>
            <p:cNvPr name="TextBox 24" id="24"/>
            <p:cNvSpPr txBox="true"/>
            <p:nvPr/>
          </p:nvSpPr>
          <p:spPr>
            <a:xfrm rot="0">
              <a:off x="13024" y="456176"/>
              <a:ext cx="2272228" cy="456176"/>
            </a:xfrm>
            <a:prstGeom prst="rect">
              <a:avLst/>
            </a:prstGeom>
          </p:spPr>
          <p:txBody>
            <a:bodyPr anchor="t" rtlCol="false" tIns="0" lIns="0" bIns="0" rIns="0">
              <a:spAutoFit/>
            </a:bodyPr>
            <a:lstStyle/>
            <a:p>
              <a:pPr algn="ctr" marL="0" indent="0" lvl="0">
                <a:lnSpc>
                  <a:spcPts val="2419"/>
                </a:lnSpc>
              </a:pPr>
              <a:r>
                <a:rPr lang="en-US" sz="2261">
                  <a:solidFill>
                    <a:srgbClr val="FFFFFF"/>
                  </a:solidFill>
                  <a:latin typeface="Poppins"/>
                  <a:ea typeface="Poppins"/>
                  <a:cs typeface="Poppins"/>
                  <a:sym typeface="Poppins"/>
                </a:rPr>
                <a:t>Project</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358088"/>
            <a:ext cx="5445624" cy="2370056"/>
            <a:chOff x="0" y="0"/>
            <a:chExt cx="7260833" cy="3160074"/>
          </a:xfrm>
        </p:grpSpPr>
        <p:sp>
          <p:nvSpPr>
            <p:cNvPr name="TextBox 3" id="3"/>
            <p:cNvSpPr txBox="true"/>
            <p:nvPr/>
          </p:nvSpPr>
          <p:spPr>
            <a:xfrm rot="0">
              <a:off x="304088" y="1655158"/>
              <a:ext cx="6956745" cy="1504916"/>
            </a:xfrm>
            <a:prstGeom prst="rect">
              <a:avLst/>
            </a:prstGeom>
          </p:spPr>
          <p:txBody>
            <a:bodyPr anchor="t" rtlCol="false" tIns="0" lIns="0" bIns="0" rIns="0">
              <a:spAutoFit/>
            </a:bodyPr>
            <a:lstStyle/>
            <a:p>
              <a:pPr algn="l" marL="0" indent="0" lvl="0">
                <a:lnSpc>
                  <a:spcPts val="8100"/>
                </a:lnSpc>
              </a:pPr>
              <a:r>
                <a:rPr lang="en-US" sz="8265" spc="-529">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Introduction</a:t>
              </a:r>
            </a:p>
          </p:txBody>
        </p:sp>
        <p:grpSp>
          <p:nvGrpSpPr>
            <p:cNvPr name="Group 4" id="4"/>
            <p:cNvGrpSpPr/>
            <p:nvPr/>
          </p:nvGrpSpPr>
          <p:grpSpPr>
            <a:xfrm rot="0">
              <a:off x="0" y="0"/>
              <a:ext cx="63500" cy="2720890"/>
              <a:chOff x="0" y="0"/>
              <a:chExt cx="12543" cy="537460"/>
            </a:xfrm>
          </p:grpSpPr>
          <p:sp>
            <p:nvSpPr>
              <p:cNvPr name="Freeform 5" id="5"/>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3A58E4"/>
              </a:solidFill>
            </p:spPr>
          </p:sp>
          <p:sp>
            <p:nvSpPr>
              <p:cNvPr name="TextBox 6" id="6"/>
              <p:cNvSpPr txBox="true"/>
              <p:nvPr/>
            </p:nvSpPr>
            <p:spPr>
              <a:xfrm>
                <a:off x="0" y="-38100"/>
                <a:ext cx="12543" cy="575560"/>
              </a:xfrm>
              <a:prstGeom prst="rect">
                <a:avLst/>
              </a:prstGeom>
            </p:spPr>
            <p:txBody>
              <a:bodyPr anchor="ctr" rtlCol="false" tIns="50800" lIns="50800" bIns="50800" rIns="50800"/>
              <a:lstStyle/>
              <a:p>
                <a:pPr algn="ctr" marL="0" indent="0" lvl="0">
                  <a:lnSpc>
                    <a:spcPts val="2659"/>
                  </a:lnSpc>
                  <a:spcBef>
                    <a:spcPct val="0"/>
                  </a:spcBef>
                </a:pPr>
              </a:p>
            </p:txBody>
          </p:sp>
        </p:grpSp>
      </p:grpSp>
      <p:grpSp>
        <p:nvGrpSpPr>
          <p:cNvPr name="Group 7" id="7"/>
          <p:cNvGrpSpPr/>
          <p:nvPr/>
        </p:nvGrpSpPr>
        <p:grpSpPr>
          <a:xfrm rot="0">
            <a:off x="1028700" y="4353838"/>
            <a:ext cx="8201025" cy="338282"/>
            <a:chOff x="0" y="0"/>
            <a:chExt cx="10934700" cy="451042"/>
          </a:xfrm>
        </p:grpSpPr>
        <p:sp>
          <p:nvSpPr>
            <p:cNvPr name="TextBox 8" id="8"/>
            <p:cNvSpPr txBox="true"/>
            <p:nvPr/>
          </p:nvSpPr>
          <p:spPr>
            <a:xfrm rot="0">
              <a:off x="0" y="-30011"/>
              <a:ext cx="10820400" cy="481053"/>
            </a:xfrm>
            <a:prstGeom prst="rect">
              <a:avLst/>
            </a:prstGeom>
          </p:spPr>
          <p:txBody>
            <a:bodyPr anchor="t" rtlCol="false" tIns="0" lIns="0" bIns="0" rIns="0">
              <a:spAutoFit/>
            </a:bodyPr>
            <a:lstStyle/>
            <a:p>
              <a:pPr algn="l" marL="0" indent="0" lvl="0">
                <a:lnSpc>
                  <a:spcPts val="2951"/>
                </a:lnSpc>
              </a:pPr>
              <a:r>
                <a:rPr lang="en-US" b="true" sz="2108" spc="-52">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UNDERSTANDING CUSTOMER CHURN AND ITS BUSINESS IMPACT</a:t>
              </a:r>
            </a:p>
          </p:txBody>
        </p:sp>
      </p:grpSp>
      <p:sp>
        <p:nvSpPr>
          <p:cNvPr name="TextBox 9" id="9"/>
          <p:cNvSpPr txBox="true"/>
          <p:nvPr/>
        </p:nvSpPr>
        <p:spPr>
          <a:xfrm rot="0">
            <a:off x="1028700" y="5135612"/>
            <a:ext cx="8201025" cy="4122688"/>
          </a:xfrm>
          <a:prstGeom prst="rect">
            <a:avLst/>
          </a:prstGeom>
        </p:spPr>
        <p:txBody>
          <a:bodyPr anchor="t" rtlCol="false" tIns="0" lIns="0" bIns="0" rIns="0">
            <a:spAutoFit/>
          </a:bodyPr>
          <a:lstStyle/>
          <a:p>
            <a:pPr algn="just" marL="0" indent="0" lvl="0">
              <a:lnSpc>
                <a:spcPts val="2715"/>
              </a:lnSpc>
            </a:pPr>
            <a:r>
              <a:rPr lang="en-US" sz="1939" spc="-5">
                <a:solidFill>
                  <a:srgbClr val="3A58E4"/>
                </a:solidFill>
                <a:latin typeface="Poppins"/>
                <a:ea typeface="Poppins"/>
                <a:cs typeface="Poppins"/>
                <a:sym typeface="Poppins"/>
              </a:rPr>
              <a:t>What is customer churn?</a:t>
            </a:r>
          </a:p>
          <a:p>
            <a:pPr algn="just" marL="0" indent="0" lvl="0">
              <a:lnSpc>
                <a:spcPts val="2715"/>
              </a:lnSpc>
            </a:pPr>
            <a:r>
              <a:rPr lang="en-US" sz="1939" spc="-5">
                <a:solidFill>
                  <a:srgbClr val="3A58E4"/>
                </a:solidFill>
                <a:latin typeface="Poppins"/>
                <a:ea typeface="Poppins"/>
                <a:cs typeface="Poppins"/>
                <a:sym typeface="Poppins"/>
              </a:rPr>
              <a:t>Customer churn refers to when customers stop doing business with a company, representing lost revenue and growth potential.</a:t>
            </a:r>
          </a:p>
          <a:p>
            <a:pPr algn="just" marL="0" indent="0" lvl="0">
              <a:lnSpc>
                <a:spcPts val="2715"/>
              </a:lnSpc>
            </a:pPr>
            <a:r>
              <a:rPr lang="en-US" sz="1939" spc="-5">
                <a:solidFill>
                  <a:srgbClr val="3A58E4"/>
                </a:solidFill>
                <a:latin typeface="Poppins"/>
                <a:ea typeface="Poppins"/>
                <a:cs typeface="Poppins"/>
                <a:sym typeface="Poppins"/>
              </a:rPr>
              <a:t>Why predicting churn matters</a:t>
            </a:r>
          </a:p>
          <a:p>
            <a:pPr algn="just" marL="0" indent="0" lvl="0">
              <a:lnSpc>
                <a:spcPts val="2715"/>
              </a:lnSpc>
            </a:pPr>
            <a:r>
              <a:rPr lang="en-US" sz="1939" spc="-5">
                <a:solidFill>
                  <a:srgbClr val="3A58E4"/>
                </a:solidFill>
                <a:latin typeface="Poppins"/>
                <a:ea typeface="Poppins"/>
                <a:cs typeface="Poppins"/>
                <a:sym typeface="Poppins"/>
              </a:rPr>
              <a:t>Early identification enables proactive retention strategies, reducing acquisition costs and maximizing customer lifetime value.</a:t>
            </a:r>
          </a:p>
          <a:p>
            <a:pPr algn="just" marL="0" indent="0" lvl="0">
              <a:lnSpc>
                <a:spcPts val="2715"/>
              </a:lnSpc>
            </a:pPr>
            <a:r>
              <a:rPr lang="en-US" sz="1939" spc="-5">
                <a:solidFill>
                  <a:srgbClr val="3A58E4"/>
                </a:solidFill>
                <a:latin typeface="Poppins"/>
                <a:ea typeface="Poppins"/>
                <a:cs typeface="Poppins"/>
                <a:sym typeface="Poppins"/>
              </a:rPr>
              <a:t>Real-world business impact</a:t>
            </a:r>
          </a:p>
          <a:p>
            <a:pPr algn="just" marL="0" indent="0" lvl="0">
              <a:lnSpc>
                <a:spcPts val="2715"/>
              </a:lnSpc>
            </a:pPr>
            <a:r>
              <a:rPr lang="en-US" sz="1939" spc="-5">
                <a:solidFill>
                  <a:srgbClr val="3A58E4"/>
                </a:solidFill>
                <a:latin typeface="Poppins"/>
                <a:ea typeface="Poppins"/>
                <a:cs typeface="Poppins"/>
                <a:sym typeface="Poppins"/>
              </a:rPr>
              <a:t>Churn directly affects revenue streams, market share, and long-term sustainability across all industries.</a:t>
            </a:r>
          </a:p>
          <a:p>
            <a:pPr algn="just" marL="0" indent="0" lvl="0">
              <a:lnSpc>
                <a:spcPts val="2715"/>
              </a:lnSpc>
            </a:pPr>
            <a:r>
              <a:rPr lang="en-US" sz="1939" spc="-5">
                <a:solidFill>
                  <a:srgbClr val="3A58E4"/>
                </a:solidFill>
                <a:latin typeface="Poppins"/>
                <a:ea typeface="Poppins"/>
                <a:cs typeface="Poppins"/>
                <a:sym typeface="Poppins"/>
              </a:rPr>
              <a:t>Behavioral analysis enhancement</a:t>
            </a:r>
          </a:p>
          <a:p>
            <a:pPr algn="just" marL="0" indent="0" lvl="0">
              <a:lnSpc>
                <a:spcPts val="2715"/>
              </a:lnSpc>
            </a:pPr>
            <a:r>
              <a:rPr lang="en-US" sz="1939" spc="-5">
                <a:solidFill>
                  <a:srgbClr val="3A58E4"/>
                </a:solidFill>
                <a:latin typeface="Poppins"/>
                <a:ea typeface="Poppins"/>
                <a:cs typeface="Poppins"/>
                <a:sym typeface="Poppins"/>
              </a:rPr>
              <a:t>Our advanced system leverages behavioral patterns to detect early warning signals and enable timely interventions.</a:t>
            </a:r>
          </a:p>
        </p:txBody>
      </p:sp>
      <p:grpSp>
        <p:nvGrpSpPr>
          <p:cNvPr name="Group 10" id="10"/>
          <p:cNvGrpSpPr/>
          <p:nvPr/>
        </p:nvGrpSpPr>
        <p:grpSpPr>
          <a:xfrm rot="0">
            <a:off x="16438046" y="105992"/>
            <a:ext cx="1849954" cy="1742174"/>
            <a:chOff x="0" y="0"/>
            <a:chExt cx="2466605" cy="2322899"/>
          </a:xfrm>
        </p:grpSpPr>
        <p:grpSp>
          <p:nvGrpSpPr>
            <p:cNvPr name="Group 11" id="11"/>
            <p:cNvGrpSpPr/>
            <p:nvPr/>
          </p:nvGrpSpPr>
          <p:grpSpPr>
            <a:xfrm rot="0">
              <a:off x="0" y="0"/>
              <a:ext cx="2466605" cy="2322899"/>
              <a:chOff x="0" y="0"/>
              <a:chExt cx="787566" cy="741682"/>
            </a:xfrm>
          </p:grpSpPr>
          <p:sp>
            <p:nvSpPr>
              <p:cNvPr name="Freeform 12" id="12"/>
              <p:cNvSpPr/>
              <p:nvPr/>
            </p:nvSpPr>
            <p:spPr>
              <a:xfrm flipH="false" flipV="false" rot="0">
                <a:off x="0" y="0"/>
                <a:ext cx="787566" cy="741682"/>
              </a:xfrm>
              <a:custGeom>
                <a:avLst/>
                <a:gdLst/>
                <a:ahLst/>
                <a:cxnLst/>
                <a:rect r="r" b="b" t="t" l="l"/>
                <a:pathLst>
                  <a:path h="741682" w="787566">
                    <a:moveTo>
                      <a:pt x="0" y="0"/>
                    </a:moveTo>
                    <a:lnTo>
                      <a:pt x="787566" y="0"/>
                    </a:lnTo>
                    <a:lnTo>
                      <a:pt x="787566" y="741682"/>
                    </a:lnTo>
                    <a:lnTo>
                      <a:pt x="0" y="741682"/>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13" id="13"/>
              <p:cNvSpPr txBox="true"/>
              <p:nvPr/>
            </p:nvSpPr>
            <p:spPr>
              <a:xfrm>
                <a:off x="0" y="-38100"/>
                <a:ext cx="787566" cy="779782"/>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4" id="14"/>
            <p:cNvSpPr txBox="true"/>
            <p:nvPr/>
          </p:nvSpPr>
          <p:spPr>
            <a:xfrm rot="0">
              <a:off x="319164" y="684524"/>
              <a:ext cx="1828278" cy="1068151"/>
            </a:xfrm>
            <a:prstGeom prst="rect">
              <a:avLst/>
            </a:prstGeom>
          </p:spPr>
          <p:txBody>
            <a:bodyPr anchor="t" rtlCol="false" tIns="0" lIns="0" bIns="0" rIns="0">
              <a:spAutoFit/>
            </a:bodyPr>
            <a:lstStyle/>
            <a:p>
              <a:pPr algn="ctr" marL="0" indent="0" lvl="0">
                <a:lnSpc>
                  <a:spcPts val="5715"/>
                </a:lnSpc>
              </a:pPr>
              <a:r>
                <a:rPr lang="en-US" sz="5831" spc="-373">
                  <a:solidFill>
                    <a:srgbClr val="FFFFFF"/>
                  </a:solidFill>
                  <a:latin typeface="Bricolage Grotesque"/>
                  <a:ea typeface="Bricolage Grotesque"/>
                  <a:cs typeface="Bricolage Grotesque"/>
                  <a:sym typeface="Bricolage Grotesque"/>
                </a:rPr>
                <a:t>02</a:t>
              </a:r>
            </a:p>
          </p:txBody>
        </p:sp>
      </p:grpSp>
      <p:sp>
        <p:nvSpPr>
          <p:cNvPr name="Freeform 15" id="15"/>
          <p:cNvSpPr/>
          <p:nvPr/>
        </p:nvSpPr>
        <p:spPr>
          <a:xfrm flipH="false" flipV="false" rot="0">
            <a:off x="10738789" y="2612903"/>
            <a:ext cx="6493959" cy="6626489"/>
          </a:xfrm>
          <a:custGeom>
            <a:avLst/>
            <a:gdLst/>
            <a:ahLst/>
            <a:cxnLst/>
            <a:rect r="r" b="b" t="t" l="l"/>
            <a:pathLst>
              <a:path h="6626489" w="6493959">
                <a:moveTo>
                  <a:pt x="0" y="0"/>
                </a:moveTo>
                <a:lnTo>
                  <a:pt x="6493959" y="0"/>
                </a:lnTo>
                <a:lnTo>
                  <a:pt x="6493959" y="6626489"/>
                </a:lnTo>
                <a:lnTo>
                  <a:pt x="0" y="6626489"/>
                </a:lnTo>
                <a:lnTo>
                  <a:pt x="0" y="0"/>
                </a:lnTo>
                <a:close/>
              </a:path>
            </a:pathLst>
          </a:custGeom>
          <a:blipFill>
            <a:blip r:embed="rId2"/>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256766" y="2466659"/>
            <a:ext cx="5217559" cy="1261484"/>
          </a:xfrm>
          <a:prstGeom prst="rect">
            <a:avLst/>
          </a:prstGeom>
        </p:spPr>
        <p:txBody>
          <a:bodyPr anchor="t" rtlCol="false" tIns="0" lIns="0" bIns="0" rIns="0">
            <a:spAutoFit/>
          </a:bodyPr>
          <a:lstStyle/>
          <a:p>
            <a:pPr algn="l" marL="0" indent="0" lvl="0">
              <a:lnSpc>
                <a:spcPts val="9437"/>
              </a:lnSpc>
            </a:pPr>
            <a:r>
              <a:rPr lang="en-US" sz="9630" spc="-616">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Objectives</a:t>
            </a:r>
          </a:p>
        </p:txBody>
      </p:sp>
      <p:grpSp>
        <p:nvGrpSpPr>
          <p:cNvPr name="Group 3" id="3"/>
          <p:cNvGrpSpPr/>
          <p:nvPr/>
        </p:nvGrpSpPr>
        <p:grpSpPr>
          <a:xfrm rot="0">
            <a:off x="1028700" y="1358088"/>
            <a:ext cx="47625" cy="2040668"/>
            <a:chOff x="0" y="0"/>
            <a:chExt cx="12543" cy="537460"/>
          </a:xfrm>
        </p:grpSpPr>
        <p:sp>
          <p:nvSpPr>
            <p:cNvPr name="Freeform 4" id="4"/>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3A58E4"/>
            </a:solidFill>
          </p:spPr>
        </p:sp>
        <p:sp>
          <p:nvSpPr>
            <p:cNvPr name="TextBox 5" id="5"/>
            <p:cNvSpPr txBox="true"/>
            <p:nvPr/>
          </p:nvSpPr>
          <p:spPr>
            <a:xfrm>
              <a:off x="0" y="-38100"/>
              <a:ext cx="12543" cy="57556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6" id="6"/>
          <p:cNvGrpSpPr/>
          <p:nvPr/>
        </p:nvGrpSpPr>
        <p:grpSpPr>
          <a:xfrm rot="0">
            <a:off x="1028700" y="4312874"/>
            <a:ext cx="8172450" cy="379246"/>
            <a:chOff x="0" y="0"/>
            <a:chExt cx="10896600" cy="505662"/>
          </a:xfrm>
        </p:grpSpPr>
        <p:sp>
          <p:nvSpPr>
            <p:cNvPr name="TextBox 7" id="7"/>
            <p:cNvSpPr txBox="true"/>
            <p:nvPr/>
          </p:nvSpPr>
          <p:spPr>
            <a:xfrm rot="0">
              <a:off x="0" y="-49061"/>
              <a:ext cx="10820400" cy="554723"/>
            </a:xfrm>
            <a:prstGeom prst="rect">
              <a:avLst/>
            </a:prstGeom>
          </p:spPr>
          <p:txBody>
            <a:bodyPr anchor="t" rtlCol="false" tIns="0" lIns="0" bIns="0" rIns="0">
              <a:spAutoFit/>
            </a:bodyPr>
            <a:lstStyle/>
            <a:p>
              <a:pPr algn="l" marL="0" indent="0" lvl="0">
                <a:lnSpc>
                  <a:spcPts val="3318"/>
                </a:lnSpc>
              </a:pPr>
              <a:r>
                <a:rPr lang="en-US" b="true" sz="2370" spc="-59">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MAIN PROJECT GOALS &amp; DELIVERABLES</a:t>
              </a:r>
            </a:p>
          </p:txBody>
        </p:sp>
        <p:sp>
          <p:nvSpPr>
            <p:cNvPr name="Freeform 8" id="8"/>
            <p:cNvSpPr/>
            <p:nvPr/>
          </p:nvSpPr>
          <p:spPr>
            <a:xfrm flipH="false" flipV="false" rot="-8687136">
              <a:off x="10579580" y="44820"/>
              <a:ext cx="252200" cy="304858"/>
            </a:xfrm>
            <a:custGeom>
              <a:avLst/>
              <a:gdLst/>
              <a:ahLst/>
              <a:cxnLst/>
              <a:rect r="r" b="b" t="t" l="l"/>
              <a:pathLst>
                <a:path h="304858" w="252200">
                  <a:moveTo>
                    <a:pt x="0" y="0"/>
                  </a:moveTo>
                  <a:lnTo>
                    <a:pt x="252200" y="0"/>
                  </a:lnTo>
                  <a:lnTo>
                    <a:pt x="252200" y="304857"/>
                  </a:lnTo>
                  <a:lnTo>
                    <a:pt x="0" y="3048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9" id="9"/>
          <p:cNvGrpSpPr/>
          <p:nvPr/>
        </p:nvGrpSpPr>
        <p:grpSpPr>
          <a:xfrm rot="0">
            <a:off x="16438046" y="0"/>
            <a:ext cx="1849954" cy="1848166"/>
            <a:chOff x="0" y="0"/>
            <a:chExt cx="2466605" cy="2464222"/>
          </a:xfrm>
        </p:grpSpPr>
        <p:grpSp>
          <p:nvGrpSpPr>
            <p:cNvPr name="Group 10" id="10"/>
            <p:cNvGrpSpPr/>
            <p:nvPr/>
          </p:nvGrpSpPr>
          <p:grpSpPr>
            <a:xfrm rot="0">
              <a:off x="0" y="0"/>
              <a:ext cx="2466605" cy="2464222"/>
              <a:chOff x="0" y="0"/>
              <a:chExt cx="787566" cy="786805"/>
            </a:xfrm>
          </p:grpSpPr>
          <p:sp>
            <p:nvSpPr>
              <p:cNvPr name="Freeform 11" id="11"/>
              <p:cNvSpPr/>
              <p:nvPr/>
            </p:nvSpPr>
            <p:spPr>
              <a:xfrm flipH="false" flipV="false" rot="0">
                <a:off x="0" y="0"/>
                <a:ext cx="787566" cy="786805"/>
              </a:xfrm>
              <a:custGeom>
                <a:avLst/>
                <a:gdLst/>
                <a:ahLst/>
                <a:cxnLst/>
                <a:rect r="r" b="b" t="t" l="l"/>
                <a:pathLst>
                  <a:path h="786805" w="787566">
                    <a:moveTo>
                      <a:pt x="0" y="0"/>
                    </a:moveTo>
                    <a:lnTo>
                      <a:pt x="787566" y="0"/>
                    </a:lnTo>
                    <a:lnTo>
                      <a:pt x="787566" y="786805"/>
                    </a:lnTo>
                    <a:lnTo>
                      <a:pt x="0" y="786805"/>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12" id="12"/>
              <p:cNvSpPr txBox="true"/>
              <p:nvPr/>
            </p:nvSpPr>
            <p:spPr>
              <a:xfrm>
                <a:off x="0" y="-38100"/>
                <a:ext cx="787566" cy="824905"/>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3" id="13"/>
            <p:cNvSpPr txBox="true"/>
            <p:nvPr/>
          </p:nvSpPr>
          <p:spPr>
            <a:xfrm rot="0">
              <a:off x="319164" y="694049"/>
              <a:ext cx="1828278" cy="1199949"/>
            </a:xfrm>
            <a:prstGeom prst="rect">
              <a:avLst/>
            </a:prstGeom>
          </p:spPr>
          <p:txBody>
            <a:bodyPr anchor="t" rtlCol="false" tIns="0" lIns="0" bIns="0" rIns="0">
              <a:spAutoFit/>
            </a:bodyPr>
            <a:lstStyle/>
            <a:p>
              <a:pPr algn="ctr" marL="0" indent="0" lvl="0">
                <a:lnSpc>
                  <a:spcPts val="6425"/>
                </a:lnSpc>
              </a:pPr>
              <a:r>
                <a:rPr lang="en-US" sz="6557" spc="-419">
                  <a:solidFill>
                    <a:srgbClr val="FFFFFF"/>
                  </a:solidFill>
                  <a:latin typeface="Bricolage Grotesque"/>
                  <a:ea typeface="Bricolage Grotesque"/>
                  <a:cs typeface="Bricolage Grotesque"/>
                  <a:sym typeface="Bricolage Grotesque"/>
                </a:rPr>
                <a:t>03</a:t>
              </a:r>
            </a:p>
          </p:txBody>
        </p:sp>
      </p:grpSp>
      <p:sp>
        <p:nvSpPr>
          <p:cNvPr name="Freeform 14" id="14"/>
          <p:cNvSpPr/>
          <p:nvPr/>
        </p:nvSpPr>
        <p:spPr>
          <a:xfrm flipH="false" flipV="false" rot="0">
            <a:off x="9942708" y="2181426"/>
            <a:ext cx="6957161" cy="8209040"/>
          </a:xfrm>
          <a:custGeom>
            <a:avLst/>
            <a:gdLst/>
            <a:ahLst/>
            <a:cxnLst/>
            <a:rect r="r" b="b" t="t" l="l"/>
            <a:pathLst>
              <a:path h="8209040" w="6957161">
                <a:moveTo>
                  <a:pt x="0" y="0"/>
                </a:moveTo>
                <a:lnTo>
                  <a:pt x="6957161" y="0"/>
                </a:lnTo>
                <a:lnTo>
                  <a:pt x="6957161" y="8209040"/>
                </a:lnTo>
                <a:lnTo>
                  <a:pt x="0" y="8209040"/>
                </a:lnTo>
                <a:lnTo>
                  <a:pt x="0" y="0"/>
                </a:lnTo>
                <a:close/>
              </a:path>
            </a:pathLst>
          </a:custGeom>
          <a:blipFill>
            <a:blip r:embed="rId4"/>
            <a:stretch>
              <a:fillRect l="0" t="0" r="0" b="0"/>
            </a:stretch>
          </a:blipFill>
        </p:spPr>
      </p:sp>
      <p:sp>
        <p:nvSpPr>
          <p:cNvPr name="TextBox 15" id="15"/>
          <p:cNvSpPr txBox="true"/>
          <p:nvPr/>
        </p:nvSpPr>
        <p:spPr>
          <a:xfrm rot="0">
            <a:off x="1870201" y="5206470"/>
            <a:ext cx="7273799" cy="810317"/>
          </a:xfrm>
          <a:prstGeom prst="rect">
            <a:avLst/>
          </a:prstGeom>
        </p:spPr>
        <p:txBody>
          <a:bodyPr anchor="t" rtlCol="false" tIns="0" lIns="0" bIns="0" rIns="0">
            <a:spAutoFit/>
          </a:bodyPr>
          <a:lstStyle/>
          <a:p>
            <a:pPr algn="just" marL="0" indent="0" lvl="0">
              <a:lnSpc>
                <a:spcPts val="3174"/>
              </a:lnSpc>
            </a:pPr>
            <a:r>
              <a:rPr lang="en-US" sz="2267" spc="-56">
                <a:solidFill>
                  <a:srgbClr val="3A58E4"/>
                </a:solidFill>
                <a:latin typeface="Poppins"/>
                <a:ea typeface="Poppins"/>
                <a:cs typeface="Poppins"/>
                <a:sym typeface="Poppins"/>
              </a:rPr>
              <a:t>Predict customer churn using machine learning algorithms and historical data patterns.</a:t>
            </a:r>
          </a:p>
        </p:txBody>
      </p:sp>
      <p:sp>
        <p:nvSpPr>
          <p:cNvPr name="TextBox 16" id="16"/>
          <p:cNvSpPr txBox="true"/>
          <p:nvPr/>
        </p:nvSpPr>
        <p:spPr>
          <a:xfrm rot="0">
            <a:off x="1870201" y="6197762"/>
            <a:ext cx="7273799" cy="810317"/>
          </a:xfrm>
          <a:prstGeom prst="rect">
            <a:avLst/>
          </a:prstGeom>
        </p:spPr>
        <p:txBody>
          <a:bodyPr anchor="t" rtlCol="false" tIns="0" lIns="0" bIns="0" rIns="0">
            <a:spAutoFit/>
          </a:bodyPr>
          <a:lstStyle/>
          <a:p>
            <a:pPr algn="just" marL="0" indent="0" lvl="0">
              <a:lnSpc>
                <a:spcPts val="3174"/>
              </a:lnSpc>
            </a:pPr>
            <a:r>
              <a:rPr lang="en-US" sz="2267" spc="-56">
                <a:solidFill>
                  <a:srgbClr val="3A58E4"/>
                </a:solidFill>
                <a:latin typeface="Poppins"/>
                <a:ea typeface="Poppins"/>
                <a:cs typeface="Poppins"/>
                <a:sym typeface="Poppins"/>
              </a:rPr>
              <a:t>Analyze behavioral evolution over time to identify changing customer engagement trends.</a:t>
            </a:r>
          </a:p>
        </p:txBody>
      </p:sp>
      <p:sp>
        <p:nvSpPr>
          <p:cNvPr name="TextBox 17" id="17"/>
          <p:cNvSpPr txBox="true"/>
          <p:nvPr/>
        </p:nvSpPr>
        <p:spPr>
          <a:xfrm rot="0">
            <a:off x="1870201" y="7189053"/>
            <a:ext cx="7273799" cy="810317"/>
          </a:xfrm>
          <a:prstGeom prst="rect">
            <a:avLst/>
          </a:prstGeom>
        </p:spPr>
        <p:txBody>
          <a:bodyPr anchor="t" rtlCol="false" tIns="0" lIns="0" bIns="0" rIns="0">
            <a:spAutoFit/>
          </a:bodyPr>
          <a:lstStyle/>
          <a:p>
            <a:pPr algn="just" marL="0" indent="0" lvl="0">
              <a:lnSpc>
                <a:spcPts val="3174"/>
              </a:lnSpc>
            </a:pPr>
            <a:r>
              <a:rPr lang="en-US" sz="2267" spc="-56">
                <a:solidFill>
                  <a:srgbClr val="3A58E4"/>
                </a:solidFill>
                <a:latin typeface="Poppins"/>
                <a:ea typeface="Poppins"/>
                <a:cs typeface="Poppins"/>
                <a:sym typeface="Poppins"/>
              </a:rPr>
              <a:t>Detect early churn risk signals through proactive monitoring and alert systems.</a:t>
            </a:r>
          </a:p>
        </p:txBody>
      </p:sp>
      <p:sp>
        <p:nvSpPr>
          <p:cNvPr name="TextBox 18" id="18"/>
          <p:cNvSpPr txBox="true"/>
          <p:nvPr/>
        </p:nvSpPr>
        <p:spPr>
          <a:xfrm rot="0">
            <a:off x="1870201" y="8180345"/>
            <a:ext cx="7273799" cy="810317"/>
          </a:xfrm>
          <a:prstGeom prst="rect">
            <a:avLst/>
          </a:prstGeom>
        </p:spPr>
        <p:txBody>
          <a:bodyPr anchor="t" rtlCol="false" tIns="0" lIns="0" bIns="0" rIns="0">
            <a:spAutoFit/>
          </a:bodyPr>
          <a:lstStyle/>
          <a:p>
            <a:pPr algn="just" marL="0" indent="0" lvl="0">
              <a:lnSpc>
                <a:spcPts val="3174"/>
              </a:lnSpc>
            </a:pPr>
            <a:r>
              <a:rPr lang="en-US" sz="2267" spc="-56">
                <a:solidFill>
                  <a:srgbClr val="3A58E4"/>
                </a:solidFill>
                <a:latin typeface="Poppins"/>
                <a:ea typeface="Poppins"/>
                <a:cs typeface="Poppins"/>
                <a:sym typeface="Poppins"/>
              </a:rPr>
              <a:t>Simulate intervention impact scenarios and provide explainable insights for decisions.</a:t>
            </a:r>
          </a:p>
        </p:txBody>
      </p:sp>
      <p:sp>
        <p:nvSpPr>
          <p:cNvPr name="Freeform 19" id="19"/>
          <p:cNvSpPr/>
          <p:nvPr/>
        </p:nvSpPr>
        <p:spPr>
          <a:xfrm flipH="false" flipV="false" rot="0">
            <a:off x="1052512" y="5400430"/>
            <a:ext cx="489071" cy="489071"/>
          </a:xfrm>
          <a:custGeom>
            <a:avLst/>
            <a:gdLst/>
            <a:ahLst/>
            <a:cxnLst/>
            <a:rect r="r" b="b" t="t" l="l"/>
            <a:pathLst>
              <a:path h="489071" w="489071">
                <a:moveTo>
                  <a:pt x="0" y="0"/>
                </a:moveTo>
                <a:lnTo>
                  <a:pt x="489072" y="0"/>
                </a:lnTo>
                <a:lnTo>
                  <a:pt x="489072" y="489071"/>
                </a:lnTo>
                <a:lnTo>
                  <a:pt x="0" y="48907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0" id="20"/>
          <p:cNvSpPr/>
          <p:nvPr/>
        </p:nvSpPr>
        <p:spPr>
          <a:xfrm flipH="false" flipV="false" rot="0">
            <a:off x="1052512" y="6391722"/>
            <a:ext cx="489071" cy="489071"/>
          </a:xfrm>
          <a:custGeom>
            <a:avLst/>
            <a:gdLst/>
            <a:ahLst/>
            <a:cxnLst/>
            <a:rect r="r" b="b" t="t" l="l"/>
            <a:pathLst>
              <a:path h="489071" w="489071">
                <a:moveTo>
                  <a:pt x="0" y="0"/>
                </a:moveTo>
                <a:lnTo>
                  <a:pt x="489072" y="0"/>
                </a:lnTo>
                <a:lnTo>
                  <a:pt x="489072" y="489071"/>
                </a:lnTo>
                <a:lnTo>
                  <a:pt x="0" y="48907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1" id="21"/>
          <p:cNvSpPr/>
          <p:nvPr/>
        </p:nvSpPr>
        <p:spPr>
          <a:xfrm flipH="false" flipV="false" rot="0">
            <a:off x="1052512" y="7383013"/>
            <a:ext cx="489071" cy="489071"/>
          </a:xfrm>
          <a:custGeom>
            <a:avLst/>
            <a:gdLst/>
            <a:ahLst/>
            <a:cxnLst/>
            <a:rect r="r" b="b" t="t" l="l"/>
            <a:pathLst>
              <a:path h="489071" w="489071">
                <a:moveTo>
                  <a:pt x="0" y="0"/>
                </a:moveTo>
                <a:lnTo>
                  <a:pt x="489072" y="0"/>
                </a:lnTo>
                <a:lnTo>
                  <a:pt x="489072" y="489071"/>
                </a:lnTo>
                <a:lnTo>
                  <a:pt x="0" y="48907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2" id="22"/>
          <p:cNvSpPr/>
          <p:nvPr/>
        </p:nvSpPr>
        <p:spPr>
          <a:xfrm flipH="false" flipV="false" rot="0">
            <a:off x="1052512" y="8376909"/>
            <a:ext cx="489071" cy="489071"/>
          </a:xfrm>
          <a:custGeom>
            <a:avLst/>
            <a:gdLst/>
            <a:ahLst/>
            <a:cxnLst/>
            <a:rect r="r" b="b" t="t" l="l"/>
            <a:pathLst>
              <a:path h="489071" w="489071">
                <a:moveTo>
                  <a:pt x="0" y="0"/>
                </a:moveTo>
                <a:lnTo>
                  <a:pt x="489072" y="0"/>
                </a:lnTo>
                <a:lnTo>
                  <a:pt x="489072" y="489072"/>
                </a:lnTo>
                <a:lnTo>
                  <a:pt x="0" y="48907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438046" y="129"/>
            <a:ext cx="1849954" cy="1848037"/>
            <a:chOff x="0" y="0"/>
            <a:chExt cx="2466605" cy="2464050"/>
          </a:xfrm>
        </p:grpSpPr>
        <p:grpSp>
          <p:nvGrpSpPr>
            <p:cNvPr name="Group 3" id="3"/>
            <p:cNvGrpSpPr/>
            <p:nvPr/>
          </p:nvGrpSpPr>
          <p:grpSpPr>
            <a:xfrm rot="0">
              <a:off x="0" y="0"/>
              <a:ext cx="2466605" cy="2464050"/>
              <a:chOff x="0" y="0"/>
              <a:chExt cx="787566" cy="786750"/>
            </a:xfrm>
          </p:grpSpPr>
          <p:sp>
            <p:nvSpPr>
              <p:cNvPr name="Freeform 4" id="4"/>
              <p:cNvSpPr/>
              <p:nvPr/>
            </p:nvSpPr>
            <p:spPr>
              <a:xfrm flipH="false" flipV="false" rot="0">
                <a:off x="0" y="0"/>
                <a:ext cx="787566" cy="786750"/>
              </a:xfrm>
              <a:custGeom>
                <a:avLst/>
                <a:gdLst/>
                <a:ahLst/>
                <a:cxnLst/>
                <a:rect r="r" b="b" t="t" l="l"/>
                <a:pathLst>
                  <a:path h="786750" w="787566">
                    <a:moveTo>
                      <a:pt x="0" y="0"/>
                    </a:moveTo>
                    <a:lnTo>
                      <a:pt x="787566" y="0"/>
                    </a:lnTo>
                    <a:lnTo>
                      <a:pt x="787566" y="786750"/>
                    </a:lnTo>
                    <a:lnTo>
                      <a:pt x="0" y="786750"/>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5" id="5"/>
              <p:cNvSpPr txBox="true"/>
              <p:nvPr/>
            </p:nvSpPr>
            <p:spPr>
              <a:xfrm>
                <a:off x="0" y="-38100"/>
                <a:ext cx="787566" cy="82485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6" id="6"/>
            <p:cNvSpPr txBox="true"/>
            <p:nvPr/>
          </p:nvSpPr>
          <p:spPr>
            <a:xfrm rot="0">
              <a:off x="319164" y="694049"/>
              <a:ext cx="1828278" cy="1199777"/>
            </a:xfrm>
            <a:prstGeom prst="rect">
              <a:avLst/>
            </a:prstGeom>
          </p:spPr>
          <p:txBody>
            <a:bodyPr anchor="t" rtlCol="false" tIns="0" lIns="0" bIns="0" rIns="0">
              <a:spAutoFit/>
            </a:bodyPr>
            <a:lstStyle/>
            <a:p>
              <a:pPr algn="ctr" marL="0" indent="0" lvl="0">
                <a:lnSpc>
                  <a:spcPts val="6421"/>
                </a:lnSpc>
              </a:pPr>
              <a:r>
                <a:rPr lang="en-US" sz="6552" spc="-419">
                  <a:solidFill>
                    <a:srgbClr val="FFFFFF"/>
                  </a:solidFill>
                  <a:latin typeface="Bricolage Grotesque"/>
                  <a:ea typeface="Bricolage Grotesque"/>
                  <a:cs typeface="Bricolage Grotesque"/>
                  <a:sym typeface="Bricolage Grotesque"/>
                </a:rPr>
                <a:t>04</a:t>
              </a:r>
            </a:p>
          </p:txBody>
        </p:sp>
      </p:grpSp>
      <p:grpSp>
        <p:nvGrpSpPr>
          <p:cNvPr name="Group 7" id="7"/>
          <p:cNvGrpSpPr/>
          <p:nvPr/>
        </p:nvGrpSpPr>
        <p:grpSpPr>
          <a:xfrm rot="0">
            <a:off x="5545788" y="3062727"/>
            <a:ext cx="7196424" cy="379246"/>
            <a:chOff x="0" y="0"/>
            <a:chExt cx="9595232" cy="505662"/>
          </a:xfrm>
        </p:grpSpPr>
        <p:sp>
          <p:nvSpPr>
            <p:cNvPr name="TextBox 8" id="8"/>
            <p:cNvSpPr txBox="true"/>
            <p:nvPr/>
          </p:nvSpPr>
          <p:spPr>
            <a:xfrm rot="0">
              <a:off x="0" y="-49117"/>
              <a:ext cx="9378912" cy="554779"/>
            </a:xfrm>
            <a:prstGeom prst="rect">
              <a:avLst/>
            </a:prstGeom>
          </p:spPr>
          <p:txBody>
            <a:bodyPr anchor="t" rtlCol="false" tIns="0" lIns="0" bIns="0" rIns="0">
              <a:spAutoFit/>
            </a:bodyPr>
            <a:lstStyle/>
            <a:p>
              <a:pPr algn="l" marL="0" indent="0" lvl="0">
                <a:lnSpc>
                  <a:spcPts val="3316"/>
                </a:lnSpc>
              </a:pPr>
              <a:r>
                <a:rPr lang="en-US" b="true" sz="2368" spc="-59">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KEY ROLES IN THE CHURN PREDICTION PROJECT</a:t>
              </a:r>
            </a:p>
          </p:txBody>
        </p:sp>
        <p:sp>
          <p:nvSpPr>
            <p:cNvPr name="Freeform 9" id="9"/>
            <p:cNvSpPr/>
            <p:nvPr/>
          </p:nvSpPr>
          <p:spPr>
            <a:xfrm flipH="false" flipV="false" rot="-8687136">
              <a:off x="9278212" y="44820"/>
              <a:ext cx="252200" cy="304858"/>
            </a:xfrm>
            <a:custGeom>
              <a:avLst/>
              <a:gdLst/>
              <a:ahLst/>
              <a:cxnLst/>
              <a:rect r="r" b="b" t="t" l="l"/>
              <a:pathLst>
                <a:path h="304858" w="252200">
                  <a:moveTo>
                    <a:pt x="0" y="0"/>
                  </a:moveTo>
                  <a:lnTo>
                    <a:pt x="252200" y="0"/>
                  </a:lnTo>
                  <a:lnTo>
                    <a:pt x="252200" y="304857"/>
                  </a:lnTo>
                  <a:lnTo>
                    <a:pt x="0" y="3048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10" id="10"/>
          <p:cNvGrpSpPr/>
          <p:nvPr/>
        </p:nvGrpSpPr>
        <p:grpSpPr>
          <a:xfrm rot="0">
            <a:off x="1463921" y="4926041"/>
            <a:ext cx="3746706" cy="3746706"/>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gradFill>
                <a:gsLst>
                  <a:gs pos="0">
                    <a:srgbClr val="293E9C">
                      <a:alpha val="100000"/>
                    </a:srgbClr>
                  </a:gs>
                  <a:gs pos="100000">
                    <a:srgbClr val="3A58E4">
                      <a:alpha val="100000"/>
                    </a:srgbClr>
                  </a:gs>
                </a:gsLst>
                <a:path path="circle">
                  <a:fillToRect l="0" r="100000" t="0" b="100000"/>
                </a:path>
                <a:tileRect r="0" l="-100000" b="0" t="-100000"/>
              </a:gradFill>
              <a:prstDash val="solid"/>
              <a:miter/>
            </a:ln>
          </p:spPr>
        </p:sp>
        <p:sp>
          <p:nvSpPr>
            <p:cNvPr name="TextBox 12" id="12"/>
            <p:cNvSpPr txBox="true"/>
            <p:nvPr/>
          </p:nvSpPr>
          <p:spPr>
            <a:xfrm>
              <a:off x="76200" y="38100"/>
              <a:ext cx="660400" cy="698500"/>
            </a:xfrm>
            <a:prstGeom prst="rect">
              <a:avLst/>
            </a:prstGeom>
          </p:spPr>
          <p:txBody>
            <a:bodyPr anchor="ctr" rtlCol="false" tIns="40108" lIns="40108" bIns="40108" rIns="40108"/>
            <a:lstStyle/>
            <a:p>
              <a:pPr algn="ctr" marL="0" indent="0" lvl="0">
                <a:lnSpc>
                  <a:spcPts val="2659"/>
                </a:lnSpc>
              </a:pPr>
            </a:p>
          </p:txBody>
        </p:sp>
      </p:grpSp>
      <p:grpSp>
        <p:nvGrpSpPr>
          <p:cNvPr name="Group 13" id="13"/>
          <p:cNvGrpSpPr/>
          <p:nvPr/>
        </p:nvGrpSpPr>
        <p:grpSpPr>
          <a:xfrm rot="0">
            <a:off x="5334452" y="4926041"/>
            <a:ext cx="3746706" cy="3746706"/>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a:ln cap="sq">
              <a:noFill/>
              <a:prstDash val="solid"/>
              <a:miter/>
            </a:ln>
          </p:spPr>
        </p:sp>
        <p:sp>
          <p:nvSpPr>
            <p:cNvPr name="TextBox 15" id="15"/>
            <p:cNvSpPr txBox="true"/>
            <p:nvPr/>
          </p:nvSpPr>
          <p:spPr>
            <a:xfrm>
              <a:off x="76200" y="38100"/>
              <a:ext cx="660400" cy="698500"/>
            </a:xfrm>
            <a:prstGeom prst="rect">
              <a:avLst/>
            </a:prstGeom>
          </p:spPr>
          <p:txBody>
            <a:bodyPr anchor="ctr" rtlCol="false" tIns="40108" lIns="40108" bIns="40108" rIns="40108"/>
            <a:lstStyle/>
            <a:p>
              <a:pPr algn="ctr" marL="0" indent="0" lvl="0">
                <a:lnSpc>
                  <a:spcPts val="2659"/>
                </a:lnSpc>
              </a:pPr>
            </a:p>
          </p:txBody>
        </p:sp>
      </p:grpSp>
      <p:grpSp>
        <p:nvGrpSpPr>
          <p:cNvPr name="Group 16" id="16"/>
          <p:cNvGrpSpPr/>
          <p:nvPr/>
        </p:nvGrpSpPr>
        <p:grpSpPr>
          <a:xfrm rot="0">
            <a:off x="9205912" y="4926041"/>
            <a:ext cx="3746706" cy="3746706"/>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gradFill>
                <a:gsLst>
                  <a:gs pos="0">
                    <a:srgbClr val="293E9C">
                      <a:alpha val="100000"/>
                    </a:srgbClr>
                  </a:gs>
                  <a:gs pos="100000">
                    <a:srgbClr val="3A58E4">
                      <a:alpha val="100000"/>
                    </a:srgbClr>
                  </a:gs>
                </a:gsLst>
                <a:path path="circle">
                  <a:fillToRect l="0" r="100000" t="0" b="100000"/>
                </a:path>
                <a:tileRect r="0" l="-100000" b="0" t="-100000"/>
              </a:gradFill>
              <a:prstDash val="solid"/>
              <a:miter/>
            </a:ln>
          </p:spPr>
        </p:sp>
        <p:sp>
          <p:nvSpPr>
            <p:cNvPr name="TextBox 18" id="18"/>
            <p:cNvSpPr txBox="true"/>
            <p:nvPr/>
          </p:nvSpPr>
          <p:spPr>
            <a:xfrm>
              <a:off x="76200" y="38100"/>
              <a:ext cx="660400" cy="698500"/>
            </a:xfrm>
            <a:prstGeom prst="rect">
              <a:avLst/>
            </a:prstGeom>
          </p:spPr>
          <p:txBody>
            <a:bodyPr anchor="ctr" rtlCol="false" tIns="40108" lIns="40108" bIns="40108" rIns="40108"/>
            <a:lstStyle/>
            <a:p>
              <a:pPr algn="ctr" marL="0" indent="0" lvl="0">
                <a:lnSpc>
                  <a:spcPts val="2659"/>
                </a:lnSpc>
              </a:pPr>
            </a:p>
          </p:txBody>
        </p:sp>
      </p:grpSp>
      <p:grpSp>
        <p:nvGrpSpPr>
          <p:cNvPr name="Group 19" id="19"/>
          <p:cNvGrpSpPr/>
          <p:nvPr/>
        </p:nvGrpSpPr>
        <p:grpSpPr>
          <a:xfrm rot="0">
            <a:off x="13077373" y="4926041"/>
            <a:ext cx="3746706" cy="3746706"/>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a:ln cap="sq">
              <a:noFill/>
              <a:prstDash val="solid"/>
              <a:miter/>
            </a:ln>
          </p:spPr>
        </p:sp>
        <p:sp>
          <p:nvSpPr>
            <p:cNvPr name="TextBox 21" id="21"/>
            <p:cNvSpPr txBox="true"/>
            <p:nvPr/>
          </p:nvSpPr>
          <p:spPr>
            <a:xfrm>
              <a:off x="76200" y="38100"/>
              <a:ext cx="660400" cy="698500"/>
            </a:xfrm>
            <a:prstGeom prst="rect">
              <a:avLst/>
            </a:prstGeom>
          </p:spPr>
          <p:txBody>
            <a:bodyPr anchor="ctr" rtlCol="false" tIns="40108" lIns="40108" bIns="40108" rIns="40108"/>
            <a:lstStyle/>
            <a:p>
              <a:pPr algn="ctr" marL="0" indent="0" lvl="0">
                <a:lnSpc>
                  <a:spcPts val="2659"/>
                </a:lnSpc>
              </a:pPr>
            </a:p>
          </p:txBody>
        </p:sp>
      </p:grpSp>
      <p:sp>
        <p:nvSpPr>
          <p:cNvPr name="TextBox 22" id="22"/>
          <p:cNvSpPr txBox="true"/>
          <p:nvPr/>
        </p:nvSpPr>
        <p:spPr>
          <a:xfrm rot="0">
            <a:off x="2345222" y="5814995"/>
            <a:ext cx="1984104" cy="744997"/>
          </a:xfrm>
          <a:prstGeom prst="rect">
            <a:avLst/>
          </a:prstGeom>
        </p:spPr>
        <p:txBody>
          <a:bodyPr anchor="t" rtlCol="false" tIns="0" lIns="0" bIns="0" rIns="0">
            <a:spAutoFit/>
          </a:bodyPr>
          <a:lstStyle/>
          <a:p>
            <a:pPr algn="ctr" marL="0" indent="0" lvl="0">
              <a:lnSpc>
                <a:spcPts val="2895"/>
              </a:lnSpc>
            </a:pPr>
            <a:r>
              <a:rPr lang="en-US" b="true" sz="2244" spc="-6">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CEO &amp; HEAD OF PROJECT</a:t>
            </a:r>
          </a:p>
        </p:txBody>
      </p:sp>
      <p:sp>
        <p:nvSpPr>
          <p:cNvPr name="TextBox 23" id="23"/>
          <p:cNvSpPr txBox="true"/>
          <p:nvPr/>
        </p:nvSpPr>
        <p:spPr>
          <a:xfrm rot="0">
            <a:off x="2124549" y="6494580"/>
            <a:ext cx="2425450" cy="1113748"/>
          </a:xfrm>
          <a:prstGeom prst="rect">
            <a:avLst/>
          </a:prstGeom>
        </p:spPr>
        <p:txBody>
          <a:bodyPr anchor="t" rtlCol="false" tIns="0" lIns="0" bIns="0" rIns="0">
            <a:spAutoFit/>
          </a:bodyPr>
          <a:lstStyle/>
          <a:p>
            <a:pPr algn="ctr" marL="0" indent="0" lvl="0">
              <a:lnSpc>
                <a:spcPts val="2226"/>
              </a:lnSpc>
            </a:pPr>
            <a:r>
              <a:rPr lang="en-US" sz="1725" spc="-5">
                <a:solidFill>
                  <a:srgbClr val="3A58E4"/>
                </a:solidFill>
                <a:latin typeface="Poppins"/>
                <a:ea typeface="Poppins"/>
                <a:cs typeface="Poppins"/>
                <a:sym typeface="Poppins"/>
              </a:rPr>
              <a:t>Poojitha Sharini and Anjali Shinde– Strategic leadership and project oversight</a:t>
            </a:r>
          </a:p>
        </p:txBody>
      </p:sp>
      <p:sp>
        <p:nvSpPr>
          <p:cNvPr name="TextBox 24" id="24"/>
          <p:cNvSpPr txBox="true"/>
          <p:nvPr/>
        </p:nvSpPr>
        <p:spPr>
          <a:xfrm rot="0">
            <a:off x="6215753" y="5814995"/>
            <a:ext cx="1984104" cy="744997"/>
          </a:xfrm>
          <a:prstGeom prst="rect">
            <a:avLst/>
          </a:prstGeom>
        </p:spPr>
        <p:txBody>
          <a:bodyPr anchor="t" rtlCol="false" tIns="0" lIns="0" bIns="0" rIns="0">
            <a:spAutoFit/>
          </a:bodyPr>
          <a:lstStyle/>
          <a:p>
            <a:pPr algn="ctr" marL="0" indent="0" lvl="0">
              <a:lnSpc>
                <a:spcPts val="2895"/>
              </a:lnSpc>
            </a:pPr>
            <a:r>
              <a:rPr lang="en-US" b="true" sz="2244" spc="-6">
                <a:solidFill>
                  <a:srgbClr val="FFFFFF"/>
                </a:solidFill>
                <a:latin typeface="Poppins Bold"/>
                <a:ea typeface="Poppins Bold"/>
                <a:cs typeface="Poppins Bold"/>
                <a:sym typeface="Poppins Bold"/>
              </a:rPr>
              <a:t>PROJECT GUIDE</a:t>
            </a:r>
          </a:p>
        </p:txBody>
      </p:sp>
      <p:sp>
        <p:nvSpPr>
          <p:cNvPr name="TextBox 25" id="25"/>
          <p:cNvSpPr txBox="true"/>
          <p:nvPr/>
        </p:nvSpPr>
        <p:spPr>
          <a:xfrm rot="0">
            <a:off x="5995080" y="6770805"/>
            <a:ext cx="2425450" cy="837523"/>
          </a:xfrm>
          <a:prstGeom prst="rect">
            <a:avLst/>
          </a:prstGeom>
        </p:spPr>
        <p:txBody>
          <a:bodyPr anchor="t" rtlCol="false" tIns="0" lIns="0" bIns="0" rIns="0">
            <a:spAutoFit/>
          </a:bodyPr>
          <a:lstStyle/>
          <a:p>
            <a:pPr algn="ctr" marL="0" indent="0" lvl="0">
              <a:lnSpc>
                <a:spcPts val="2226"/>
              </a:lnSpc>
            </a:pPr>
            <a:r>
              <a:rPr lang="en-US" sz="1725" spc="-5">
                <a:solidFill>
                  <a:srgbClr val="FFFFFF"/>
                </a:solidFill>
                <a:latin typeface="Poppins"/>
                <a:ea typeface="Poppins"/>
                <a:cs typeface="Poppins"/>
                <a:sym typeface="Poppins"/>
              </a:rPr>
              <a:t>Supervisor providing mentorship and technical guidance</a:t>
            </a:r>
          </a:p>
        </p:txBody>
      </p:sp>
      <p:sp>
        <p:nvSpPr>
          <p:cNvPr name="TextBox 26" id="26"/>
          <p:cNvSpPr txBox="true"/>
          <p:nvPr/>
        </p:nvSpPr>
        <p:spPr>
          <a:xfrm rot="0">
            <a:off x="9901910" y="6181273"/>
            <a:ext cx="2354710" cy="378719"/>
          </a:xfrm>
          <a:prstGeom prst="rect">
            <a:avLst/>
          </a:prstGeom>
        </p:spPr>
        <p:txBody>
          <a:bodyPr anchor="t" rtlCol="false" tIns="0" lIns="0" bIns="0" rIns="0">
            <a:spAutoFit/>
          </a:bodyPr>
          <a:lstStyle/>
          <a:p>
            <a:pPr algn="ctr" marL="0" indent="0" lvl="0">
              <a:lnSpc>
                <a:spcPts val="2895"/>
              </a:lnSpc>
            </a:pPr>
            <a:r>
              <a:rPr lang="en-US" b="true" sz="2244" spc="-6">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DATA ANALYST</a:t>
            </a:r>
          </a:p>
        </p:txBody>
      </p:sp>
      <p:sp>
        <p:nvSpPr>
          <p:cNvPr name="TextBox 27" id="27"/>
          <p:cNvSpPr txBox="true"/>
          <p:nvPr/>
        </p:nvSpPr>
        <p:spPr>
          <a:xfrm rot="0">
            <a:off x="9866540" y="6770805"/>
            <a:ext cx="2425450" cy="837523"/>
          </a:xfrm>
          <a:prstGeom prst="rect">
            <a:avLst/>
          </a:prstGeom>
        </p:spPr>
        <p:txBody>
          <a:bodyPr anchor="t" rtlCol="false" tIns="0" lIns="0" bIns="0" rIns="0">
            <a:spAutoFit/>
          </a:bodyPr>
          <a:lstStyle/>
          <a:p>
            <a:pPr algn="ctr" marL="0" indent="0" lvl="0">
              <a:lnSpc>
                <a:spcPts val="2226"/>
              </a:lnSpc>
            </a:pPr>
            <a:r>
              <a:rPr lang="en-US" sz="1725" spc="-5">
                <a:solidFill>
                  <a:srgbClr val="3A58E4"/>
                </a:solidFill>
                <a:latin typeface="Poppins"/>
                <a:ea typeface="Poppins"/>
                <a:cs typeface="Poppins"/>
                <a:sym typeface="Poppins"/>
              </a:rPr>
              <a:t>Model support and data processing expertise</a:t>
            </a:r>
          </a:p>
        </p:txBody>
      </p:sp>
      <p:sp>
        <p:nvSpPr>
          <p:cNvPr name="TextBox 28" id="28"/>
          <p:cNvSpPr txBox="true"/>
          <p:nvPr/>
        </p:nvSpPr>
        <p:spPr>
          <a:xfrm rot="0">
            <a:off x="13958674" y="6181273"/>
            <a:ext cx="1984104" cy="378719"/>
          </a:xfrm>
          <a:prstGeom prst="rect">
            <a:avLst/>
          </a:prstGeom>
        </p:spPr>
        <p:txBody>
          <a:bodyPr anchor="t" rtlCol="false" tIns="0" lIns="0" bIns="0" rIns="0">
            <a:spAutoFit/>
          </a:bodyPr>
          <a:lstStyle/>
          <a:p>
            <a:pPr algn="ctr" marL="0" indent="0" lvl="0">
              <a:lnSpc>
                <a:spcPts val="2895"/>
              </a:lnSpc>
            </a:pPr>
            <a:r>
              <a:rPr lang="en-US" b="true" sz="2244" spc="-6">
                <a:solidFill>
                  <a:srgbClr val="FFFFFF"/>
                </a:solidFill>
                <a:latin typeface="Poppins Bold"/>
                <a:ea typeface="Poppins Bold"/>
                <a:cs typeface="Poppins Bold"/>
                <a:sym typeface="Poppins Bold"/>
              </a:rPr>
              <a:t>END USERS</a:t>
            </a:r>
          </a:p>
        </p:txBody>
      </p:sp>
      <p:sp>
        <p:nvSpPr>
          <p:cNvPr name="TextBox 29" id="29"/>
          <p:cNvSpPr txBox="true"/>
          <p:nvPr/>
        </p:nvSpPr>
        <p:spPr>
          <a:xfrm rot="0">
            <a:off x="13738001" y="6770805"/>
            <a:ext cx="2425450" cy="837523"/>
          </a:xfrm>
          <a:prstGeom prst="rect">
            <a:avLst/>
          </a:prstGeom>
        </p:spPr>
        <p:txBody>
          <a:bodyPr anchor="t" rtlCol="false" tIns="0" lIns="0" bIns="0" rIns="0">
            <a:spAutoFit/>
          </a:bodyPr>
          <a:lstStyle/>
          <a:p>
            <a:pPr algn="ctr" marL="0" indent="0" lvl="0">
              <a:lnSpc>
                <a:spcPts val="2226"/>
              </a:lnSpc>
            </a:pPr>
            <a:r>
              <a:rPr lang="en-US" sz="1725" spc="-5">
                <a:solidFill>
                  <a:srgbClr val="FFFFFF"/>
                </a:solidFill>
                <a:latin typeface="Poppins"/>
                <a:ea typeface="Poppins"/>
                <a:cs typeface="Poppins"/>
                <a:sym typeface="Poppins"/>
              </a:rPr>
              <a:t>Application users benefiting from churn insights</a:t>
            </a:r>
          </a:p>
        </p:txBody>
      </p:sp>
      <p:grpSp>
        <p:nvGrpSpPr>
          <p:cNvPr name="Group 30" id="30"/>
          <p:cNvGrpSpPr/>
          <p:nvPr/>
        </p:nvGrpSpPr>
        <p:grpSpPr>
          <a:xfrm rot="0">
            <a:off x="4176506" y="4926023"/>
            <a:ext cx="746986" cy="747004"/>
            <a:chOff x="0" y="0"/>
            <a:chExt cx="995981" cy="996005"/>
          </a:xfrm>
        </p:grpSpPr>
        <p:grpSp>
          <p:nvGrpSpPr>
            <p:cNvPr name="Group 31" id="31"/>
            <p:cNvGrpSpPr/>
            <p:nvPr/>
          </p:nvGrpSpPr>
          <p:grpSpPr>
            <a:xfrm rot="0">
              <a:off x="0" y="0"/>
              <a:ext cx="995981" cy="996005"/>
              <a:chOff x="0" y="0"/>
              <a:chExt cx="812800" cy="812819"/>
            </a:xfrm>
          </p:grpSpPr>
          <p:sp>
            <p:nvSpPr>
              <p:cNvPr name="Freeform 32" id="32"/>
              <p:cNvSpPr/>
              <p:nvPr/>
            </p:nvSpPr>
            <p:spPr>
              <a:xfrm flipH="false" flipV="false" rot="0">
                <a:off x="0" y="0"/>
                <a:ext cx="812800" cy="812819"/>
              </a:xfrm>
              <a:custGeom>
                <a:avLst/>
                <a:gdLst/>
                <a:ahLst/>
                <a:cxnLst/>
                <a:rect r="r" b="b" t="t" l="l"/>
                <a:pathLst>
                  <a:path h="812819" w="812800">
                    <a:moveTo>
                      <a:pt x="406400" y="0"/>
                    </a:moveTo>
                    <a:cubicBezTo>
                      <a:pt x="181951" y="0"/>
                      <a:pt x="0" y="181956"/>
                      <a:pt x="0" y="406410"/>
                    </a:cubicBezTo>
                    <a:cubicBezTo>
                      <a:pt x="0" y="630864"/>
                      <a:pt x="181951" y="812819"/>
                      <a:pt x="406400" y="812819"/>
                    </a:cubicBezTo>
                    <a:cubicBezTo>
                      <a:pt x="630849" y="812819"/>
                      <a:pt x="812800" y="630864"/>
                      <a:pt x="812800" y="406410"/>
                    </a:cubicBezTo>
                    <a:cubicBezTo>
                      <a:pt x="812800" y="181956"/>
                      <a:pt x="630849" y="0"/>
                      <a:pt x="406400"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a:ln cap="sq">
                <a:noFill/>
                <a:prstDash val="solid"/>
                <a:miter/>
              </a:ln>
            </p:spPr>
          </p:sp>
          <p:sp>
            <p:nvSpPr>
              <p:cNvPr name="TextBox 33" id="33"/>
              <p:cNvSpPr txBox="true"/>
              <p:nvPr/>
            </p:nvSpPr>
            <p:spPr>
              <a:xfrm>
                <a:off x="76200" y="38102"/>
                <a:ext cx="660400" cy="698516"/>
              </a:xfrm>
              <a:prstGeom prst="rect">
                <a:avLst/>
              </a:prstGeom>
            </p:spPr>
            <p:txBody>
              <a:bodyPr anchor="ctr" rtlCol="false" tIns="50800" lIns="50800" bIns="50800" rIns="50800"/>
              <a:lstStyle/>
              <a:p>
                <a:pPr algn="ctr" marL="0" indent="0" lvl="0">
                  <a:lnSpc>
                    <a:spcPts val="2659"/>
                  </a:lnSpc>
                </a:pPr>
              </a:p>
            </p:txBody>
          </p:sp>
        </p:grpSp>
        <p:sp>
          <p:nvSpPr>
            <p:cNvPr name="TextBox 34" id="34"/>
            <p:cNvSpPr txBox="true"/>
            <p:nvPr/>
          </p:nvSpPr>
          <p:spPr>
            <a:xfrm rot="0">
              <a:off x="175623" y="235561"/>
              <a:ext cx="644736" cy="486783"/>
            </a:xfrm>
            <a:prstGeom prst="rect">
              <a:avLst/>
            </a:prstGeom>
          </p:spPr>
          <p:txBody>
            <a:bodyPr anchor="t" rtlCol="false" tIns="0" lIns="0" bIns="0" rIns="0">
              <a:spAutoFit/>
            </a:bodyPr>
            <a:lstStyle/>
            <a:p>
              <a:pPr algn="ctr" marL="0" indent="0" lvl="0">
                <a:lnSpc>
                  <a:spcPts val="2870"/>
                </a:lnSpc>
              </a:pPr>
              <a:r>
                <a:rPr lang="en-US" sz="2225" spc="-6">
                  <a:solidFill>
                    <a:srgbClr val="FFFFFF"/>
                  </a:solidFill>
                  <a:latin typeface="Poppins"/>
                  <a:ea typeface="Poppins"/>
                  <a:cs typeface="Poppins"/>
                  <a:sym typeface="Poppins"/>
                </a:rPr>
                <a:t>01</a:t>
              </a:r>
            </a:p>
          </p:txBody>
        </p:sp>
      </p:grpSp>
      <p:grpSp>
        <p:nvGrpSpPr>
          <p:cNvPr name="Group 35" id="35"/>
          <p:cNvGrpSpPr/>
          <p:nvPr/>
        </p:nvGrpSpPr>
        <p:grpSpPr>
          <a:xfrm rot="0">
            <a:off x="8047037" y="4926023"/>
            <a:ext cx="746986" cy="747004"/>
            <a:chOff x="0" y="0"/>
            <a:chExt cx="995981" cy="996005"/>
          </a:xfrm>
        </p:grpSpPr>
        <p:grpSp>
          <p:nvGrpSpPr>
            <p:cNvPr name="Group 36" id="36"/>
            <p:cNvGrpSpPr/>
            <p:nvPr/>
          </p:nvGrpSpPr>
          <p:grpSpPr>
            <a:xfrm rot="0">
              <a:off x="0" y="0"/>
              <a:ext cx="995981" cy="996005"/>
              <a:chOff x="0" y="0"/>
              <a:chExt cx="812800" cy="812819"/>
            </a:xfrm>
          </p:grpSpPr>
          <p:sp>
            <p:nvSpPr>
              <p:cNvPr name="Freeform 37" id="37"/>
              <p:cNvSpPr/>
              <p:nvPr/>
            </p:nvSpPr>
            <p:spPr>
              <a:xfrm flipH="false" flipV="false" rot="0">
                <a:off x="0" y="0"/>
                <a:ext cx="812800" cy="812819"/>
              </a:xfrm>
              <a:custGeom>
                <a:avLst/>
                <a:gdLst/>
                <a:ahLst/>
                <a:cxnLst/>
                <a:rect r="r" b="b" t="t" l="l"/>
                <a:pathLst>
                  <a:path h="812819" w="812800">
                    <a:moveTo>
                      <a:pt x="406400" y="0"/>
                    </a:moveTo>
                    <a:cubicBezTo>
                      <a:pt x="181951" y="0"/>
                      <a:pt x="0" y="181956"/>
                      <a:pt x="0" y="406410"/>
                    </a:cubicBezTo>
                    <a:cubicBezTo>
                      <a:pt x="0" y="630864"/>
                      <a:pt x="181951" y="812819"/>
                      <a:pt x="406400" y="812819"/>
                    </a:cubicBezTo>
                    <a:cubicBezTo>
                      <a:pt x="630849" y="812819"/>
                      <a:pt x="812800" y="630864"/>
                      <a:pt x="812800" y="406410"/>
                    </a:cubicBezTo>
                    <a:cubicBezTo>
                      <a:pt x="812800" y="181956"/>
                      <a:pt x="630849" y="0"/>
                      <a:pt x="406400" y="0"/>
                    </a:cubicBezTo>
                    <a:close/>
                  </a:path>
                </a:pathLst>
              </a:custGeom>
              <a:solidFill>
                <a:srgbClr val="FFFFFF"/>
              </a:solidFill>
              <a:ln w="47625" cap="sq">
                <a:gradFill>
                  <a:gsLst>
                    <a:gs pos="0">
                      <a:srgbClr val="293E9C">
                        <a:alpha val="100000"/>
                      </a:srgbClr>
                    </a:gs>
                    <a:gs pos="100000">
                      <a:srgbClr val="3A58E4">
                        <a:alpha val="100000"/>
                      </a:srgbClr>
                    </a:gs>
                  </a:gsLst>
                  <a:path path="circle">
                    <a:fillToRect l="0" r="100000" t="0" b="100000"/>
                  </a:path>
                  <a:tileRect r="0" l="-100000" b="0" t="-100000"/>
                </a:gradFill>
                <a:prstDash val="solid"/>
                <a:miter/>
              </a:ln>
            </p:spPr>
          </p:sp>
          <p:sp>
            <p:nvSpPr>
              <p:cNvPr name="TextBox 38" id="38"/>
              <p:cNvSpPr txBox="true"/>
              <p:nvPr/>
            </p:nvSpPr>
            <p:spPr>
              <a:xfrm>
                <a:off x="76200" y="38102"/>
                <a:ext cx="660400" cy="698516"/>
              </a:xfrm>
              <a:prstGeom prst="rect">
                <a:avLst/>
              </a:prstGeom>
            </p:spPr>
            <p:txBody>
              <a:bodyPr anchor="ctr" rtlCol="false" tIns="50800" lIns="50800" bIns="50800" rIns="50800"/>
              <a:lstStyle/>
              <a:p>
                <a:pPr algn="ctr" marL="0" indent="0" lvl="0">
                  <a:lnSpc>
                    <a:spcPts val="2659"/>
                  </a:lnSpc>
                </a:pPr>
              </a:p>
            </p:txBody>
          </p:sp>
        </p:grpSp>
        <p:sp>
          <p:nvSpPr>
            <p:cNvPr name="TextBox 39" id="39"/>
            <p:cNvSpPr txBox="true"/>
            <p:nvPr/>
          </p:nvSpPr>
          <p:spPr>
            <a:xfrm rot="0">
              <a:off x="175623" y="235561"/>
              <a:ext cx="644736" cy="486783"/>
            </a:xfrm>
            <a:prstGeom prst="rect">
              <a:avLst/>
            </a:prstGeom>
          </p:spPr>
          <p:txBody>
            <a:bodyPr anchor="t" rtlCol="false" tIns="0" lIns="0" bIns="0" rIns="0">
              <a:spAutoFit/>
            </a:bodyPr>
            <a:lstStyle/>
            <a:p>
              <a:pPr algn="ctr" marL="0" indent="0" lvl="0">
                <a:lnSpc>
                  <a:spcPts val="2870"/>
                </a:lnSpc>
              </a:pPr>
              <a:r>
                <a:rPr lang="en-US" sz="2225" spc="-6">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02</a:t>
              </a:r>
            </a:p>
          </p:txBody>
        </p:sp>
      </p:grpSp>
      <p:grpSp>
        <p:nvGrpSpPr>
          <p:cNvPr name="Group 40" id="40"/>
          <p:cNvGrpSpPr/>
          <p:nvPr/>
        </p:nvGrpSpPr>
        <p:grpSpPr>
          <a:xfrm rot="0">
            <a:off x="11919608" y="4926023"/>
            <a:ext cx="746986" cy="747004"/>
            <a:chOff x="0" y="0"/>
            <a:chExt cx="995981" cy="996005"/>
          </a:xfrm>
        </p:grpSpPr>
        <p:grpSp>
          <p:nvGrpSpPr>
            <p:cNvPr name="Group 41" id="41"/>
            <p:cNvGrpSpPr/>
            <p:nvPr/>
          </p:nvGrpSpPr>
          <p:grpSpPr>
            <a:xfrm rot="0">
              <a:off x="0" y="0"/>
              <a:ext cx="995981" cy="996005"/>
              <a:chOff x="0" y="0"/>
              <a:chExt cx="812800" cy="812819"/>
            </a:xfrm>
          </p:grpSpPr>
          <p:sp>
            <p:nvSpPr>
              <p:cNvPr name="Freeform 42" id="42"/>
              <p:cNvSpPr/>
              <p:nvPr/>
            </p:nvSpPr>
            <p:spPr>
              <a:xfrm flipH="false" flipV="false" rot="0">
                <a:off x="0" y="0"/>
                <a:ext cx="812800" cy="812819"/>
              </a:xfrm>
              <a:custGeom>
                <a:avLst/>
                <a:gdLst/>
                <a:ahLst/>
                <a:cxnLst/>
                <a:rect r="r" b="b" t="t" l="l"/>
                <a:pathLst>
                  <a:path h="812819" w="812800">
                    <a:moveTo>
                      <a:pt x="406400" y="0"/>
                    </a:moveTo>
                    <a:cubicBezTo>
                      <a:pt x="181951" y="0"/>
                      <a:pt x="0" y="181956"/>
                      <a:pt x="0" y="406410"/>
                    </a:cubicBezTo>
                    <a:cubicBezTo>
                      <a:pt x="0" y="630864"/>
                      <a:pt x="181951" y="812819"/>
                      <a:pt x="406400" y="812819"/>
                    </a:cubicBezTo>
                    <a:cubicBezTo>
                      <a:pt x="630849" y="812819"/>
                      <a:pt x="812800" y="630864"/>
                      <a:pt x="812800" y="406410"/>
                    </a:cubicBezTo>
                    <a:cubicBezTo>
                      <a:pt x="812800" y="181956"/>
                      <a:pt x="630849" y="0"/>
                      <a:pt x="406400"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a:ln cap="sq">
                <a:noFill/>
                <a:prstDash val="solid"/>
                <a:miter/>
              </a:ln>
            </p:spPr>
          </p:sp>
          <p:sp>
            <p:nvSpPr>
              <p:cNvPr name="TextBox 43" id="43"/>
              <p:cNvSpPr txBox="true"/>
              <p:nvPr/>
            </p:nvSpPr>
            <p:spPr>
              <a:xfrm>
                <a:off x="76200" y="38102"/>
                <a:ext cx="660400" cy="698516"/>
              </a:xfrm>
              <a:prstGeom prst="rect">
                <a:avLst/>
              </a:prstGeom>
            </p:spPr>
            <p:txBody>
              <a:bodyPr anchor="ctr" rtlCol="false" tIns="50800" lIns="50800" bIns="50800" rIns="50800"/>
              <a:lstStyle/>
              <a:p>
                <a:pPr algn="ctr" marL="0" indent="0" lvl="0">
                  <a:lnSpc>
                    <a:spcPts val="2659"/>
                  </a:lnSpc>
                </a:pPr>
              </a:p>
            </p:txBody>
          </p:sp>
        </p:grpSp>
        <p:sp>
          <p:nvSpPr>
            <p:cNvPr name="TextBox 44" id="44"/>
            <p:cNvSpPr txBox="true"/>
            <p:nvPr/>
          </p:nvSpPr>
          <p:spPr>
            <a:xfrm rot="0">
              <a:off x="175623" y="235561"/>
              <a:ext cx="644736" cy="486783"/>
            </a:xfrm>
            <a:prstGeom prst="rect">
              <a:avLst/>
            </a:prstGeom>
          </p:spPr>
          <p:txBody>
            <a:bodyPr anchor="t" rtlCol="false" tIns="0" lIns="0" bIns="0" rIns="0">
              <a:spAutoFit/>
            </a:bodyPr>
            <a:lstStyle/>
            <a:p>
              <a:pPr algn="ctr" marL="0" indent="0" lvl="0">
                <a:lnSpc>
                  <a:spcPts val="2870"/>
                </a:lnSpc>
              </a:pPr>
              <a:r>
                <a:rPr lang="en-US" sz="2225" spc="-6">
                  <a:solidFill>
                    <a:srgbClr val="FFFFFF"/>
                  </a:solidFill>
                  <a:latin typeface="Poppins"/>
                  <a:ea typeface="Poppins"/>
                  <a:cs typeface="Poppins"/>
                  <a:sym typeface="Poppins"/>
                </a:rPr>
                <a:t>03</a:t>
              </a:r>
            </a:p>
          </p:txBody>
        </p:sp>
      </p:grpSp>
      <p:grpSp>
        <p:nvGrpSpPr>
          <p:cNvPr name="Group 45" id="45"/>
          <p:cNvGrpSpPr/>
          <p:nvPr/>
        </p:nvGrpSpPr>
        <p:grpSpPr>
          <a:xfrm rot="0">
            <a:off x="15791068" y="4926023"/>
            <a:ext cx="746986" cy="747004"/>
            <a:chOff x="0" y="0"/>
            <a:chExt cx="995981" cy="996005"/>
          </a:xfrm>
        </p:grpSpPr>
        <p:grpSp>
          <p:nvGrpSpPr>
            <p:cNvPr name="Group 46" id="46"/>
            <p:cNvGrpSpPr/>
            <p:nvPr/>
          </p:nvGrpSpPr>
          <p:grpSpPr>
            <a:xfrm rot="0">
              <a:off x="0" y="0"/>
              <a:ext cx="995981" cy="996005"/>
              <a:chOff x="0" y="0"/>
              <a:chExt cx="812800" cy="812819"/>
            </a:xfrm>
          </p:grpSpPr>
          <p:sp>
            <p:nvSpPr>
              <p:cNvPr name="Freeform 47" id="47"/>
              <p:cNvSpPr/>
              <p:nvPr/>
            </p:nvSpPr>
            <p:spPr>
              <a:xfrm flipH="false" flipV="false" rot="0">
                <a:off x="0" y="0"/>
                <a:ext cx="812800" cy="812819"/>
              </a:xfrm>
              <a:custGeom>
                <a:avLst/>
                <a:gdLst/>
                <a:ahLst/>
                <a:cxnLst/>
                <a:rect r="r" b="b" t="t" l="l"/>
                <a:pathLst>
                  <a:path h="812819" w="812800">
                    <a:moveTo>
                      <a:pt x="406400" y="0"/>
                    </a:moveTo>
                    <a:cubicBezTo>
                      <a:pt x="181951" y="0"/>
                      <a:pt x="0" y="181956"/>
                      <a:pt x="0" y="406410"/>
                    </a:cubicBezTo>
                    <a:cubicBezTo>
                      <a:pt x="0" y="630864"/>
                      <a:pt x="181951" y="812819"/>
                      <a:pt x="406400" y="812819"/>
                    </a:cubicBezTo>
                    <a:cubicBezTo>
                      <a:pt x="630849" y="812819"/>
                      <a:pt x="812800" y="630864"/>
                      <a:pt x="812800" y="406410"/>
                    </a:cubicBezTo>
                    <a:cubicBezTo>
                      <a:pt x="812800" y="181956"/>
                      <a:pt x="630849" y="0"/>
                      <a:pt x="406400" y="0"/>
                    </a:cubicBezTo>
                    <a:close/>
                  </a:path>
                </a:pathLst>
              </a:custGeom>
              <a:solidFill>
                <a:srgbClr val="FFFFFF"/>
              </a:solidFill>
              <a:ln w="47625" cap="sq">
                <a:gradFill>
                  <a:gsLst>
                    <a:gs pos="0">
                      <a:srgbClr val="293E9C">
                        <a:alpha val="100000"/>
                      </a:srgbClr>
                    </a:gs>
                    <a:gs pos="100000">
                      <a:srgbClr val="3A58E4">
                        <a:alpha val="100000"/>
                      </a:srgbClr>
                    </a:gs>
                  </a:gsLst>
                  <a:path path="circle">
                    <a:fillToRect l="0" r="100000" t="0" b="100000"/>
                  </a:path>
                  <a:tileRect r="0" l="-100000" b="0" t="-100000"/>
                </a:gradFill>
                <a:prstDash val="solid"/>
                <a:miter/>
              </a:ln>
            </p:spPr>
          </p:sp>
          <p:sp>
            <p:nvSpPr>
              <p:cNvPr name="TextBox 48" id="48"/>
              <p:cNvSpPr txBox="true"/>
              <p:nvPr/>
            </p:nvSpPr>
            <p:spPr>
              <a:xfrm>
                <a:off x="76200" y="38102"/>
                <a:ext cx="660400" cy="698516"/>
              </a:xfrm>
              <a:prstGeom prst="rect">
                <a:avLst/>
              </a:prstGeom>
            </p:spPr>
            <p:txBody>
              <a:bodyPr anchor="ctr" rtlCol="false" tIns="50800" lIns="50800" bIns="50800" rIns="50800"/>
              <a:lstStyle/>
              <a:p>
                <a:pPr algn="ctr" marL="0" indent="0" lvl="0">
                  <a:lnSpc>
                    <a:spcPts val="2659"/>
                  </a:lnSpc>
                </a:pPr>
              </a:p>
            </p:txBody>
          </p:sp>
        </p:grpSp>
        <p:sp>
          <p:nvSpPr>
            <p:cNvPr name="TextBox 49" id="49"/>
            <p:cNvSpPr txBox="true"/>
            <p:nvPr/>
          </p:nvSpPr>
          <p:spPr>
            <a:xfrm rot="0">
              <a:off x="175623" y="235561"/>
              <a:ext cx="644736" cy="486783"/>
            </a:xfrm>
            <a:prstGeom prst="rect">
              <a:avLst/>
            </a:prstGeom>
          </p:spPr>
          <p:txBody>
            <a:bodyPr anchor="t" rtlCol="false" tIns="0" lIns="0" bIns="0" rIns="0">
              <a:spAutoFit/>
            </a:bodyPr>
            <a:lstStyle/>
            <a:p>
              <a:pPr algn="ctr" marL="0" indent="0" lvl="0">
                <a:lnSpc>
                  <a:spcPts val="2870"/>
                </a:lnSpc>
              </a:pPr>
              <a:r>
                <a:rPr lang="en-US" sz="2225" spc="-6">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04</a:t>
              </a:r>
            </a:p>
          </p:txBody>
        </p:sp>
      </p:grpSp>
      <p:sp>
        <p:nvSpPr>
          <p:cNvPr name="TextBox 50" id="50"/>
          <p:cNvSpPr txBox="true"/>
          <p:nvPr/>
        </p:nvSpPr>
        <p:spPr>
          <a:xfrm rot="0">
            <a:off x="3363658" y="1531339"/>
            <a:ext cx="11560683" cy="1273720"/>
          </a:xfrm>
          <a:prstGeom prst="rect">
            <a:avLst/>
          </a:prstGeom>
        </p:spPr>
        <p:txBody>
          <a:bodyPr anchor="t" rtlCol="false" tIns="0" lIns="0" bIns="0" rIns="0">
            <a:spAutoFit/>
          </a:bodyPr>
          <a:lstStyle/>
          <a:p>
            <a:pPr algn="ctr" marL="0" indent="0" lvl="0">
              <a:lnSpc>
                <a:spcPts val="9596"/>
              </a:lnSpc>
            </a:pPr>
            <a:r>
              <a:rPr lang="en-US" sz="9792" spc="-626">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Stakeholders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438046" y="140321"/>
            <a:ext cx="1849954" cy="1707845"/>
            <a:chOff x="0" y="0"/>
            <a:chExt cx="2466605" cy="2277127"/>
          </a:xfrm>
        </p:grpSpPr>
        <p:grpSp>
          <p:nvGrpSpPr>
            <p:cNvPr name="Group 3" id="3"/>
            <p:cNvGrpSpPr/>
            <p:nvPr/>
          </p:nvGrpSpPr>
          <p:grpSpPr>
            <a:xfrm rot="0">
              <a:off x="0" y="0"/>
              <a:ext cx="2466605" cy="2277127"/>
              <a:chOff x="0" y="0"/>
              <a:chExt cx="787566" cy="727067"/>
            </a:xfrm>
          </p:grpSpPr>
          <p:sp>
            <p:nvSpPr>
              <p:cNvPr name="Freeform 4" id="4"/>
              <p:cNvSpPr/>
              <p:nvPr/>
            </p:nvSpPr>
            <p:spPr>
              <a:xfrm flipH="false" flipV="false" rot="0">
                <a:off x="0" y="0"/>
                <a:ext cx="787566" cy="727067"/>
              </a:xfrm>
              <a:custGeom>
                <a:avLst/>
                <a:gdLst/>
                <a:ahLst/>
                <a:cxnLst/>
                <a:rect r="r" b="b" t="t" l="l"/>
                <a:pathLst>
                  <a:path h="727067" w="787566">
                    <a:moveTo>
                      <a:pt x="0" y="0"/>
                    </a:moveTo>
                    <a:lnTo>
                      <a:pt x="787566" y="0"/>
                    </a:lnTo>
                    <a:lnTo>
                      <a:pt x="787566" y="727067"/>
                    </a:lnTo>
                    <a:lnTo>
                      <a:pt x="0" y="727067"/>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5" id="5"/>
              <p:cNvSpPr txBox="true"/>
              <p:nvPr/>
            </p:nvSpPr>
            <p:spPr>
              <a:xfrm>
                <a:off x="0" y="-38100"/>
                <a:ext cx="787566" cy="76516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6" id="6"/>
            <p:cNvSpPr txBox="true"/>
            <p:nvPr/>
          </p:nvSpPr>
          <p:spPr>
            <a:xfrm rot="0">
              <a:off x="319164" y="684524"/>
              <a:ext cx="1828278" cy="1022379"/>
            </a:xfrm>
            <a:prstGeom prst="rect">
              <a:avLst/>
            </a:prstGeom>
          </p:spPr>
          <p:txBody>
            <a:bodyPr anchor="t" rtlCol="false" tIns="0" lIns="0" bIns="0" rIns="0">
              <a:spAutoFit/>
            </a:bodyPr>
            <a:lstStyle/>
            <a:p>
              <a:pPr algn="ctr" marL="0" indent="0" lvl="0">
                <a:lnSpc>
                  <a:spcPts val="5513"/>
                </a:lnSpc>
              </a:pPr>
              <a:r>
                <a:rPr lang="en-US" sz="5625" spc="-360">
                  <a:solidFill>
                    <a:srgbClr val="FFFFFF"/>
                  </a:solidFill>
                  <a:latin typeface="Bricolage Grotesque"/>
                  <a:ea typeface="Bricolage Grotesque"/>
                  <a:cs typeface="Bricolage Grotesque"/>
                  <a:sym typeface="Bricolage Grotesque"/>
                </a:rPr>
                <a:t>05</a:t>
              </a:r>
            </a:p>
          </p:txBody>
        </p:sp>
      </p:grpSp>
      <p:grpSp>
        <p:nvGrpSpPr>
          <p:cNvPr name="Group 7" id="7"/>
          <p:cNvGrpSpPr/>
          <p:nvPr/>
        </p:nvGrpSpPr>
        <p:grpSpPr>
          <a:xfrm rot="0">
            <a:off x="5545788" y="3062727"/>
            <a:ext cx="7196424" cy="379246"/>
            <a:chOff x="0" y="0"/>
            <a:chExt cx="9595232" cy="505662"/>
          </a:xfrm>
        </p:grpSpPr>
        <p:sp>
          <p:nvSpPr>
            <p:cNvPr name="TextBox 8" id="8"/>
            <p:cNvSpPr txBox="true"/>
            <p:nvPr/>
          </p:nvSpPr>
          <p:spPr>
            <a:xfrm rot="0">
              <a:off x="0" y="47487"/>
              <a:ext cx="9378912" cy="458175"/>
            </a:xfrm>
            <a:prstGeom prst="rect">
              <a:avLst/>
            </a:prstGeom>
          </p:spPr>
          <p:txBody>
            <a:bodyPr anchor="t" rtlCol="false" tIns="0" lIns="0" bIns="0" rIns="0">
              <a:spAutoFit/>
            </a:bodyPr>
            <a:lstStyle/>
            <a:p>
              <a:pPr algn="l" marL="0" indent="0" lvl="0">
                <a:lnSpc>
                  <a:spcPts val="2847"/>
                </a:lnSpc>
              </a:pPr>
              <a:r>
                <a:rPr lang="en-US" b="true" sz="2033" spc="-50">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TECH STACK POWERING THE CHURN PREDICTION SYSTEM</a:t>
              </a:r>
            </a:p>
          </p:txBody>
        </p:sp>
        <p:sp>
          <p:nvSpPr>
            <p:cNvPr name="Freeform 9" id="9"/>
            <p:cNvSpPr/>
            <p:nvPr/>
          </p:nvSpPr>
          <p:spPr>
            <a:xfrm flipH="false" flipV="false" rot="-8687136">
              <a:off x="9278212" y="44820"/>
              <a:ext cx="252200" cy="304858"/>
            </a:xfrm>
            <a:custGeom>
              <a:avLst/>
              <a:gdLst/>
              <a:ahLst/>
              <a:cxnLst/>
              <a:rect r="r" b="b" t="t" l="l"/>
              <a:pathLst>
                <a:path h="304858" w="252200">
                  <a:moveTo>
                    <a:pt x="0" y="0"/>
                  </a:moveTo>
                  <a:lnTo>
                    <a:pt x="252200" y="0"/>
                  </a:lnTo>
                  <a:lnTo>
                    <a:pt x="252200" y="304857"/>
                  </a:lnTo>
                  <a:lnTo>
                    <a:pt x="0" y="3048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10" id="10"/>
          <p:cNvGrpSpPr/>
          <p:nvPr/>
        </p:nvGrpSpPr>
        <p:grpSpPr>
          <a:xfrm rot="0">
            <a:off x="1463921" y="4926041"/>
            <a:ext cx="3746706" cy="3746706"/>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gradFill>
                <a:gsLst>
                  <a:gs pos="0">
                    <a:srgbClr val="293E9C">
                      <a:alpha val="100000"/>
                    </a:srgbClr>
                  </a:gs>
                  <a:gs pos="100000">
                    <a:srgbClr val="3A58E4">
                      <a:alpha val="100000"/>
                    </a:srgbClr>
                  </a:gs>
                </a:gsLst>
                <a:path path="circle">
                  <a:fillToRect l="0" r="100000" t="0" b="100000"/>
                </a:path>
                <a:tileRect r="0" l="-100000" b="0" t="-100000"/>
              </a:gradFill>
              <a:prstDash val="solid"/>
              <a:miter/>
            </a:ln>
          </p:spPr>
        </p:sp>
        <p:sp>
          <p:nvSpPr>
            <p:cNvPr name="TextBox 12" id="12"/>
            <p:cNvSpPr txBox="true"/>
            <p:nvPr/>
          </p:nvSpPr>
          <p:spPr>
            <a:xfrm>
              <a:off x="76200" y="38100"/>
              <a:ext cx="660400" cy="698500"/>
            </a:xfrm>
            <a:prstGeom prst="rect">
              <a:avLst/>
            </a:prstGeom>
          </p:spPr>
          <p:txBody>
            <a:bodyPr anchor="ctr" rtlCol="false" tIns="40108" lIns="40108" bIns="40108" rIns="40108"/>
            <a:lstStyle/>
            <a:p>
              <a:pPr algn="ctr" marL="0" indent="0" lvl="0">
                <a:lnSpc>
                  <a:spcPts val="2659"/>
                </a:lnSpc>
              </a:pPr>
            </a:p>
          </p:txBody>
        </p:sp>
      </p:grpSp>
      <p:grpSp>
        <p:nvGrpSpPr>
          <p:cNvPr name="Group 13" id="13"/>
          <p:cNvGrpSpPr/>
          <p:nvPr/>
        </p:nvGrpSpPr>
        <p:grpSpPr>
          <a:xfrm rot="0">
            <a:off x="5334452" y="4926041"/>
            <a:ext cx="3746706" cy="3746706"/>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a:ln cap="sq">
              <a:noFill/>
              <a:prstDash val="solid"/>
              <a:miter/>
            </a:ln>
          </p:spPr>
        </p:sp>
        <p:sp>
          <p:nvSpPr>
            <p:cNvPr name="TextBox 15" id="15"/>
            <p:cNvSpPr txBox="true"/>
            <p:nvPr/>
          </p:nvSpPr>
          <p:spPr>
            <a:xfrm>
              <a:off x="76200" y="38100"/>
              <a:ext cx="660400" cy="698500"/>
            </a:xfrm>
            <a:prstGeom prst="rect">
              <a:avLst/>
            </a:prstGeom>
          </p:spPr>
          <p:txBody>
            <a:bodyPr anchor="ctr" rtlCol="false" tIns="40108" lIns="40108" bIns="40108" rIns="40108"/>
            <a:lstStyle/>
            <a:p>
              <a:pPr algn="ctr" marL="0" indent="0" lvl="0">
                <a:lnSpc>
                  <a:spcPts val="2659"/>
                </a:lnSpc>
              </a:pPr>
            </a:p>
          </p:txBody>
        </p:sp>
      </p:grpSp>
      <p:grpSp>
        <p:nvGrpSpPr>
          <p:cNvPr name="Group 16" id="16"/>
          <p:cNvGrpSpPr/>
          <p:nvPr/>
        </p:nvGrpSpPr>
        <p:grpSpPr>
          <a:xfrm rot="0">
            <a:off x="9205912" y="4926041"/>
            <a:ext cx="3746706" cy="3746706"/>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gradFill>
                <a:gsLst>
                  <a:gs pos="0">
                    <a:srgbClr val="293E9C">
                      <a:alpha val="100000"/>
                    </a:srgbClr>
                  </a:gs>
                  <a:gs pos="100000">
                    <a:srgbClr val="3A58E4">
                      <a:alpha val="100000"/>
                    </a:srgbClr>
                  </a:gs>
                </a:gsLst>
                <a:path path="circle">
                  <a:fillToRect l="0" r="100000" t="0" b="100000"/>
                </a:path>
                <a:tileRect r="0" l="-100000" b="0" t="-100000"/>
              </a:gradFill>
              <a:prstDash val="solid"/>
              <a:miter/>
            </a:ln>
          </p:spPr>
        </p:sp>
        <p:sp>
          <p:nvSpPr>
            <p:cNvPr name="TextBox 18" id="18"/>
            <p:cNvSpPr txBox="true"/>
            <p:nvPr/>
          </p:nvSpPr>
          <p:spPr>
            <a:xfrm>
              <a:off x="76200" y="38100"/>
              <a:ext cx="660400" cy="698500"/>
            </a:xfrm>
            <a:prstGeom prst="rect">
              <a:avLst/>
            </a:prstGeom>
          </p:spPr>
          <p:txBody>
            <a:bodyPr anchor="ctr" rtlCol="false" tIns="40108" lIns="40108" bIns="40108" rIns="40108"/>
            <a:lstStyle/>
            <a:p>
              <a:pPr algn="ctr" marL="0" indent="0" lvl="0">
                <a:lnSpc>
                  <a:spcPts val="2659"/>
                </a:lnSpc>
              </a:pPr>
            </a:p>
          </p:txBody>
        </p:sp>
      </p:grpSp>
      <p:grpSp>
        <p:nvGrpSpPr>
          <p:cNvPr name="Group 19" id="19"/>
          <p:cNvGrpSpPr/>
          <p:nvPr/>
        </p:nvGrpSpPr>
        <p:grpSpPr>
          <a:xfrm rot="0">
            <a:off x="13077373" y="4926041"/>
            <a:ext cx="3746706" cy="3746706"/>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a:ln cap="sq">
              <a:noFill/>
              <a:prstDash val="solid"/>
              <a:miter/>
            </a:ln>
          </p:spPr>
        </p:sp>
        <p:sp>
          <p:nvSpPr>
            <p:cNvPr name="TextBox 21" id="21"/>
            <p:cNvSpPr txBox="true"/>
            <p:nvPr/>
          </p:nvSpPr>
          <p:spPr>
            <a:xfrm>
              <a:off x="76200" y="38100"/>
              <a:ext cx="660400" cy="698500"/>
            </a:xfrm>
            <a:prstGeom prst="rect">
              <a:avLst/>
            </a:prstGeom>
          </p:spPr>
          <p:txBody>
            <a:bodyPr anchor="ctr" rtlCol="false" tIns="40108" lIns="40108" bIns="40108" rIns="40108"/>
            <a:lstStyle/>
            <a:p>
              <a:pPr algn="ctr" marL="0" indent="0" lvl="0">
                <a:lnSpc>
                  <a:spcPts val="2659"/>
                </a:lnSpc>
              </a:pPr>
            </a:p>
          </p:txBody>
        </p:sp>
      </p:grpSp>
      <p:sp>
        <p:nvSpPr>
          <p:cNvPr name="TextBox 22" id="22"/>
          <p:cNvSpPr txBox="true"/>
          <p:nvPr/>
        </p:nvSpPr>
        <p:spPr>
          <a:xfrm rot="0">
            <a:off x="2345222" y="6245002"/>
            <a:ext cx="1984104" cy="314990"/>
          </a:xfrm>
          <a:prstGeom prst="rect">
            <a:avLst/>
          </a:prstGeom>
        </p:spPr>
        <p:txBody>
          <a:bodyPr anchor="t" rtlCol="false" tIns="0" lIns="0" bIns="0" rIns="0">
            <a:spAutoFit/>
          </a:bodyPr>
          <a:lstStyle/>
          <a:p>
            <a:pPr algn="ctr" marL="0" indent="0" lvl="0">
              <a:lnSpc>
                <a:spcPts val="2486"/>
              </a:lnSpc>
            </a:pPr>
            <a:r>
              <a:rPr lang="en-US" b="true" sz="1927" spc="-5">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PYTHON</a:t>
            </a:r>
          </a:p>
        </p:txBody>
      </p:sp>
      <p:sp>
        <p:nvSpPr>
          <p:cNvPr name="TextBox 23" id="23"/>
          <p:cNvSpPr txBox="true"/>
          <p:nvPr/>
        </p:nvSpPr>
        <p:spPr>
          <a:xfrm rot="0">
            <a:off x="2124549" y="6975395"/>
            <a:ext cx="2425450" cy="632933"/>
          </a:xfrm>
          <a:prstGeom prst="rect">
            <a:avLst/>
          </a:prstGeom>
        </p:spPr>
        <p:txBody>
          <a:bodyPr anchor="t" rtlCol="false" tIns="0" lIns="0" bIns="0" rIns="0">
            <a:spAutoFit/>
          </a:bodyPr>
          <a:lstStyle/>
          <a:p>
            <a:pPr algn="ctr" marL="0" indent="0" lvl="0">
              <a:lnSpc>
                <a:spcPts val="1666"/>
              </a:lnSpc>
            </a:pPr>
            <a:r>
              <a:rPr lang="en-US" sz="1291" spc="-3">
                <a:solidFill>
                  <a:srgbClr val="3A58E4"/>
                </a:solidFill>
                <a:latin typeface="Poppins"/>
                <a:ea typeface="Poppins"/>
                <a:cs typeface="Poppins"/>
                <a:sym typeface="Poppins"/>
              </a:rPr>
              <a:t>Core programming language for ML model development and data processing</a:t>
            </a:r>
          </a:p>
        </p:txBody>
      </p:sp>
      <p:sp>
        <p:nvSpPr>
          <p:cNvPr name="TextBox 24" id="24"/>
          <p:cNvSpPr txBox="true"/>
          <p:nvPr/>
        </p:nvSpPr>
        <p:spPr>
          <a:xfrm rot="0">
            <a:off x="6215753" y="6245002"/>
            <a:ext cx="1984104" cy="314990"/>
          </a:xfrm>
          <a:prstGeom prst="rect">
            <a:avLst/>
          </a:prstGeom>
        </p:spPr>
        <p:txBody>
          <a:bodyPr anchor="t" rtlCol="false" tIns="0" lIns="0" bIns="0" rIns="0">
            <a:spAutoFit/>
          </a:bodyPr>
          <a:lstStyle/>
          <a:p>
            <a:pPr algn="ctr" marL="0" indent="0" lvl="0">
              <a:lnSpc>
                <a:spcPts val="2486"/>
              </a:lnSpc>
            </a:pPr>
            <a:r>
              <a:rPr lang="en-US" b="true" sz="1927" spc="-5">
                <a:solidFill>
                  <a:srgbClr val="FFFFFF"/>
                </a:solidFill>
                <a:latin typeface="Poppins Bold"/>
                <a:ea typeface="Poppins Bold"/>
                <a:cs typeface="Poppins Bold"/>
                <a:sym typeface="Poppins Bold"/>
              </a:rPr>
              <a:t>FLASK</a:t>
            </a:r>
          </a:p>
        </p:txBody>
      </p:sp>
      <p:sp>
        <p:nvSpPr>
          <p:cNvPr name="TextBox 25" id="25"/>
          <p:cNvSpPr txBox="true"/>
          <p:nvPr/>
        </p:nvSpPr>
        <p:spPr>
          <a:xfrm rot="0">
            <a:off x="5995080" y="6975395"/>
            <a:ext cx="2425450" cy="632933"/>
          </a:xfrm>
          <a:prstGeom prst="rect">
            <a:avLst/>
          </a:prstGeom>
        </p:spPr>
        <p:txBody>
          <a:bodyPr anchor="t" rtlCol="false" tIns="0" lIns="0" bIns="0" rIns="0">
            <a:spAutoFit/>
          </a:bodyPr>
          <a:lstStyle/>
          <a:p>
            <a:pPr algn="ctr" marL="0" indent="0" lvl="0">
              <a:lnSpc>
                <a:spcPts val="1666"/>
              </a:lnSpc>
            </a:pPr>
            <a:r>
              <a:rPr lang="en-US" sz="1291" spc="-3">
                <a:solidFill>
                  <a:srgbClr val="FFFFFF"/>
                </a:solidFill>
                <a:latin typeface="Poppins"/>
                <a:ea typeface="Poppins"/>
                <a:cs typeface="Poppins"/>
                <a:sym typeface="Poppins"/>
              </a:rPr>
              <a:t>Lightweight web framework for deploying the prediction API</a:t>
            </a:r>
          </a:p>
        </p:txBody>
      </p:sp>
      <p:sp>
        <p:nvSpPr>
          <p:cNvPr name="TextBox 26" id="26"/>
          <p:cNvSpPr txBox="true"/>
          <p:nvPr/>
        </p:nvSpPr>
        <p:spPr>
          <a:xfrm rot="0">
            <a:off x="9901910" y="6245002"/>
            <a:ext cx="2354710" cy="314990"/>
          </a:xfrm>
          <a:prstGeom prst="rect">
            <a:avLst/>
          </a:prstGeom>
        </p:spPr>
        <p:txBody>
          <a:bodyPr anchor="t" rtlCol="false" tIns="0" lIns="0" bIns="0" rIns="0">
            <a:spAutoFit/>
          </a:bodyPr>
          <a:lstStyle/>
          <a:p>
            <a:pPr algn="ctr" marL="0" indent="0" lvl="0">
              <a:lnSpc>
                <a:spcPts val="2486"/>
              </a:lnSpc>
            </a:pPr>
            <a:r>
              <a:rPr lang="en-US" b="true" sz="1927" spc="-5">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SCIKIT-LEARN</a:t>
            </a:r>
          </a:p>
        </p:txBody>
      </p:sp>
      <p:sp>
        <p:nvSpPr>
          <p:cNvPr name="TextBox 27" id="27"/>
          <p:cNvSpPr txBox="true"/>
          <p:nvPr/>
        </p:nvSpPr>
        <p:spPr>
          <a:xfrm rot="0">
            <a:off x="9866540" y="6975395"/>
            <a:ext cx="2425450" cy="632933"/>
          </a:xfrm>
          <a:prstGeom prst="rect">
            <a:avLst/>
          </a:prstGeom>
        </p:spPr>
        <p:txBody>
          <a:bodyPr anchor="t" rtlCol="false" tIns="0" lIns="0" bIns="0" rIns="0">
            <a:spAutoFit/>
          </a:bodyPr>
          <a:lstStyle/>
          <a:p>
            <a:pPr algn="ctr" marL="0" indent="0" lvl="0">
              <a:lnSpc>
                <a:spcPts val="1666"/>
              </a:lnSpc>
            </a:pPr>
            <a:r>
              <a:rPr lang="en-US" sz="1291" spc="-3">
                <a:solidFill>
                  <a:srgbClr val="3A58E4"/>
                </a:solidFill>
                <a:latin typeface="Poppins"/>
                <a:ea typeface="Poppins"/>
                <a:cs typeface="Poppins"/>
                <a:sym typeface="Poppins"/>
              </a:rPr>
              <a:t>Machine learning library for building churn prediction models</a:t>
            </a:r>
          </a:p>
        </p:txBody>
      </p:sp>
      <p:sp>
        <p:nvSpPr>
          <p:cNvPr name="TextBox 28" id="28"/>
          <p:cNvSpPr txBox="true"/>
          <p:nvPr/>
        </p:nvSpPr>
        <p:spPr>
          <a:xfrm rot="0">
            <a:off x="13958674" y="5936558"/>
            <a:ext cx="1984104" cy="623434"/>
          </a:xfrm>
          <a:prstGeom prst="rect">
            <a:avLst/>
          </a:prstGeom>
        </p:spPr>
        <p:txBody>
          <a:bodyPr anchor="t" rtlCol="false" tIns="0" lIns="0" bIns="0" rIns="0">
            <a:spAutoFit/>
          </a:bodyPr>
          <a:lstStyle/>
          <a:p>
            <a:pPr algn="ctr" marL="0" indent="0" lvl="0">
              <a:lnSpc>
                <a:spcPts val="2486"/>
              </a:lnSpc>
            </a:pPr>
            <a:r>
              <a:rPr lang="en-US" b="true" sz="1927" spc="-5">
                <a:solidFill>
                  <a:srgbClr val="FFFFFF"/>
                </a:solidFill>
                <a:latin typeface="Poppins Bold"/>
                <a:ea typeface="Poppins Bold"/>
                <a:cs typeface="Poppins Bold"/>
                <a:sym typeface="Poppins Bold"/>
              </a:rPr>
              <a:t>PANDAS &amp; NUMPY</a:t>
            </a:r>
          </a:p>
        </p:txBody>
      </p:sp>
      <p:sp>
        <p:nvSpPr>
          <p:cNvPr name="TextBox 29" id="29"/>
          <p:cNvSpPr txBox="true"/>
          <p:nvPr/>
        </p:nvSpPr>
        <p:spPr>
          <a:xfrm rot="0">
            <a:off x="13738001" y="6975395"/>
            <a:ext cx="2425450" cy="632933"/>
          </a:xfrm>
          <a:prstGeom prst="rect">
            <a:avLst/>
          </a:prstGeom>
        </p:spPr>
        <p:txBody>
          <a:bodyPr anchor="t" rtlCol="false" tIns="0" lIns="0" bIns="0" rIns="0">
            <a:spAutoFit/>
          </a:bodyPr>
          <a:lstStyle/>
          <a:p>
            <a:pPr algn="ctr" marL="0" indent="0" lvl="0">
              <a:lnSpc>
                <a:spcPts val="1666"/>
              </a:lnSpc>
            </a:pPr>
            <a:r>
              <a:rPr lang="en-US" sz="1291" spc="-3">
                <a:solidFill>
                  <a:srgbClr val="FFFFFF"/>
                </a:solidFill>
                <a:latin typeface="Poppins"/>
                <a:ea typeface="Poppins"/>
                <a:cs typeface="Poppins"/>
                <a:sym typeface="Poppins"/>
              </a:rPr>
              <a:t>Data manipulation and numerical computing libraries</a:t>
            </a:r>
          </a:p>
        </p:txBody>
      </p:sp>
      <p:grpSp>
        <p:nvGrpSpPr>
          <p:cNvPr name="Group 30" id="30"/>
          <p:cNvGrpSpPr/>
          <p:nvPr/>
        </p:nvGrpSpPr>
        <p:grpSpPr>
          <a:xfrm rot="0">
            <a:off x="4176506" y="4979576"/>
            <a:ext cx="746986" cy="693451"/>
            <a:chOff x="0" y="0"/>
            <a:chExt cx="995981" cy="924602"/>
          </a:xfrm>
        </p:grpSpPr>
        <p:grpSp>
          <p:nvGrpSpPr>
            <p:cNvPr name="Group 31" id="31"/>
            <p:cNvGrpSpPr/>
            <p:nvPr/>
          </p:nvGrpSpPr>
          <p:grpSpPr>
            <a:xfrm rot="0">
              <a:off x="0" y="0"/>
              <a:ext cx="995981" cy="924602"/>
              <a:chOff x="0" y="0"/>
              <a:chExt cx="812800" cy="754549"/>
            </a:xfrm>
          </p:grpSpPr>
          <p:sp>
            <p:nvSpPr>
              <p:cNvPr name="Freeform 32" id="32"/>
              <p:cNvSpPr/>
              <p:nvPr/>
            </p:nvSpPr>
            <p:spPr>
              <a:xfrm flipH="false" flipV="false" rot="0">
                <a:off x="0" y="0"/>
                <a:ext cx="812800" cy="754549"/>
              </a:xfrm>
              <a:custGeom>
                <a:avLst/>
                <a:gdLst/>
                <a:ahLst/>
                <a:cxnLst/>
                <a:rect r="r" b="b" t="t" l="l"/>
                <a:pathLst>
                  <a:path h="754549" w="812800">
                    <a:moveTo>
                      <a:pt x="406400" y="0"/>
                    </a:moveTo>
                    <a:cubicBezTo>
                      <a:pt x="181951" y="0"/>
                      <a:pt x="0" y="168912"/>
                      <a:pt x="0" y="377274"/>
                    </a:cubicBezTo>
                    <a:cubicBezTo>
                      <a:pt x="0" y="585637"/>
                      <a:pt x="181951" y="754549"/>
                      <a:pt x="406400" y="754549"/>
                    </a:cubicBezTo>
                    <a:cubicBezTo>
                      <a:pt x="630849" y="754549"/>
                      <a:pt x="812800" y="585637"/>
                      <a:pt x="812800" y="377274"/>
                    </a:cubicBezTo>
                    <a:cubicBezTo>
                      <a:pt x="812800" y="168912"/>
                      <a:pt x="630849" y="0"/>
                      <a:pt x="406400"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a:ln cap="sq">
                <a:noFill/>
                <a:prstDash val="solid"/>
                <a:miter/>
              </a:ln>
            </p:spPr>
          </p:sp>
          <p:sp>
            <p:nvSpPr>
              <p:cNvPr name="TextBox 33" id="33"/>
              <p:cNvSpPr txBox="true"/>
              <p:nvPr/>
            </p:nvSpPr>
            <p:spPr>
              <a:xfrm>
                <a:off x="76200" y="32639"/>
                <a:ext cx="660400" cy="651171"/>
              </a:xfrm>
              <a:prstGeom prst="rect">
                <a:avLst/>
              </a:prstGeom>
            </p:spPr>
            <p:txBody>
              <a:bodyPr anchor="ctr" rtlCol="false" tIns="50800" lIns="50800" bIns="50800" rIns="50800"/>
              <a:lstStyle/>
              <a:p>
                <a:pPr algn="ctr" marL="0" indent="0" lvl="0">
                  <a:lnSpc>
                    <a:spcPts val="2659"/>
                  </a:lnSpc>
                </a:pPr>
              </a:p>
            </p:txBody>
          </p:sp>
        </p:grpSp>
        <p:sp>
          <p:nvSpPr>
            <p:cNvPr name="TextBox 34" id="34"/>
            <p:cNvSpPr txBox="true"/>
            <p:nvPr/>
          </p:nvSpPr>
          <p:spPr>
            <a:xfrm rot="0">
              <a:off x="175623" y="245086"/>
              <a:ext cx="644736" cy="405855"/>
            </a:xfrm>
            <a:prstGeom prst="rect">
              <a:avLst/>
            </a:prstGeom>
          </p:spPr>
          <p:txBody>
            <a:bodyPr anchor="t" rtlCol="false" tIns="0" lIns="0" bIns="0" rIns="0">
              <a:spAutoFit/>
            </a:bodyPr>
            <a:lstStyle/>
            <a:p>
              <a:pPr algn="ctr" marL="0" indent="0" lvl="0">
                <a:lnSpc>
                  <a:spcPts val="2464"/>
                </a:lnSpc>
              </a:pPr>
              <a:r>
                <a:rPr lang="en-US" sz="1910" spc="-5">
                  <a:solidFill>
                    <a:srgbClr val="FFFFFF"/>
                  </a:solidFill>
                  <a:latin typeface="Poppins"/>
                  <a:ea typeface="Poppins"/>
                  <a:cs typeface="Poppins"/>
                  <a:sym typeface="Poppins"/>
                </a:rPr>
                <a:t>01</a:t>
              </a:r>
            </a:p>
          </p:txBody>
        </p:sp>
      </p:grpSp>
      <p:grpSp>
        <p:nvGrpSpPr>
          <p:cNvPr name="Group 35" id="35"/>
          <p:cNvGrpSpPr/>
          <p:nvPr/>
        </p:nvGrpSpPr>
        <p:grpSpPr>
          <a:xfrm rot="0">
            <a:off x="8047037" y="4979576"/>
            <a:ext cx="746986" cy="693451"/>
            <a:chOff x="0" y="0"/>
            <a:chExt cx="995981" cy="924602"/>
          </a:xfrm>
        </p:grpSpPr>
        <p:grpSp>
          <p:nvGrpSpPr>
            <p:cNvPr name="Group 36" id="36"/>
            <p:cNvGrpSpPr/>
            <p:nvPr/>
          </p:nvGrpSpPr>
          <p:grpSpPr>
            <a:xfrm rot="0">
              <a:off x="0" y="0"/>
              <a:ext cx="995981" cy="924602"/>
              <a:chOff x="0" y="0"/>
              <a:chExt cx="812800" cy="754549"/>
            </a:xfrm>
          </p:grpSpPr>
          <p:sp>
            <p:nvSpPr>
              <p:cNvPr name="Freeform 37" id="37"/>
              <p:cNvSpPr/>
              <p:nvPr/>
            </p:nvSpPr>
            <p:spPr>
              <a:xfrm flipH="false" flipV="false" rot="0">
                <a:off x="0" y="0"/>
                <a:ext cx="812800" cy="754549"/>
              </a:xfrm>
              <a:custGeom>
                <a:avLst/>
                <a:gdLst/>
                <a:ahLst/>
                <a:cxnLst/>
                <a:rect r="r" b="b" t="t" l="l"/>
                <a:pathLst>
                  <a:path h="754549" w="812800">
                    <a:moveTo>
                      <a:pt x="406400" y="0"/>
                    </a:moveTo>
                    <a:cubicBezTo>
                      <a:pt x="181951" y="0"/>
                      <a:pt x="0" y="168912"/>
                      <a:pt x="0" y="377274"/>
                    </a:cubicBezTo>
                    <a:cubicBezTo>
                      <a:pt x="0" y="585637"/>
                      <a:pt x="181951" y="754549"/>
                      <a:pt x="406400" y="754549"/>
                    </a:cubicBezTo>
                    <a:cubicBezTo>
                      <a:pt x="630849" y="754549"/>
                      <a:pt x="812800" y="585637"/>
                      <a:pt x="812800" y="377274"/>
                    </a:cubicBezTo>
                    <a:cubicBezTo>
                      <a:pt x="812800" y="168912"/>
                      <a:pt x="630849" y="0"/>
                      <a:pt x="406400" y="0"/>
                    </a:cubicBezTo>
                    <a:close/>
                  </a:path>
                </a:pathLst>
              </a:custGeom>
              <a:solidFill>
                <a:srgbClr val="FFFFFF"/>
              </a:solidFill>
              <a:ln w="47625" cap="sq">
                <a:gradFill>
                  <a:gsLst>
                    <a:gs pos="0">
                      <a:srgbClr val="293E9C">
                        <a:alpha val="100000"/>
                      </a:srgbClr>
                    </a:gs>
                    <a:gs pos="100000">
                      <a:srgbClr val="3A58E4">
                        <a:alpha val="100000"/>
                      </a:srgbClr>
                    </a:gs>
                  </a:gsLst>
                  <a:path path="circle">
                    <a:fillToRect l="0" r="100000" t="0" b="100000"/>
                  </a:path>
                  <a:tileRect r="0" l="-100000" b="0" t="-100000"/>
                </a:gradFill>
                <a:prstDash val="solid"/>
                <a:miter/>
              </a:ln>
            </p:spPr>
          </p:sp>
          <p:sp>
            <p:nvSpPr>
              <p:cNvPr name="TextBox 38" id="38"/>
              <p:cNvSpPr txBox="true"/>
              <p:nvPr/>
            </p:nvSpPr>
            <p:spPr>
              <a:xfrm>
                <a:off x="76200" y="32639"/>
                <a:ext cx="660400" cy="651171"/>
              </a:xfrm>
              <a:prstGeom prst="rect">
                <a:avLst/>
              </a:prstGeom>
            </p:spPr>
            <p:txBody>
              <a:bodyPr anchor="ctr" rtlCol="false" tIns="50800" lIns="50800" bIns="50800" rIns="50800"/>
              <a:lstStyle/>
              <a:p>
                <a:pPr algn="ctr" marL="0" indent="0" lvl="0">
                  <a:lnSpc>
                    <a:spcPts val="2659"/>
                  </a:lnSpc>
                </a:pPr>
              </a:p>
            </p:txBody>
          </p:sp>
        </p:grpSp>
        <p:sp>
          <p:nvSpPr>
            <p:cNvPr name="TextBox 39" id="39"/>
            <p:cNvSpPr txBox="true"/>
            <p:nvPr/>
          </p:nvSpPr>
          <p:spPr>
            <a:xfrm rot="0">
              <a:off x="175623" y="245086"/>
              <a:ext cx="644736" cy="405855"/>
            </a:xfrm>
            <a:prstGeom prst="rect">
              <a:avLst/>
            </a:prstGeom>
          </p:spPr>
          <p:txBody>
            <a:bodyPr anchor="t" rtlCol="false" tIns="0" lIns="0" bIns="0" rIns="0">
              <a:spAutoFit/>
            </a:bodyPr>
            <a:lstStyle/>
            <a:p>
              <a:pPr algn="ctr" marL="0" indent="0" lvl="0">
                <a:lnSpc>
                  <a:spcPts val="2464"/>
                </a:lnSpc>
              </a:pPr>
              <a:r>
                <a:rPr lang="en-US" sz="1910" spc="-5">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02</a:t>
              </a:r>
            </a:p>
          </p:txBody>
        </p:sp>
      </p:grpSp>
      <p:grpSp>
        <p:nvGrpSpPr>
          <p:cNvPr name="Group 40" id="40"/>
          <p:cNvGrpSpPr/>
          <p:nvPr/>
        </p:nvGrpSpPr>
        <p:grpSpPr>
          <a:xfrm rot="0">
            <a:off x="11919608" y="4979576"/>
            <a:ext cx="746986" cy="693451"/>
            <a:chOff x="0" y="0"/>
            <a:chExt cx="995981" cy="924602"/>
          </a:xfrm>
        </p:grpSpPr>
        <p:grpSp>
          <p:nvGrpSpPr>
            <p:cNvPr name="Group 41" id="41"/>
            <p:cNvGrpSpPr/>
            <p:nvPr/>
          </p:nvGrpSpPr>
          <p:grpSpPr>
            <a:xfrm rot="0">
              <a:off x="0" y="0"/>
              <a:ext cx="995981" cy="924602"/>
              <a:chOff x="0" y="0"/>
              <a:chExt cx="812800" cy="754549"/>
            </a:xfrm>
          </p:grpSpPr>
          <p:sp>
            <p:nvSpPr>
              <p:cNvPr name="Freeform 42" id="42"/>
              <p:cNvSpPr/>
              <p:nvPr/>
            </p:nvSpPr>
            <p:spPr>
              <a:xfrm flipH="false" flipV="false" rot="0">
                <a:off x="0" y="0"/>
                <a:ext cx="812800" cy="754549"/>
              </a:xfrm>
              <a:custGeom>
                <a:avLst/>
                <a:gdLst/>
                <a:ahLst/>
                <a:cxnLst/>
                <a:rect r="r" b="b" t="t" l="l"/>
                <a:pathLst>
                  <a:path h="754549" w="812800">
                    <a:moveTo>
                      <a:pt x="406400" y="0"/>
                    </a:moveTo>
                    <a:cubicBezTo>
                      <a:pt x="181951" y="0"/>
                      <a:pt x="0" y="168912"/>
                      <a:pt x="0" y="377274"/>
                    </a:cubicBezTo>
                    <a:cubicBezTo>
                      <a:pt x="0" y="585637"/>
                      <a:pt x="181951" y="754549"/>
                      <a:pt x="406400" y="754549"/>
                    </a:cubicBezTo>
                    <a:cubicBezTo>
                      <a:pt x="630849" y="754549"/>
                      <a:pt x="812800" y="585637"/>
                      <a:pt x="812800" y="377274"/>
                    </a:cubicBezTo>
                    <a:cubicBezTo>
                      <a:pt x="812800" y="168912"/>
                      <a:pt x="630849" y="0"/>
                      <a:pt x="406400"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a:ln cap="sq">
                <a:noFill/>
                <a:prstDash val="solid"/>
                <a:miter/>
              </a:ln>
            </p:spPr>
          </p:sp>
          <p:sp>
            <p:nvSpPr>
              <p:cNvPr name="TextBox 43" id="43"/>
              <p:cNvSpPr txBox="true"/>
              <p:nvPr/>
            </p:nvSpPr>
            <p:spPr>
              <a:xfrm>
                <a:off x="76200" y="32639"/>
                <a:ext cx="660400" cy="651171"/>
              </a:xfrm>
              <a:prstGeom prst="rect">
                <a:avLst/>
              </a:prstGeom>
            </p:spPr>
            <p:txBody>
              <a:bodyPr anchor="ctr" rtlCol="false" tIns="50800" lIns="50800" bIns="50800" rIns="50800"/>
              <a:lstStyle/>
              <a:p>
                <a:pPr algn="ctr" marL="0" indent="0" lvl="0">
                  <a:lnSpc>
                    <a:spcPts val="2659"/>
                  </a:lnSpc>
                </a:pPr>
              </a:p>
            </p:txBody>
          </p:sp>
        </p:grpSp>
        <p:sp>
          <p:nvSpPr>
            <p:cNvPr name="TextBox 44" id="44"/>
            <p:cNvSpPr txBox="true"/>
            <p:nvPr/>
          </p:nvSpPr>
          <p:spPr>
            <a:xfrm rot="0">
              <a:off x="175623" y="245086"/>
              <a:ext cx="644736" cy="405855"/>
            </a:xfrm>
            <a:prstGeom prst="rect">
              <a:avLst/>
            </a:prstGeom>
          </p:spPr>
          <p:txBody>
            <a:bodyPr anchor="t" rtlCol="false" tIns="0" lIns="0" bIns="0" rIns="0">
              <a:spAutoFit/>
            </a:bodyPr>
            <a:lstStyle/>
            <a:p>
              <a:pPr algn="ctr" marL="0" indent="0" lvl="0">
                <a:lnSpc>
                  <a:spcPts val="2464"/>
                </a:lnSpc>
              </a:pPr>
              <a:r>
                <a:rPr lang="en-US" sz="1910" spc="-5">
                  <a:solidFill>
                    <a:srgbClr val="FFFFFF"/>
                  </a:solidFill>
                  <a:latin typeface="Poppins"/>
                  <a:ea typeface="Poppins"/>
                  <a:cs typeface="Poppins"/>
                  <a:sym typeface="Poppins"/>
                </a:rPr>
                <a:t>03</a:t>
              </a:r>
            </a:p>
          </p:txBody>
        </p:sp>
      </p:grpSp>
      <p:grpSp>
        <p:nvGrpSpPr>
          <p:cNvPr name="Group 45" id="45"/>
          <p:cNvGrpSpPr/>
          <p:nvPr/>
        </p:nvGrpSpPr>
        <p:grpSpPr>
          <a:xfrm rot="0">
            <a:off x="15791068" y="4979576"/>
            <a:ext cx="746986" cy="693451"/>
            <a:chOff x="0" y="0"/>
            <a:chExt cx="995981" cy="924602"/>
          </a:xfrm>
        </p:grpSpPr>
        <p:grpSp>
          <p:nvGrpSpPr>
            <p:cNvPr name="Group 46" id="46"/>
            <p:cNvGrpSpPr/>
            <p:nvPr/>
          </p:nvGrpSpPr>
          <p:grpSpPr>
            <a:xfrm rot="0">
              <a:off x="0" y="0"/>
              <a:ext cx="995981" cy="924602"/>
              <a:chOff x="0" y="0"/>
              <a:chExt cx="812800" cy="754549"/>
            </a:xfrm>
          </p:grpSpPr>
          <p:sp>
            <p:nvSpPr>
              <p:cNvPr name="Freeform 47" id="47"/>
              <p:cNvSpPr/>
              <p:nvPr/>
            </p:nvSpPr>
            <p:spPr>
              <a:xfrm flipH="false" flipV="false" rot="0">
                <a:off x="0" y="0"/>
                <a:ext cx="812800" cy="754549"/>
              </a:xfrm>
              <a:custGeom>
                <a:avLst/>
                <a:gdLst/>
                <a:ahLst/>
                <a:cxnLst/>
                <a:rect r="r" b="b" t="t" l="l"/>
                <a:pathLst>
                  <a:path h="754549" w="812800">
                    <a:moveTo>
                      <a:pt x="406400" y="0"/>
                    </a:moveTo>
                    <a:cubicBezTo>
                      <a:pt x="181951" y="0"/>
                      <a:pt x="0" y="168912"/>
                      <a:pt x="0" y="377274"/>
                    </a:cubicBezTo>
                    <a:cubicBezTo>
                      <a:pt x="0" y="585637"/>
                      <a:pt x="181951" y="754549"/>
                      <a:pt x="406400" y="754549"/>
                    </a:cubicBezTo>
                    <a:cubicBezTo>
                      <a:pt x="630849" y="754549"/>
                      <a:pt x="812800" y="585637"/>
                      <a:pt x="812800" y="377274"/>
                    </a:cubicBezTo>
                    <a:cubicBezTo>
                      <a:pt x="812800" y="168912"/>
                      <a:pt x="630849" y="0"/>
                      <a:pt x="406400" y="0"/>
                    </a:cubicBezTo>
                    <a:close/>
                  </a:path>
                </a:pathLst>
              </a:custGeom>
              <a:solidFill>
                <a:srgbClr val="FFFFFF"/>
              </a:solidFill>
              <a:ln w="47625" cap="sq">
                <a:gradFill>
                  <a:gsLst>
                    <a:gs pos="0">
                      <a:srgbClr val="293E9C">
                        <a:alpha val="100000"/>
                      </a:srgbClr>
                    </a:gs>
                    <a:gs pos="100000">
                      <a:srgbClr val="3A58E4">
                        <a:alpha val="100000"/>
                      </a:srgbClr>
                    </a:gs>
                  </a:gsLst>
                  <a:path path="circle">
                    <a:fillToRect l="0" r="100000" t="0" b="100000"/>
                  </a:path>
                  <a:tileRect r="0" l="-100000" b="0" t="-100000"/>
                </a:gradFill>
                <a:prstDash val="solid"/>
                <a:miter/>
              </a:ln>
            </p:spPr>
          </p:sp>
          <p:sp>
            <p:nvSpPr>
              <p:cNvPr name="TextBox 48" id="48"/>
              <p:cNvSpPr txBox="true"/>
              <p:nvPr/>
            </p:nvSpPr>
            <p:spPr>
              <a:xfrm>
                <a:off x="76200" y="32639"/>
                <a:ext cx="660400" cy="651171"/>
              </a:xfrm>
              <a:prstGeom prst="rect">
                <a:avLst/>
              </a:prstGeom>
            </p:spPr>
            <p:txBody>
              <a:bodyPr anchor="ctr" rtlCol="false" tIns="50800" lIns="50800" bIns="50800" rIns="50800"/>
              <a:lstStyle/>
              <a:p>
                <a:pPr algn="ctr" marL="0" indent="0" lvl="0">
                  <a:lnSpc>
                    <a:spcPts val="2659"/>
                  </a:lnSpc>
                </a:pPr>
              </a:p>
            </p:txBody>
          </p:sp>
        </p:grpSp>
        <p:sp>
          <p:nvSpPr>
            <p:cNvPr name="TextBox 49" id="49"/>
            <p:cNvSpPr txBox="true"/>
            <p:nvPr/>
          </p:nvSpPr>
          <p:spPr>
            <a:xfrm rot="0">
              <a:off x="175623" y="245086"/>
              <a:ext cx="644736" cy="405855"/>
            </a:xfrm>
            <a:prstGeom prst="rect">
              <a:avLst/>
            </a:prstGeom>
          </p:spPr>
          <p:txBody>
            <a:bodyPr anchor="t" rtlCol="false" tIns="0" lIns="0" bIns="0" rIns="0">
              <a:spAutoFit/>
            </a:bodyPr>
            <a:lstStyle/>
            <a:p>
              <a:pPr algn="ctr" marL="0" indent="0" lvl="0">
                <a:lnSpc>
                  <a:spcPts val="2464"/>
                </a:lnSpc>
              </a:pPr>
              <a:r>
                <a:rPr lang="en-US" sz="1910" spc="-5">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04</a:t>
              </a:r>
            </a:p>
          </p:txBody>
        </p:sp>
      </p:grpSp>
      <p:sp>
        <p:nvSpPr>
          <p:cNvPr name="TextBox 50" id="50"/>
          <p:cNvSpPr txBox="true"/>
          <p:nvPr/>
        </p:nvSpPr>
        <p:spPr>
          <a:xfrm rot="0">
            <a:off x="3363658" y="1179682"/>
            <a:ext cx="11560683" cy="1625377"/>
          </a:xfrm>
          <a:prstGeom prst="rect">
            <a:avLst/>
          </a:prstGeom>
        </p:spPr>
        <p:txBody>
          <a:bodyPr anchor="t" rtlCol="false" tIns="0" lIns="0" bIns="0" rIns="0">
            <a:spAutoFit/>
          </a:bodyPr>
          <a:lstStyle/>
          <a:p>
            <a:pPr algn="ctr" marL="0" indent="0" lvl="0">
              <a:lnSpc>
                <a:spcPts val="6228"/>
              </a:lnSpc>
            </a:pPr>
            <a:r>
              <a:rPr lang="en-US" sz="6355" spc="-406">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Programming Languages, Tools &amp; Software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438046" y="174650"/>
            <a:ext cx="1849954" cy="1673517"/>
            <a:chOff x="0" y="0"/>
            <a:chExt cx="2466605" cy="2231355"/>
          </a:xfrm>
        </p:grpSpPr>
        <p:grpSp>
          <p:nvGrpSpPr>
            <p:cNvPr name="Group 3" id="3"/>
            <p:cNvGrpSpPr/>
            <p:nvPr/>
          </p:nvGrpSpPr>
          <p:grpSpPr>
            <a:xfrm rot="0">
              <a:off x="0" y="0"/>
              <a:ext cx="2466605" cy="2231355"/>
              <a:chOff x="0" y="0"/>
              <a:chExt cx="787566" cy="712452"/>
            </a:xfrm>
          </p:grpSpPr>
          <p:sp>
            <p:nvSpPr>
              <p:cNvPr name="Freeform 4" id="4"/>
              <p:cNvSpPr/>
              <p:nvPr/>
            </p:nvSpPr>
            <p:spPr>
              <a:xfrm flipH="false" flipV="false" rot="0">
                <a:off x="0" y="0"/>
                <a:ext cx="787566" cy="712452"/>
              </a:xfrm>
              <a:custGeom>
                <a:avLst/>
                <a:gdLst/>
                <a:ahLst/>
                <a:cxnLst/>
                <a:rect r="r" b="b" t="t" l="l"/>
                <a:pathLst>
                  <a:path h="712452" w="787566">
                    <a:moveTo>
                      <a:pt x="0" y="0"/>
                    </a:moveTo>
                    <a:lnTo>
                      <a:pt x="787566" y="0"/>
                    </a:lnTo>
                    <a:lnTo>
                      <a:pt x="787566" y="712452"/>
                    </a:lnTo>
                    <a:lnTo>
                      <a:pt x="0" y="712452"/>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5" id="5"/>
              <p:cNvSpPr txBox="true"/>
              <p:nvPr/>
            </p:nvSpPr>
            <p:spPr>
              <a:xfrm>
                <a:off x="0" y="-38100"/>
                <a:ext cx="787566" cy="750552"/>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6" id="6"/>
            <p:cNvSpPr txBox="true"/>
            <p:nvPr/>
          </p:nvSpPr>
          <p:spPr>
            <a:xfrm rot="0">
              <a:off x="319164" y="674999"/>
              <a:ext cx="1828278" cy="986133"/>
            </a:xfrm>
            <a:prstGeom prst="rect">
              <a:avLst/>
            </a:prstGeom>
          </p:spPr>
          <p:txBody>
            <a:bodyPr anchor="t" rtlCol="false" tIns="0" lIns="0" bIns="0" rIns="0">
              <a:spAutoFit/>
            </a:bodyPr>
            <a:lstStyle/>
            <a:p>
              <a:pPr algn="ctr" marL="0" indent="0" lvl="0">
                <a:lnSpc>
                  <a:spcPts val="5311"/>
                </a:lnSpc>
              </a:pPr>
              <a:r>
                <a:rPr lang="en-US" sz="5419" spc="-346">
                  <a:solidFill>
                    <a:srgbClr val="FFFFFF"/>
                  </a:solidFill>
                  <a:latin typeface="Bricolage Grotesque"/>
                  <a:ea typeface="Bricolage Grotesque"/>
                  <a:cs typeface="Bricolage Grotesque"/>
                  <a:sym typeface="Bricolage Grotesque"/>
                </a:rPr>
                <a:t>06</a:t>
              </a:r>
            </a:p>
          </p:txBody>
        </p:sp>
      </p:grpSp>
      <p:sp>
        <p:nvSpPr>
          <p:cNvPr name="TextBox 7" id="7"/>
          <p:cNvSpPr txBox="true"/>
          <p:nvPr/>
        </p:nvSpPr>
        <p:spPr>
          <a:xfrm rot="0">
            <a:off x="9144000" y="5795383"/>
            <a:ext cx="6563388" cy="2987365"/>
          </a:xfrm>
          <a:prstGeom prst="rect">
            <a:avLst/>
          </a:prstGeom>
        </p:spPr>
        <p:txBody>
          <a:bodyPr anchor="t" rtlCol="false" tIns="0" lIns="0" bIns="0" rIns="0">
            <a:spAutoFit/>
          </a:bodyPr>
          <a:lstStyle/>
          <a:p>
            <a:pPr algn="just" marL="0" indent="0" lvl="0">
              <a:lnSpc>
                <a:spcPts val="2666"/>
              </a:lnSpc>
            </a:pPr>
            <a:r>
              <a:rPr lang="en-US" sz="1904" spc="-5">
                <a:solidFill>
                  <a:srgbClr val="3A58E4"/>
                </a:solidFill>
                <a:latin typeface="Poppins"/>
                <a:ea typeface="Poppins"/>
                <a:cs typeface="Poppins"/>
                <a:sym typeface="Poppins"/>
              </a:rPr>
              <a:t>These AI-generated prompts were used to accelerate development of the Customer Churn Prediction System. Each prompt was carefully crafted to generate specific components of the machine learning pipeline, web application framework, and user interface elements. The structured approach enabled rapid prototyping while maintaining code quality and consistency across the entire project architecture.</a:t>
            </a:r>
          </a:p>
        </p:txBody>
      </p:sp>
      <p:grpSp>
        <p:nvGrpSpPr>
          <p:cNvPr name="Group 8" id="8"/>
          <p:cNvGrpSpPr/>
          <p:nvPr/>
        </p:nvGrpSpPr>
        <p:grpSpPr>
          <a:xfrm rot="0">
            <a:off x="9144000" y="1783947"/>
            <a:ext cx="40440" cy="1732806"/>
            <a:chOff x="0" y="0"/>
            <a:chExt cx="12543" cy="537460"/>
          </a:xfrm>
        </p:grpSpPr>
        <p:sp>
          <p:nvSpPr>
            <p:cNvPr name="Freeform 9" id="9"/>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3A58E4"/>
            </a:solidFill>
          </p:spPr>
        </p:sp>
        <p:sp>
          <p:nvSpPr>
            <p:cNvPr name="TextBox 10" id="10"/>
            <p:cNvSpPr txBox="true"/>
            <p:nvPr/>
          </p:nvSpPr>
          <p:spPr>
            <a:xfrm>
              <a:off x="0" y="-38100"/>
              <a:ext cx="12543" cy="57556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1" id="11"/>
          <p:cNvGrpSpPr/>
          <p:nvPr/>
        </p:nvGrpSpPr>
        <p:grpSpPr>
          <a:xfrm rot="0">
            <a:off x="9144000" y="4074029"/>
            <a:ext cx="6563388" cy="360869"/>
            <a:chOff x="0" y="0"/>
            <a:chExt cx="8751183" cy="481159"/>
          </a:xfrm>
        </p:grpSpPr>
        <p:sp>
          <p:nvSpPr>
            <p:cNvPr name="TextBox 12" id="12"/>
            <p:cNvSpPr txBox="true"/>
            <p:nvPr/>
          </p:nvSpPr>
          <p:spPr>
            <a:xfrm rot="0">
              <a:off x="0" y="101653"/>
              <a:ext cx="8507297" cy="379507"/>
            </a:xfrm>
            <a:prstGeom prst="rect">
              <a:avLst/>
            </a:prstGeom>
          </p:spPr>
          <p:txBody>
            <a:bodyPr anchor="t" rtlCol="false" tIns="0" lIns="0" bIns="0" rIns="0">
              <a:spAutoFit/>
            </a:bodyPr>
            <a:lstStyle/>
            <a:p>
              <a:pPr algn="just" marL="0" indent="0" lvl="0">
                <a:lnSpc>
                  <a:spcPts val="2329"/>
                </a:lnSpc>
              </a:pPr>
              <a:r>
                <a:rPr lang="en-US" b="true" sz="1663" spc="-41">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SAMPLE AI PROMPTS USED TO GENERATE SYSTEM COMPONENTS</a:t>
              </a:r>
            </a:p>
          </p:txBody>
        </p:sp>
        <p:sp>
          <p:nvSpPr>
            <p:cNvPr name="Freeform 13" id="13"/>
            <p:cNvSpPr/>
            <p:nvPr/>
          </p:nvSpPr>
          <p:spPr>
            <a:xfrm flipH="false" flipV="false" rot="-8687136">
              <a:off x="8481990" y="59395"/>
              <a:ext cx="214153" cy="216192"/>
            </a:xfrm>
            <a:custGeom>
              <a:avLst/>
              <a:gdLst/>
              <a:ahLst/>
              <a:cxnLst/>
              <a:rect r="r" b="b" t="t" l="l"/>
              <a:pathLst>
                <a:path h="216192" w="214153">
                  <a:moveTo>
                    <a:pt x="0" y="0"/>
                  </a:moveTo>
                  <a:lnTo>
                    <a:pt x="214153" y="0"/>
                  </a:lnTo>
                  <a:lnTo>
                    <a:pt x="214153" y="216192"/>
                  </a:lnTo>
                  <a:lnTo>
                    <a:pt x="0" y="216192"/>
                  </a:lnTo>
                  <a:lnTo>
                    <a:pt x="0" y="0"/>
                  </a:lnTo>
                  <a:close/>
                </a:path>
              </a:pathLst>
            </a:custGeom>
            <a:blipFill>
              <a:blip r:embed="rId2"/>
              <a:stretch>
                <a:fillRect l="0" t="0" r="0" b="0"/>
              </a:stretch>
            </a:blipFill>
          </p:spPr>
        </p:sp>
      </p:grpSp>
      <p:sp>
        <p:nvSpPr>
          <p:cNvPr name="TextBox 14" id="14"/>
          <p:cNvSpPr txBox="true"/>
          <p:nvPr/>
        </p:nvSpPr>
        <p:spPr>
          <a:xfrm rot="0">
            <a:off x="9337659" y="1305653"/>
            <a:ext cx="4908339" cy="2490795"/>
          </a:xfrm>
          <a:prstGeom prst="rect">
            <a:avLst/>
          </a:prstGeom>
        </p:spPr>
        <p:txBody>
          <a:bodyPr anchor="t" rtlCol="false" tIns="0" lIns="0" bIns="0" rIns="0">
            <a:spAutoFit/>
          </a:bodyPr>
          <a:lstStyle/>
          <a:p>
            <a:pPr algn="l" marL="0" indent="0" lvl="0">
              <a:lnSpc>
                <a:spcPts val="6441"/>
              </a:lnSpc>
            </a:pPr>
            <a:r>
              <a:rPr lang="en-US" sz="6572" spc="-420">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Prompts Used to Generate Code</a:t>
            </a:r>
          </a:p>
        </p:txBody>
      </p:sp>
      <p:grpSp>
        <p:nvGrpSpPr>
          <p:cNvPr name="Group 15" id="15"/>
          <p:cNvGrpSpPr/>
          <p:nvPr/>
        </p:nvGrpSpPr>
        <p:grpSpPr>
          <a:xfrm rot="0">
            <a:off x="1664564" y="1504251"/>
            <a:ext cx="6376039" cy="1593100"/>
            <a:chOff x="0" y="0"/>
            <a:chExt cx="2754311" cy="688185"/>
          </a:xfrm>
        </p:grpSpPr>
        <p:sp>
          <p:nvSpPr>
            <p:cNvPr name="Freeform 16" id="16"/>
            <p:cNvSpPr/>
            <p:nvPr/>
          </p:nvSpPr>
          <p:spPr>
            <a:xfrm flipH="false" flipV="false" rot="0">
              <a:off x="0" y="0"/>
              <a:ext cx="2754311" cy="688185"/>
            </a:xfrm>
            <a:custGeom>
              <a:avLst/>
              <a:gdLst/>
              <a:ahLst/>
              <a:cxnLst/>
              <a:rect r="r" b="b" t="t" l="l"/>
              <a:pathLst>
                <a:path h="688185" w="2754311">
                  <a:moveTo>
                    <a:pt x="52211" y="0"/>
                  </a:moveTo>
                  <a:lnTo>
                    <a:pt x="2702100" y="0"/>
                  </a:lnTo>
                  <a:cubicBezTo>
                    <a:pt x="2715947" y="0"/>
                    <a:pt x="2729227" y="5501"/>
                    <a:pt x="2739019" y="15292"/>
                  </a:cubicBezTo>
                  <a:cubicBezTo>
                    <a:pt x="2748810" y="25084"/>
                    <a:pt x="2754311" y="38364"/>
                    <a:pt x="2754311" y="52211"/>
                  </a:cubicBezTo>
                  <a:lnTo>
                    <a:pt x="2754311" y="635973"/>
                  </a:lnTo>
                  <a:cubicBezTo>
                    <a:pt x="2754311" y="649820"/>
                    <a:pt x="2748810" y="663101"/>
                    <a:pt x="2739019" y="672892"/>
                  </a:cubicBezTo>
                  <a:cubicBezTo>
                    <a:pt x="2729227" y="682684"/>
                    <a:pt x="2715947" y="688185"/>
                    <a:pt x="2702100" y="688185"/>
                  </a:cubicBezTo>
                  <a:lnTo>
                    <a:pt x="52211" y="688185"/>
                  </a:lnTo>
                  <a:cubicBezTo>
                    <a:pt x="38364" y="688185"/>
                    <a:pt x="25084" y="682684"/>
                    <a:pt x="15292" y="672892"/>
                  </a:cubicBezTo>
                  <a:cubicBezTo>
                    <a:pt x="5501" y="663101"/>
                    <a:pt x="0" y="649820"/>
                    <a:pt x="0" y="635973"/>
                  </a:cubicBezTo>
                  <a:lnTo>
                    <a:pt x="0" y="52211"/>
                  </a:lnTo>
                  <a:cubicBezTo>
                    <a:pt x="0" y="38364"/>
                    <a:pt x="5501" y="25084"/>
                    <a:pt x="15292" y="15292"/>
                  </a:cubicBezTo>
                  <a:cubicBezTo>
                    <a:pt x="25084" y="5501"/>
                    <a:pt x="38364" y="0"/>
                    <a:pt x="52211"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17" id="17"/>
            <p:cNvSpPr txBox="true"/>
            <p:nvPr/>
          </p:nvSpPr>
          <p:spPr>
            <a:xfrm>
              <a:off x="0" y="-38100"/>
              <a:ext cx="2754311" cy="726285"/>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18" id="18"/>
          <p:cNvGrpSpPr/>
          <p:nvPr/>
        </p:nvGrpSpPr>
        <p:grpSpPr>
          <a:xfrm rot="0">
            <a:off x="2288087" y="1821243"/>
            <a:ext cx="5128994" cy="904893"/>
            <a:chOff x="0" y="0"/>
            <a:chExt cx="6838659" cy="1206524"/>
          </a:xfrm>
        </p:grpSpPr>
        <p:sp>
          <p:nvSpPr>
            <p:cNvPr name="TextBox 19" id="19"/>
            <p:cNvSpPr txBox="true"/>
            <p:nvPr/>
          </p:nvSpPr>
          <p:spPr>
            <a:xfrm rot="0">
              <a:off x="1589864" y="-76200"/>
              <a:ext cx="4202931" cy="440483"/>
            </a:xfrm>
            <a:prstGeom prst="rect">
              <a:avLst/>
            </a:prstGeom>
          </p:spPr>
          <p:txBody>
            <a:bodyPr anchor="t" rtlCol="false" tIns="0" lIns="0" bIns="0" rIns="0">
              <a:spAutoFit/>
            </a:bodyPr>
            <a:lstStyle/>
            <a:p>
              <a:pPr algn="just" marL="0" indent="0" lvl="0">
                <a:lnSpc>
                  <a:spcPts val="2806"/>
                </a:lnSpc>
              </a:pPr>
              <a:r>
                <a:rPr lang="en-US" b="true" sz="1846">
                  <a:solidFill>
                    <a:srgbClr val="FFFFFF"/>
                  </a:solidFill>
                  <a:latin typeface="Poppins Bold"/>
                  <a:ea typeface="Poppins Bold"/>
                  <a:cs typeface="Poppins Bold"/>
                  <a:sym typeface="Poppins Bold"/>
                </a:rPr>
                <a:t>ML Model Prompt</a:t>
              </a:r>
            </a:p>
          </p:txBody>
        </p:sp>
        <p:sp>
          <p:nvSpPr>
            <p:cNvPr name="TextBox 20" id="20"/>
            <p:cNvSpPr txBox="true"/>
            <p:nvPr/>
          </p:nvSpPr>
          <p:spPr>
            <a:xfrm rot="0">
              <a:off x="1589864" y="534605"/>
              <a:ext cx="5248795" cy="671919"/>
            </a:xfrm>
            <a:prstGeom prst="rect">
              <a:avLst/>
            </a:prstGeom>
          </p:spPr>
          <p:txBody>
            <a:bodyPr anchor="t" rtlCol="false" tIns="0" lIns="0" bIns="0" rIns="0">
              <a:spAutoFit/>
            </a:bodyPr>
            <a:lstStyle/>
            <a:p>
              <a:pPr algn="just" marL="0" indent="0" lvl="0">
                <a:lnSpc>
                  <a:spcPts val="2085"/>
                </a:lnSpc>
              </a:pPr>
              <a:r>
                <a:rPr lang="en-US" sz="1489">
                  <a:solidFill>
                    <a:srgbClr val="FFFFFF"/>
                  </a:solidFill>
                  <a:latin typeface="Poppins"/>
                  <a:ea typeface="Poppins"/>
                  <a:cs typeface="Poppins"/>
                  <a:sym typeface="Poppins"/>
                </a:rPr>
                <a:t>"Build a churn prediction model using behavioral features"</a:t>
              </a:r>
            </a:p>
          </p:txBody>
        </p:sp>
        <p:sp>
          <p:nvSpPr>
            <p:cNvPr name="TextBox 21" id="21"/>
            <p:cNvSpPr txBox="true"/>
            <p:nvPr/>
          </p:nvSpPr>
          <p:spPr>
            <a:xfrm rot="0">
              <a:off x="0" y="225715"/>
              <a:ext cx="1165955" cy="931982"/>
            </a:xfrm>
            <a:prstGeom prst="rect">
              <a:avLst/>
            </a:prstGeom>
          </p:spPr>
          <p:txBody>
            <a:bodyPr anchor="t" rtlCol="false" tIns="0" lIns="0" bIns="0" rIns="0">
              <a:spAutoFit/>
            </a:bodyPr>
            <a:lstStyle/>
            <a:p>
              <a:pPr algn="l" marL="0" indent="0" lvl="0">
                <a:lnSpc>
                  <a:spcPts val="4642"/>
                </a:lnSpc>
              </a:pPr>
              <a:r>
                <a:rPr lang="en-US" sz="5158" spc="-154">
                  <a:solidFill>
                    <a:srgbClr val="FFFFFF"/>
                  </a:solidFill>
                  <a:latin typeface="Poppins"/>
                  <a:ea typeface="Poppins"/>
                  <a:cs typeface="Poppins"/>
                  <a:sym typeface="Poppins"/>
                </a:rPr>
                <a:t>01</a:t>
              </a:r>
            </a:p>
          </p:txBody>
        </p:sp>
      </p:grpSp>
      <p:grpSp>
        <p:nvGrpSpPr>
          <p:cNvPr name="Group 22" id="22"/>
          <p:cNvGrpSpPr/>
          <p:nvPr/>
        </p:nvGrpSpPr>
        <p:grpSpPr>
          <a:xfrm rot="0">
            <a:off x="1664564" y="3400724"/>
            <a:ext cx="6376039" cy="1593100"/>
            <a:chOff x="0" y="0"/>
            <a:chExt cx="2754311" cy="688185"/>
          </a:xfrm>
        </p:grpSpPr>
        <p:sp>
          <p:nvSpPr>
            <p:cNvPr name="Freeform 23" id="23"/>
            <p:cNvSpPr/>
            <p:nvPr/>
          </p:nvSpPr>
          <p:spPr>
            <a:xfrm flipH="false" flipV="false" rot="0">
              <a:off x="0" y="0"/>
              <a:ext cx="2754311" cy="688185"/>
            </a:xfrm>
            <a:custGeom>
              <a:avLst/>
              <a:gdLst/>
              <a:ahLst/>
              <a:cxnLst/>
              <a:rect r="r" b="b" t="t" l="l"/>
              <a:pathLst>
                <a:path h="688185" w="2754311">
                  <a:moveTo>
                    <a:pt x="52211" y="0"/>
                  </a:moveTo>
                  <a:lnTo>
                    <a:pt x="2702100" y="0"/>
                  </a:lnTo>
                  <a:cubicBezTo>
                    <a:pt x="2715947" y="0"/>
                    <a:pt x="2729227" y="5501"/>
                    <a:pt x="2739019" y="15292"/>
                  </a:cubicBezTo>
                  <a:cubicBezTo>
                    <a:pt x="2748810" y="25084"/>
                    <a:pt x="2754311" y="38364"/>
                    <a:pt x="2754311" y="52211"/>
                  </a:cubicBezTo>
                  <a:lnTo>
                    <a:pt x="2754311" y="635973"/>
                  </a:lnTo>
                  <a:cubicBezTo>
                    <a:pt x="2754311" y="649820"/>
                    <a:pt x="2748810" y="663101"/>
                    <a:pt x="2739019" y="672892"/>
                  </a:cubicBezTo>
                  <a:cubicBezTo>
                    <a:pt x="2729227" y="682684"/>
                    <a:pt x="2715947" y="688185"/>
                    <a:pt x="2702100" y="688185"/>
                  </a:cubicBezTo>
                  <a:lnTo>
                    <a:pt x="52211" y="688185"/>
                  </a:lnTo>
                  <a:cubicBezTo>
                    <a:pt x="38364" y="688185"/>
                    <a:pt x="25084" y="682684"/>
                    <a:pt x="15292" y="672892"/>
                  </a:cubicBezTo>
                  <a:cubicBezTo>
                    <a:pt x="5501" y="663101"/>
                    <a:pt x="0" y="649820"/>
                    <a:pt x="0" y="635973"/>
                  </a:cubicBezTo>
                  <a:lnTo>
                    <a:pt x="0" y="52211"/>
                  </a:lnTo>
                  <a:cubicBezTo>
                    <a:pt x="0" y="38364"/>
                    <a:pt x="5501" y="25084"/>
                    <a:pt x="15292" y="15292"/>
                  </a:cubicBezTo>
                  <a:cubicBezTo>
                    <a:pt x="25084" y="5501"/>
                    <a:pt x="38364" y="0"/>
                    <a:pt x="52211" y="0"/>
                  </a:cubicBezTo>
                  <a:close/>
                </a:path>
              </a:pathLst>
            </a:custGeom>
            <a:ln w="38100" cap="rnd">
              <a:gradFill>
                <a:gsLst>
                  <a:gs pos="0">
                    <a:srgbClr val="3A58E4">
                      <a:alpha val="100000"/>
                    </a:srgbClr>
                  </a:gs>
                  <a:gs pos="100000">
                    <a:srgbClr val="293E9C">
                      <a:alpha val="100000"/>
                    </a:srgbClr>
                  </a:gs>
                </a:gsLst>
                <a:path path="circle">
                  <a:fillToRect l="0" r="100000" t="0" b="100000"/>
                </a:path>
                <a:tileRect r="0" l="-100000" b="0" t="-100000"/>
              </a:gradFill>
              <a:prstDash val="solid"/>
              <a:round/>
            </a:ln>
          </p:spPr>
        </p:sp>
        <p:sp>
          <p:nvSpPr>
            <p:cNvPr name="TextBox 24" id="24"/>
            <p:cNvSpPr txBox="true"/>
            <p:nvPr/>
          </p:nvSpPr>
          <p:spPr>
            <a:xfrm>
              <a:off x="0" y="-38100"/>
              <a:ext cx="2754311" cy="726285"/>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25" id="25"/>
          <p:cNvGrpSpPr/>
          <p:nvPr/>
        </p:nvGrpSpPr>
        <p:grpSpPr>
          <a:xfrm rot="0">
            <a:off x="2288087" y="3734859"/>
            <a:ext cx="5128994" cy="905806"/>
            <a:chOff x="0" y="0"/>
            <a:chExt cx="6838659" cy="1207741"/>
          </a:xfrm>
        </p:grpSpPr>
        <p:sp>
          <p:nvSpPr>
            <p:cNvPr name="TextBox 26" id="26"/>
            <p:cNvSpPr txBox="true"/>
            <p:nvPr/>
          </p:nvSpPr>
          <p:spPr>
            <a:xfrm rot="0">
              <a:off x="1589864" y="-76200"/>
              <a:ext cx="4202931" cy="440483"/>
            </a:xfrm>
            <a:prstGeom prst="rect">
              <a:avLst/>
            </a:prstGeom>
          </p:spPr>
          <p:txBody>
            <a:bodyPr anchor="t" rtlCol="false" tIns="0" lIns="0" bIns="0" rIns="0">
              <a:spAutoFit/>
            </a:bodyPr>
            <a:lstStyle/>
            <a:p>
              <a:pPr algn="just" marL="0" indent="0" lvl="0">
                <a:lnSpc>
                  <a:spcPts val="2806"/>
                </a:lnSpc>
              </a:pPr>
              <a:r>
                <a:rPr lang="en-US" b="true" sz="1846">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Flask App Prompt</a:t>
              </a:r>
            </a:p>
          </p:txBody>
        </p:sp>
        <p:sp>
          <p:nvSpPr>
            <p:cNvPr name="TextBox 27" id="27"/>
            <p:cNvSpPr txBox="true"/>
            <p:nvPr/>
          </p:nvSpPr>
          <p:spPr>
            <a:xfrm rot="0">
              <a:off x="1589864" y="534605"/>
              <a:ext cx="5248795" cy="673136"/>
            </a:xfrm>
            <a:prstGeom prst="rect">
              <a:avLst/>
            </a:prstGeom>
          </p:spPr>
          <p:txBody>
            <a:bodyPr anchor="t" rtlCol="false" tIns="0" lIns="0" bIns="0" rIns="0">
              <a:spAutoFit/>
            </a:bodyPr>
            <a:lstStyle/>
            <a:p>
              <a:pPr algn="just" marL="0" indent="0" lvl="0">
                <a:lnSpc>
                  <a:spcPts val="2098"/>
                </a:lnSpc>
              </a:pPr>
              <a:r>
                <a:rPr lang="en-US" sz="1498">
                  <a:gradFill>
                    <a:gsLst>
                      <a:gs pos="0">
                        <a:srgbClr val="3A58E4">
                          <a:alpha val="100000"/>
                        </a:srgbClr>
                      </a:gs>
                      <a:gs pos="100000">
                        <a:srgbClr val="293E9C">
                          <a:alpha val="100000"/>
                        </a:srgbClr>
                      </a:gs>
                    </a:gsLst>
                    <a:path path="circle">
                      <a:fillToRect l="0" r="100000" t="0" b="100000"/>
                    </a:path>
                    <a:tileRect r="0" l="-100000" b="0" t="-100000"/>
                  </a:gradFill>
                  <a:latin typeface="Poppins"/>
                  <a:ea typeface="Poppins"/>
                  <a:cs typeface="Poppins"/>
                  <a:sym typeface="Poppins"/>
                </a:rPr>
                <a:t>"Create a Flask web app for ML prediction with REST API endpoints"</a:t>
              </a:r>
            </a:p>
          </p:txBody>
        </p:sp>
        <p:sp>
          <p:nvSpPr>
            <p:cNvPr name="TextBox 28" id="28"/>
            <p:cNvSpPr txBox="true"/>
            <p:nvPr/>
          </p:nvSpPr>
          <p:spPr>
            <a:xfrm rot="0">
              <a:off x="0" y="189549"/>
              <a:ext cx="1165955" cy="931982"/>
            </a:xfrm>
            <a:prstGeom prst="rect">
              <a:avLst/>
            </a:prstGeom>
          </p:spPr>
          <p:txBody>
            <a:bodyPr anchor="t" rtlCol="false" tIns="0" lIns="0" bIns="0" rIns="0">
              <a:spAutoFit/>
            </a:bodyPr>
            <a:lstStyle/>
            <a:p>
              <a:pPr algn="l" marL="0" indent="0" lvl="0">
                <a:lnSpc>
                  <a:spcPts val="4642"/>
                </a:lnSpc>
              </a:pPr>
              <a:r>
                <a:rPr lang="en-US" sz="5158" spc="-154">
                  <a:gradFill>
                    <a:gsLst>
                      <a:gs pos="0">
                        <a:srgbClr val="3A58E4">
                          <a:alpha val="100000"/>
                        </a:srgbClr>
                      </a:gs>
                      <a:gs pos="100000">
                        <a:srgbClr val="293E9C">
                          <a:alpha val="100000"/>
                        </a:srgbClr>
                      </a:gs>
                    </a:gsLst>
                    <a:path path="circle">
                      <a:fillToRect l="0" r="100000" t="0" b="100000"/>
                    </a:path>
                    <a:tileRect r="0" l="-100000" b="0" t="-100000"/>
                  </a:gradFill>
                  <a:latin typeface="Poppins"/>
                  <a:ea typeface="Poppins"/>
                  <a:cs typeface="Poppins"/>
                  <a:sym typeface="Poppins"/>
                </a:rPr>
                <a:t>02</a:t>
              </a:r>
            </a:p>
          </p:txBody>
        </p:sp>
      </p:grpSp>
      <p:grpSp>
        <p:nvGrpSpPr>
          <p:cNvPr name="Group 29" id="29"/>
          <p:cNvGrpSpPr/>
          <p:nvPr/>
        </p:nvGrpSpPr>
        <p:grpSpPr>
          <a:xfrm rot="0">
            <a:off x="1664564" y="5293177"/>
            <a:ext cx="6376039" cy="1593100"/>
            <a:chOff x="0" y="0"/>
            <a:chExt cx="2754311" cy="688185"/>
          </a:xfrm>
        </p:grpSpPr>
        <p:sp>
          <p:nvSpPr>
            <p:cNvPr name="Freeform 30" id="30"/>
            <p:cNvSpPr/>
            <p:nvPr/>
          </p:nvSpPr>
          <p:spPr>
            <a:xfrm flipH="false" flipV="false" rot="0">
              <a:off x="0" y="0"/>
              <a:ext cx="2754311" cy="688185"/>
            </a:xfrm>
            <a:custGeom>
              <a:avLst/>
              <a:gdLst/>
              <a:ahLst/>
              <a:cxnLst/>
              <a:rect r="r" b="b" t="t" l="l"/>
              <a:pathLst>
                <a:path h="688185" w="2754311">
                  <a:moveTo>
                    <a:pt x="52211" y="0"/>
                  </a:moveTo>
                  <a:lnTo>
                    <a:pt x="2702100" y="0"/>
                  </a:lnTo>
                  <a:cubicBezTo>
                    <a:pt x="2715947" y="0"/>
                    <a:pt x="2729227" y="5501"/>
                    <a:pt x="2739019" y="15292"/>
                  </a:cubicBezTo>
                  <a:cubicBezTo>
                    <a:pt x="2748810" y="25084"/>
                    <a:pt x="2754311" y="38364"/>
                    <a:pt x="2754311" y="52211"/>
                  </a:cubicBezTo>
                  <a:lnTo>
                    <a:pt x="2754311" y="635973"/>
                  </a:lnTo>
                  <a:cubicBezTo>
                    <a:pt x="2754311" y="649820"/>
                    <a:pt x="2748810" y="663101"/>
                    <a:pt x="2739019" y="672892"/>
                  </a:cubicBezTo>
                  <a:cubicBezTo>
                    <a:pt x="2729227" y="682684"/>
                    <a:pt x="2715947" y="688185"/>
                    <a:pt x="2702100" y="688185"/>
                  </a:cubicBezTo>
                  <a:lnTo>
                    <a:pt x="52211" y="688185"/>
                  </a:lnTo>
                  <a:cubicBezTo>
                    <a:pt x="38364" y="688185"/>
                    <a:pt x="25084" y="682684"/>
                    <a:pt x="15292" y="672892"/>
                  </a:cubicBezTo>
                  <a:cubicBezTo>
                    <a:pt x="5501" y="663101"/>
                    <a:pt x="0" y="649820"/>
                    <a:pt x="0" y="635973"/>
                  </a:cubicBezTo>
                  <a:lnTo>
                    <a:pt x="0" y="52211"/>
                  </a:lnTo>
                  <a:cubicBezTo>
                    <a:pt x="0" y="38364"/>
                    <a:pt x="5501" y="25084"/>
                    <a:pt x="15292" y="15292"/>
                  </a:cubicBezTo>
                  <a:cubicBezTo>
                    <a:pt x="25084" y="5501"/>
                    <a:pt x="38364" y="0"/>
                    <a:pt x="52211"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31" id="31"/>
            <p:cNvSpPr txBox="true"/>
            <p:nvPr/>
          </p:nvSpPr>
          <p:spPr>
            <a:xfrm>
              <a:off x="0" y="-38100"/>
              <a:ext cx="2754311" cy="726285"/>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32" id="32"/>
          <p:cNvGrpSpPr/>
          <p:nvPr/>
        </p:nvGrpSpPr>
        <p:grpSpPr>
          <a:xfrm rot="0">
            <a:off x="2288087" y="5639303"/>
            <a:ext cx="5128994" cy="904893"/>
            <a:chOff x="0" y="0"/>
            <a:chExt cx="6838659" cy="1206524"/>
          </a:xfrm>
        </p:grpSpPr>
        <p:sp>
          <p:nvSpPr>
            <p:cNvPr name="TextBox 33" id="33"/>
            <p:cNvSpPr txBox="true"/>
            <p:nvPr/>
          </p:nvSpPr>
          <p:spPr>
            <a:xfrm rot="0">
              <a:off x="1589864" y="-76200"/>
              <a:ext cx="4202931" cy="440483"/>
            </a:xfrm>
            <a:prstGeom prst="rect">
              <a:avLst/>
            </a:prstGeom>
          </p:spPr>
          <p:txBody>
            <a:bodyPr anchor="t" rtlCol="false" tIns="0" lIns="0" bIns="0" rIns="0">
              <a:spAutoFit/>
            </a:bodyPr>
            <a:lstStyle/>
            <a:p>
              <a:pPr algn="just" marL="0" indent="0" lvl="0">
                <a:lnSpc>
                  <a:spcPts val="2806"/>
                </a:lnSpc>
              </a:pPr>
              <a:r>
                <a:rPr lang="en-US" b="true" sz="1846">
                  <a:solidFill>
                    <a:srgbClr val="FFFFFF"/>
                  </a:solidFill>
                  <a:latin typeface="Poppins Bold"/>
                  <a:ea typeface="Poppins Bold"/>
                  <a:cs typeface="Poppins Bold"/>
                  <a:sym typeface="Poppins Bold"/>
                </a:rPr>
                <a:t>Frontend UI Prompt</a:t>
              </a:r>
            </a:p>
          </p:txBody>
        </p:sp>
        <p:sp>
          <p:nvSpPr>
            <p:cNvPr name="TextBox 34" id="34"/>
            <p:cNvSpPr txBox="true"/>
            <p:nvPr/>
          </p:nvSpPr>
          <p:spPr>
            <a:xfrm rot="0">
              <a:off x="1589864" y="534605"/>
              <a:ext cx="5248795" cy="671919"/>
            </a:xfrm>
            <a:prstGeom prst="rect">
              <a:avLst/>
            </a:prstGeom>
          </p:spPr>
          <p:txBody>
            <a:bodyPr anchor="t" rtlCol="false" tIns="0" lIns="0" bIns="0" rIns="0">
              <a:spAutoFit/>
            </a:bodyPr>
            <a:lstStyle/>
            <a:p>
              <a:pPr algn="just" marL="0" indent="0" lvl="0">
                <a:lnSpc>
                  <a:spcPts val="2085"/>
                </a:lnSpc>
              </a:pPr>
              <a:r>
                <a:rPr lang="en-US" sz="1489">
                  <a:solidFill>
                    <a:srgbClr val="FFFFFF"/>
                  </a:solidFill>
                  <a:latin typeface="Poppins"/>
                  <a:ea typeface="Poppins"/>
                  <a:cs typeface="Poppins"/>
                  <a:sym typeface="Poppins"/>
                </a:rPr>
                <a:t>"Generate frontend UI for prediction dashboard with input forms"</a:t>
              </a:r>
            </a:p>
          </p:txBody>
        </p:sp>
        <p:sp>
          <p:nvSpPr>
            <p:cNvPr name="TextBox 35" id="35"/>
            <p:cNvSpPr txBox="true"/>
            <p:nvPr/>
          </p:nvSpPr>
          <p:spPr>
            <a:xfrm rot="0">
              <a:off x="0" y="231775"/>
              <a:ext cx="1165955" cy="931982"/>
            </a:xfrm>
            <a:prstGeom prst="rect">
              <a:avLst/>
            </a:prstGeom>
          </p:spPr>
          <p:txBody>
            <a:bodyPr anchor="t" rtlCol="false" tIns="0" lIns="0" bIns="0" rIns="0">
              <a:spAutoFit/>
            </a:bodyPr>
            <a:lstStyle/>
            <a:p>
              <a:pPr algn="l" marL="0" indent="0" lvl="0">
                <a:lnSpc>
                  <a:spcPts val="4642"/>
                </a:lnSpc>
              </a:pPr>
              <a:r>
                <a:rPr lang="en-US" sz="5158" spc="-154">
                  <a:solidFill>
                    <a:srgbClr val="FFFFFF"/>
                  </a:solidFill>
                  <a:latin typeface="Poppins"/>
                  <a:ea typeface="Poppins"/>
                  <a:cs typeface="Poppins"/>
                  <a:sym typeface="Poppins"/>
                </a:rPr>
                <a:t>03</a:t>
              </a:r>
            </a:p>
          </p:txBody>
        </p:sp>
      </p:grpSp>
      <p:grpSp>
        <p:nvGrpSpPr>
          <p:cNvPr name="Group 36" id="36"/>
          <p:cNvGrpSpPr/>
          <p:nvPr/>
        </p:nvGrpSpPr>
        <p:grpSpPr>
          <a:xfrm rot="0">
            <a:off x="1664564" y="7189649"/>
            <a:ext cx="6376039" cy="1593100"/>
            <a:chOff x="0" y="0"/>
            <a:chExt cx="2754311" cy="688185"/>
          </a:xfrm>
        </p:grpSpPr>
        <p:sp>
          <p:nvSpPr>
            <p:cNvPr name="Freeform 37" id="37"/>
            <p:cNvSpPr/>
            <p:nvPr/>
          </p:nvSpPr>
          <p:spPr>
            <a:xfrm flipH="false" flipV="false" rot="0">
              <a:off x="0" y="0"/>
              <a:ext cx="2754311" cy="688185"/>
            </a:xfrm>
            <a:custGeom>
              <a:avLst/>
              <a:gdLst/>
              <a:ahLst/>
              <a:cxnLst/>
              <a:rect r="r" b="b" t="t" l="l"/>
              <a:pathLst>
                <a:path h="688185" w="2754311">
                  <a:moveTo>
                    <a:pt x="52211" y="0"/>
                  </a:moveTo>
                  <a:lnTo>
                    <a:pt x="2702100" y="0"/>
                  </a:lnTo>
                  <a:cubicBezTo>
                    <a:pt x="2715947" y="0"/>
                    <a:pt x="2729227" y="5501"/>
                    <a:pt x="2739019" y="15292"/>
                  </a:cubicBezTo>
                  <a:cubicBezTo>
                    <a:pt x="2748810" y="25084"/>
                    <a:pt x="2754311" y="38364"/>
                    <a:pt x="2754311" y="52211"/>
                  </a:cubicBezTo>
                  <a:lnTo>
                    <a:pt x="2754311" y="635973"/>
                  </a:lnTo>
                  <a:cubicBezTo>
                    <a:pt x="2754311" y="649820"/>
                    <a:pt x="2748810" y="663101"/>
                    <a:pt x="2739019" y="672892"/>
                  </a:cubicBezTo>
                  <a:cubicBezTo>
                    <a:pt x="2729227" y="682684"/>
                    <a:pt x="2715947" y="688185"/>
                    <a:pt x="2702100" y="688185"/>
                  </a:cubicBezTo>
                  <a:lnTo>
                    <a:pt x="52211" y="688185"/>
                  </a:lnTo>
                  <a:cubicBezTo>
                    <a:pt x="38364" y="688185"/>
                    <a:pt x="25084" y="682684"/>
                    <a:pt x="15292" y="672892"/>
                  </a:cubicBezTo>
                  <a:cubicBezTo>
                    <a:pt x="5501" y="663101"/>
                    <a:pt x="0" y="649820"/>
                    <a:pt x="0" y="635973"/>
                  </a:cubicBezTo>
                  <a:lnTo>
                    <a:pt x="0" y="52211"/>
                  </a:lnTo>
                  <a:cubicBezTo>
                    <a:pt x="0" y="38364"/>
                    <a:pt x="5501" y="25084"/>
                    <a:pt x="15292" y="15292"/>
                  </a:cubicBezTo>
                  <a:cubicBezTo>
                    <a:pt x="25084" y="5501"/>
                    <a:pt x="38364" y="0"/>
                    <a:pt x="52211" y="0"/>
                  </a:cubicBezTo>
                  <a:close/>
                </a:path>
              </a:pathLst>
            </a:custGeom>
            <a:ln w="38100" cap="rnd">
              <a:gradFill>
                <a:gsLst>
                  <a:gs pos="0">
                    <a:srgbClr val="3A58E4">
                      <a:alpha val="100000"/>
                    </a:srgbClr>
                  </a:gs>
                  <a:gs pos="100000">
                    <a:srgbClr val="293E9C">
                      <a:alpha val="100000"/>
                    </a:srgbClr>
                  </a:gs>
                </a:gsLst>
                <a:path path="circle">
                  <a:fillToRect l="0" r="100000" t="0" b="100000"/>
                </a:path>
                <a:tileRect r="0" l="-100000" b="0" t="-100000"/>
              </a:gradFill>
              <a:prstDash val="solid"/>
              <a:round/>
            </a:ln>
          </p:spPr>
        </p:sp>
        <p:sp>
          <p:nvSpPr>
            <p:cNvPr name="TextBox 38" id="38"/>
            <p:cNvSpPr txBox="true"/>
            <p:nvPr/>
          </p:nvSpPr>
          <p:spPr>
            <a:xfrm>
              <a:off x="0" y="-38100"/>
              <a:ext cx="2754311" cy="726285"/>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39" id="39"/>
          <p:cNvGrpSpPr/>
          <p:nvPr/>
        </p:nvGrpSpPr>
        <p:grpSpPr>
          <a:xfrm rot="0">
            <a:off x="2288087" y="7532526"/>
            <a:ext cx="5128994" cy="904893"/>
            <a:chOff x="0" y="0"/>
            <a:chExt cx="6838659" cy="1206524"/>
          </a:xfrm>
        </p:grpSpPr>
        <p:sp>
          <p:nvSpPr>
            <p:cNvPr name="TextBox 40" id="40"/>
            <p:cNvSpPr txBox="true"/>
            <p:nvPr/>
          </p:nvSpPr>
          <p:spPr>
            <a:xfrm rot="0">
              <a:off x="1589864" y="-76200"/>
              <a:ext cx="4202931" cy="440483"/>
            </a:xfrm>
            <a:prstGeom prst="rect">
              <a:avLst/>
            </a:prstGeom>
          </p:spPr>
          <p:txBody>
            <a:bodyPr anchor="t" rtlCol="false" tIns="0" lIns="0" bIns="0" rIns="0">
              <a:spAutoFit/>
            </a:bodyPr>
            <a:lstStyle/>
            <a:p>
              <a:pPr algn="just" marL="0" indent="0" lvl="0">
                <a:lnSpc>
                  <a:spcPts val="2806"/>
                </a:lnSpc>
              </a:pPr>
              <a:r>
                <a:rPr lang="en-US" b="true" sz="1846">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Simulation Prompt</a:t>
              </a:r>
            </a:p>
          </p:txBody>
        </p:sp>
        <p:sp>
          <p:nvSpPr>
            <p:cNvPr name="TextBox 41" id="41"/>
            <p:cNvSpPr txBox="true"/>
            <p:nvPr/>
          </p:nvSpPr>
          <p:spPr>
            <a:xfrm rot="0">
              <a:off x="1589864" y="534605"/>
              <a:ext cx="5248795" cy="671919"/>
            </a:xfrm>
            <a:prstGeom prst="rect">
              <a:avLst/>
            </a:prstGeom>
          </p:spPr>
          <p:txBody>
            <a:bodyPr anchor="t" rtlCol="false" tIns="0" lIns="0" bIns="0" rIns="0">
              <a:spAutoFit/>
            </a:bodyPr>
            <a:lstStyle/>
            <a:p>
              <a:pPr algn="just" marL="0" indent="0" lvl="0">
                <a:lnSpc>
                  <a:spcPts val="2085"/>
                </a:lnSpc>
              </a:pPr>
              <a:r>
                <a:rPr lang="en-US" sz="1489">
                  <a:gradFill>
                    <a:gsLst>
                      <a:gs pos="0">
                        <a:srgbClr val="3A58E4">
                          <a:alpha val="100000"/>
                        </a:srgbClr>
                      </a:gs>
                      <a:gs pos="100000">
                        <a:srgbClr val="293E9C">
                          <a:alpha val="100000"/>
                        </a:srgbClr>
                      </a:gs>
                    </a:gsLst>
                    <a:path path="circle">
                      <a:fillToRect l="0" r="100000" t="0" b="100000"/>
                    </a:path>
                    <a:tileRect r="0" l="-100000" b="0" t="-100000"/>
                  </a:gradFill>
                  <a:latin typeface="Poppins"/>
                  <a:ea typeface="Poppins"/>
                  <a:cs typeface="Poppins"/>
                  <a:sym typeface="Poppins"/>
                </a:rPr>
                <a:t>"Implement intervention impact simulation logic for churn analysis"</a:t>
              </a:r>
            </a:p>
          </p:txBody>
        </p:sp>
        <p:sp>
          <p:nvSpPr>
            <p:cNvPr name="TextBox 42" id="42"/>
            <p:cNvSpPr txBox="true"/>
            <p:nvPr/>
          </p:nvSpPr>
          <p:spPr>
            <a:xfrm rot="0">
              <a:off x="0" y="195609"/>
              <a:ext cx="1165955" cy="931982"/>
            </a:xfrm>
            <a:prstGeom prst="rect">
              <a:avLst/>
            </a:prstGeom>
          </p:spPr>
          <p:txBody>
            <a:bodyPr anchor="t" rtlCol="false" tIns="0" lIns="0" bIns="0" rIns="0">
              <a:spAutoFit/>
            </a:bodyPr>
            <a:lstStyle/>
            <a:p>
              <a:pPr algn="l" marL="0" indent="0" lvl="0">
                <a:lnSpc>
                  <a:spcPts val="4642"/>
                </a:lnSpc>
              </a:pPr>
              <a:r>
                <a:rPr lang="en-US" sz="5158" spc="-154">
                  <a:gradFill>
                    <a:gsLst>
                      <a:gs pos="0">
                        <a:srgbClr val="3A58E4">
                          <a:alpha val="100000"/>
                        </a:srgbClr>
                      </a:gs>
                      <a:gs pos="100000">
                        <a:srgbClr val="293E9C">
                          <a:alpha val="100000"/>
                        </a:srgbClr>
                      </a:gs>
                    </a:gsLst>
                    <a:path path="circle">
                      <a:fillToRect l="0" r="100000" t="0" b="100000"/>
                    </a:path>
                    <a:tileRect r="0" l="-100000" b="0" t="-100000"/>
                  </a:gradFill>
                  <a:latin typeface="Poppins"/>
                  <a:ea typeface="Poppins"/>
                  <a:cs typeface="Poppins"/>
                  <a:sym typeface="Poppins"/>
                </a:rPr>
                <a:t>04</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438046" y="129"/>
            <a:ext cx="1849954" cy="1848037"/>
            <a:chOff x="0" y="0"/>
            <a:chExt cx="2466605" cy="2464050"/>
          </a:xfrm>
        </p:grpSpPr>
        <p:grpSp>
          <p:nvGrpSpPr>
            <p:cNvPr name="Group 3" id="3"/>
            <p:cNvGrpSpPr/>
            <p:nvPr/>
          </p:nvGrpSpPr>
          <p:grpSpPr>
            <a:xfrm rot="0">
              <a:off x="0" y="0"/>
              <a:ext cx="2466605" cy="2464050"/>
              <a:chOff x="0" y="0"/>
              <a:chExt cx="787566" cy="786750"/>
            </a:xfrm>
          </p:grpSpPr>
          <p:sp>
            <p:nvSpPr>
              <p:cNvPr name="Freeform 4" id="4"/>
              <p:cNvSpPr/>
              <p:nvPr/>
            </p:nvSpPr>
            <p:spPr>
              <a:xfrm flipH="false" flipV="false" rot="0">
                <a:off x="0" y="0"/>
                <a:ext cx="787566" cy="786750"/>
              </a:xfrm>
              <a:custGeom>
                <a:avLst/>
                <a:gdLst/>
                <a:ahLst/>
                <a:cxnLst/>
                <a:rect r="r" b="b" t="t" l="l"/>
                <a:pathLst>
                  <a:path h="786750" w="787566">
                    <a:moveTo>
                      <a:pt x="0" y="0"/>
                    </a:moveTo>
                    <a:lnTo>
                      <a:pt x="787566" y="0"/>
                    </a:lnTo>
                    <a:lnTo>
                      <a:pt x="787566" y="786750"/>
                    </a:lnTo>
                    <a:lnTo>
                      <a:pt x="0" y="786750"/>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5" id="5"/>
              <p:cNvSpPr txBox="true"/>
              <p:nvPr/>
            </p:nvSpPr>
            <p:spPr>
              <a:xfrm>
                <a:off x="0" y="-38100"/>
                <a:ext cx="787566" cy="82485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6" id="6"/>
            <p:cNvSpPr txBox="true"/>
            <p:nvPr/>
          </p:nvSpPr>
          <p:spPr>
            <a:xfrm rot="0">
              <a:off x="319164" y="694049"/>
              <a:ext cx="1828278" cy="1199777"/>
            </a:xfrm>
            <a:prstGeom prst="rect">
              <a:avLst/>
            </a:prstGeom>
          </p:spPr>
          <p:txBody>
            <a:bodyPr anchor="t" rtlCol="false" tIns="0" lIns="0" bIns="0" rIns="0">
              <a:spAutoFit/>
            </a:bodyPr>
            <a:lstStyle/>
            <a:p>
              <a:pPr algn="ctr" marL="0" indent="0" lvl="0">
                <a:lnSpc>
                  <a:spcPts val="6421"/>
                </a:lnSpc>
              </a:pPr>
              <a:r>
                <a:rPr lang="en-US" sz="6552" spc="-419">
                  <a:solidFill>
                    <a:srgbClr val="FFFFFF"/>
                  </a:solidFill>
                  <a:latin typeface="Bricolage Grotesque"/>
                  <a:ea typeface="Bricolage Grotesque"/>
                  <a:cs typeface="Bricolage Grotesque"/>
                  <a:sym typeface="Bricolage Grotesque"/>
                </a:rPr>
                <a:t>07</a:t>
              </a:r>
            </a:p>
          </p:txBody>
        </p:sp>
      </p:grpSp>
      <p:grpSp>
        <p:nvGrpSpPr>
          <p:cNvPr name="Group 7" id="7"/>
          <p:cNvGrpSpPr/>
          <p:nvPr/>
        </p:nvGrpSpPr>
        <p:grpSpPr>
          <a:xfrm rot="0">
            <a:off x="5536445" y="2779355"/>
            <a:ext cx="7215109" cy="379246"/>
            <a:chOff x="0" y="0"/>
            <a:chExt cx="9620146" cy="505662"/>
          </a:xfrm>
        </p:grpSpPr>
        <p:sp>
          <p:nvSpPr>
            <p:cNvPr name="TextBox 8" id="8"/>
            <p:cNvSpPr txBox="true"/>
            <p:nvPr/>
          </p:nvSpPr>
          <p:spPr>
            <a:xfrm rot="0">
              <a:off x="0" y="-49117"/>
              <a:ext cx="9403826" cy="554779"/>
            </a:xfrm>
            <a:prstGeom prst="rect">
              <a:avLst/>
            </a:prstGeom>
          </p:spPr>
          <p:txBody>
            <a:bodyPr anchor="t" rtlCol="false" tIns="0" lIns="0" bIns="0" rIns="0">
              <a:spAutoFit/>
            </a:bodyPr>
            <a:lstStyle/>
            <a:p>
              <a:pPr algn="l" marL="0" indent="0" lvl="0">
                <a:lnSpc>
                  <a:spcPts val="3316"/>
                </a:lnSpc>
              </a:pPr>
              <a:r>
                <a:rPr lang="en-US" b="true" sz="2368" spc="-59">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DATA-TO-APPLICATION PIPELINE OVERVIEW</a:t>
              </a:r>
            </a:p>
          </p:txBody>
        </p:sp>
        <p:sp>
          <p:nvSpPr>
            <p:cNvPr name="Freeform 9" id="9"/>
            <p:cNvSpPr/>
            <p:nvPr/>
          </p:nvSpPr>
          <p:spPr>
            <a:xfrm flipH="false" flipV="false" rot="-8687136">
              <a:off x="9303126" y="44820"/>
              <a:ext cx="252200" cy="304858"/>
            </a:xfrm>
            <a:custGeom>
              <a:avLst/>
              <a:gdLst/>
              <a:ahLst/>
              <a:cxnLst/>
              <a:rect r="r" b="b" t="t" l="l"/>
              <a:pathLst>
                <a:path h="304858" w="252200">
                  <a:moveTo>
                    <a:pt x="0" y="0"/>
                  </a:moveTo>
                  <a:lnTo>
                    <a:pt x="252200" y="0"/>
                  </a:lnTo>
                  <a:lnTo>
                    <a:pt x="252200" y="304857"/>
                  </a:lnTo>
                  <a:lnTo>
                    <a:pt x="0" y="3048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TextBox 10" id="10"/>
          <p:cNvSpPr txBox="true"/>
          <p:nvPr/>
        </p:nvSpPr>
        <p:spPr>
          <a:xfrm rot="0">
            <a:off x="3363658" y="1247968"/>
            <a:ext cx="11560683" cy="1273720"/>
          </a:xfrm>
          <a:prstGeom prst="rect">
            <a:avLst/>
          </a:prstGeom>
        </p:spPr>
        <p:txBody>
          <a:bodyPr anchor="t" rtlCol="false" tIns="0" lIns="0" bIns="0" rIns="0">
            <a:spAutoFit/>
          </a:bodyPr>
          <a:lstStyle/>
          <a:p>
            <a:pPr algn="ctr" marL="0" indent="0" lvl="0">
              <a:lnSpc>
                <a:spcPts val="9596"/>
              </a:lnSpc>
            </a:pPr>
            <a:r>
              <a:rPr lang="en-US" sz="9792" spc="-626">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Workflow Flowchart</a:t>
            </a:r>
          </a:p>
        </p:txBody>
      </p:sp>
      <p:grpSp>
        <p:nvGrpSpPr>
          <p:cNvPr name="Group 11" id="11"/>
          <p:cNvGrpSpPr/>
          <p:nvPr/>
        </p:nvGrpSpPr>
        <p:grpSpPr>
          <a:xfrm rot="0">
            <a:off x="2731310" y="3878731"/>
            <a:ext cx="3213033" cy="5379569"/>
            <a:chOff x="0" y="0"/>
            <a:chExt cx="1387961" cy="2323857"/>
          </a:xfrm>
        </p:grpSpPr>
        <p:sp>
          <p:nvSpPr>
            <p:cNvPr name="Freeform 12" id="12"/>
            <p:cNvSpPr/>
            <p:nvPr/>
          </p:nvSpPr>
          <p:spPr>
            <a:xfrm flipH="false" flipV="false" rot="0">
              <a:off x="0" y="0"/>
              <a:ext cx="1387961" cy="2323857"/>
            </a:xfrm>
            <a:custGeom>
              <a:avLst/>
              <a:gdLst/>
              <a:ahLst/>
              <a:cxnLst/>
              <a:rect r="r" b="b" t="t" l="l"/>
              <a:pathLst>
                <a:path h="2323857" w="1387961">
                  <a:moveTo>
                    <a:pt x="0" y="0"/>
                  </a:moveTo>
                  <a:lnTo>
                    <a:pt x="1387961" y="0"/>
                  </a:lnTo>
                  <a:lnTo>
                    <a:pt x="1387961" y="2323857"/>
                  </a:lnTo>
                  <a:lnTo>
                    <a:pt x="0" y="2323857"/>
                  </a:lnTo>
                  <a:close/>
                </a:path>
              </a:pathLst>
            </a:custGeom>
            <a:solidFill>
              <a:srgbClr val="2B42A8"/>
            </a:solidFill>
          </p:spPr>
        </p:sp>
        <p:sp>
          <p:nvSpPr>
            <p:cNvPr name="TextBox 13" id="13"/>
            <p:cNvSpPr txBox="true"/>
            <p:nvPr/>
          </p:nvSpPr>
          <p:spPr>
            <a:xfrm>
              <a:off x="0" y="-38100"/>
              <a:ext cx="1387961" cy="2361957"/>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14" id="14"/>
          <p:cNvGrpSpPr/>
          <p:nvPr/>
        </p:nvGrpSpPr>
        <p:grpSpPr>
          <a:xfrm rot="0">
            <a:off x="5935426" y="3878731"/>
            <a:ext cx="3213033" cy="5379569"/>
            <a:chOff x="0" y="0"/>
            <a:chExt cx="1387961" cy="2323857"/>
          </a:xfrm>
        </p:grpSpPr>
        <p:sp>
          <p:nvSpPr>
            <p:cNvPr name="Freeform 15" id="15"/>
            <p:cNvSpPr/>
            <p:nvPr/>
          </p:nvSpPr>
          <p:spPr>
            <a:xfrm flipH="false" flipV="false" rot="0">
              <a:off x="0" y="0"/>
              <a:ext cx="1387961" cy="2323857"/>
            </a:xfrm>
            <a:custGeom>
              <a:avLst/>
              <a:gdLst/>
              <a:ahLst/>
              <a:cxnLst/>
              <a:rect r="r" b="b" t="t" l="l"/>
              <a:pathLst>
                <a:path h="2323857" w="1387961">
                  <a:moveTo>
                    <a:pt x="0" y="0"/>
                  </a:moveTo>
                  <a:lnTo>
                    <a:pt x="1387961" y="0"/>
                  </a:lnTo>
                  <a:lnTo>
                    <a:pt x="1387961" y="2323857"/>
                  </a:lnTo>
                  <a:lnTo>
                    <a:pt x="0" y="2323857"/>
                  </a:lnTo>
                  <a:close/>
                </a:path>
              </a:pathLst>
            </a:custGeom>
            <a:solidFill>
              <a:srgbClr val="3A58E4"/>
            </a:solidFill>
          </p:spPr>
        </p:sp>
        <p:sp>
          <p:nvSpPr>
            <p:cNvPr name="TextBox 16" id="16"/>
            <p:cNvSpPr txBox="true"/>
            <p:nvPr/>
          </p:nvSpPr>
          <p:spPr>
            <a:xfrm>
              <a:off x="0" y="-38100"/>
              <a:ext cx="1387961" cy="2361957"/>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17" id="17"/>
          <p:cNvGrpSpPr/>
          <p:nvPr/>
        </p:nvGrpSpPr>
        <p:grpSpPr>
          <a:xfrm rot="0">
            <a:off x="9139541" y="3878731"/>
            <a:ext cx="3213033" cy="5379569"/>
            <a:chOff x="0" y="0"/>
            <a:chExt cx="1387961" cy="2323857"/>
          </a:xfrm>
        </p:grpSpPr>
        <p:sp>
          <p:nvSpPr>
            <p:cNvPr name="Freeform 18" id="18"/>
            <p:cNvSpPr/>
            <p:nvPr/>
          </p:nvSpPr>
          <p:spPr>
            <a:xfrm flipH="false" flipV="false" rot="0">
              <a:off x="0" y="0"/>
              <a:ext cx="1387961" cy="2323857"/>
            </a:xfrm>
            <a:custGeom>
              <a:avLst/>
              <a:gdLst/>
              <a:ahLst/>
              <a:cxnLst/>
              <a:rect r="r" b="b" t="t" l="l"/>
              <a:pathLst>
                <a:path h="2323857" w="1387961">
                  <a:moveTo>
                    <a:pt x="0" y="0"/>
                  </a:moveTo>
                  <a:lnTo>
                    <a:pt x="1387961" y="0"/>
                  </a:lnTo>
                  <a:lnTo>
                    <a:pt x="1387961" y="2323857"/>
                  </a:lnTo>
                  <a:lnTo>
                    <a:pt x="0" y="2323857"/>
                  </a:lnTo>
                  <a:close/>
                </a:path>
              </a:pathLst>
            </a:custGeom>
            <a:solidFill>
              <a:srgbClr val="6984FE"/>
            </a:solidFill>
          </p:spPr>
        </p:sp>
        <p:sp>
          <p:nvSpPr>
            <p:cNvPr name="TextBox 19" id="19"/>
            <p:cNvSpPr txBox="true"/>
            <p:nvPr/>
          </p:nvSpPr>
          <p:spPr>
            <a:xfrm>
              <a:off x="0" y="-38100"/>
              <a:ext cx="1387961" cy="2361957"/>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20" id="20"/>
          <p:cNvGrpSpPr/>
          <p:nvPr/>
        </p:nvGrpSpPr>
        <p:grpSpPr>
          <a:xfrm rot="0">
            <a:off x="12343657" y="3878731"/>
            <a:ext cx="3213033" cy="5379569"/>
            <a:chOff x="0" y="0"/>
            <a:chExt cx="1387961" cy="2323857"/>
          </a:xfrm>
        </p:grpSpPr>
        <p:sp>
          <p:nvSpPr>
            <p:cNvPr name="Freeform 21" id="21"/>
            <p:cNvSpPr/>
            <p:nvPr/>
          </p:nvSpPr>
          <p:spPr>
            <a:xfrm flipH="false" flipV="false" rot="0">
              <a:off x="0" y="0"/>
              <a:ext cx="1387961" cy="2323857"/>
            </a:xfrm>
            <a:custGeom>
              <a:avLst/>
              <a:gdLst/>
              <a:ahLst/>
              <a:cxnLst/>
              <a:rect r="r" b="b" t="t" l="l"/>
              <a:pathLst>
                <a:path h="2323857" w="1387961">
                  <a:moveTo>
                    <a:pt x="0" y="0"/>
                  </a:moveTo>
                  <a:lnTo>
                    <a:pt x="1387961" y="0"/>
                  </a:lnTo>
                  <a:lnTo>
                    <a:pt x="1387961" y="2323857"/>
                  </a:lnTo>
                  <a:lnTo>
                    <a:pt x="0" y="2323857"/>
                  </a:lnTo>
                  <a:close/>
                </a:path>
              </a:pathLst>
            </a:custGeom>
            <a:solidFill>
              <a:srgbClr val="9AADFF"/>
            </a:solidFill>
          </p:spPr>
        </p:sp>
        <p:sp>
          <p:nvSpPr>
            <p:cNvPr name="TextBox 22" id="22"/>
            <p:cNvSpPr txBox="true"/>
            <p:nvPr/>
          </p:nvSpPr>
          <p:spPr>
            <a:xfrm>
              <a:off x="0" y="-38100"/>
              <a:ext cx="1387961" cy="2361957"/>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23" id="23"/>
          <p:cNvGrpSpPr/>
          <p:nvPr/>
        </p:nvGrpSpPr>
        <p:grpSpPr>
          <a:xfrm rot="5400000">
            <a:off x="2595745" y="7780405"/>
            <a:ext cx="622999" cy="351870"/>
            <a:chOff x="0" y="0"/>
            <a:chExt cx="1387983" cy="784032"/>
          </a:xfrm>
        </p:grpSpPr>
        <p:sp>
          <p:nvSpPr>
            <p:cNvPr name="Freeform 24" id="24"/>
            <p:cNvSpPr/>
            <p:nvPr/>
          </p:nvSpPr>
          <p:spPr>
            <a:xfrm flipH="false" flipV="false" rot="0">
              <a:off x="0" y="0"/>
              <a:ext cx="1387983" cy="782620"/>
            </a:xfrm>
            <a:custGeom>
              <a:avLst/>
              <a:gdLst/>
              <a:ahLst/>
              <a:cxnLst/>
              <a:rect r="r" b="b" t="t" l="l"/>
              <a:pathLst>
                <a:path h="782620" w="1387983">
                  <a:moveTo>
                    <a:pt x="693992" y="0"/>
                  </a:moveTo>
                  <a:lnTo>
                    <a:pt x="1387983" y="782620"/>
                  </a:lnTo>
                  <a:lnTo>
                    <a:pt x="0" y="782620"/>
                  </a:lnTo>
                  <a:close/>
                </a:path>
              </a:pathLst>
            </a:custGeom>
            <a:solidFill>
              <a:srgbClr val="AFBEFF"/>
            </a:solidFill>
          </p:spPr>
        </p:sp>
        <p:sp>
          <p:nvSpPr>
            <p:cNvPr name="TextBox 25" id="25"/>
            <p:cNvSpPr txBox="true"/>
            <p:nvPr/>
          </p:nvSpPr>
          <p:spPr>
            <a:xfrm>
              <a:off x="293871" y="292771"/>
              <a:ext cx="800241" cy="489849"/>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26" id="26"/>
          <p:cNvGrpSpPr/>
          <p:nvPr/>
        </p:nvGrpSpPr>
        <p:grpSpPr>
          <a:xfrm rot="5400000">
            <a:off x="5780811" y="5004756"/>
            <a:ext cx="622999" cy="351870"/>
            <a:chOff x="0" y="0"/>
            <a:chExt cx="1387983" cy="784032"/>
          </a:xfrm>
        </p:grpSpPr>
        <p:sp>
          <p:nvSpPr>
            <p:cNvPr name="Freeform 27" id="27"/>
            <p:cNvSpPr/>
            <p:nvPr/>
          </p:nvSpPr>
          <p:spPr>
            <a:xfrm flipH="false" flipV="false" rot="0">
              <a:off x="0" y="0"/>
              <a:ext cx="1387983" cy="782620"/>
            </a:xfrm>
            <a:custGeom>
              <a:avLst/>
              <a:gdLst/>
              <a:ahLst/>
              <a:cxnLst/>
              <a:rect r="r" b="b" t="t" l="l"/>
              <a:pathLst>
                <a:path h="782620" w="1387983">
                  <a:moveTo>
                    <a:pt x="693992" y="0"/>
                  </a:moveTo>
                  <a:lnTo>
                    <a:pt x="1387983" y="782620"/>
                  </a:lnTo>
                  <a:lnTo>
                    <a:pt x="0" y="782620"/>
                  </a:lnTo>
                  <a:close/>
                </a:path>
              </a:pathLst>
            </a:custGeom>
            <a:solidFill>
              <a:srgbClr val="2B42A8"/>
            </a:solidFill>
          </p:spPr>
        </p:sp>
        <p:sp>
          <p:nvSpPr>
            <p:cNvPr name="TextBox 28" id="28"/>
            <p:cNvSpPr txBox="true"/>
            <p:nvPr/>
          </p:nvSpPr>
          <p:spPr>
            <a:xfrm>
              <a:off x="293871" y="292771"/>
              <a:ext cx="800241" cy="489849"/>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29" id="29"/>
          <p:cNvGrpSpPr/>
          <p:nvPr/>
        </p:nvGrpSpPr>
        <p:grpSpPr>
          <a:xfrm rot="5400000">
            <a:off x="8984927" y="7780405"/>
            <a:ext cx="622999" cy="351870"/>
            <a:chOff x="0" y="0"/>
            <a:chExt cx="1387983" cy="784032"/>
          </a:xfrm>
        </p:grpSpPr>
        <p:sp>
          <p:nvSpPr>
            <p:cNvPr name="Freeform 30" id="30"/>
            <p:cNvSpPr/>
            <p:nvPr/>
          </p:nvSpPr>
          <p:spPr>
            <a:xfrm flipH="false" flipV="false" rot="0">
              <a:off x="0" y="0"/>
              <a:ext cx="1387983" cy="782620"/>
            </a:xfrm>
            <a:custGeom>
              <a:avLst/>
              <a:gdLst/>
              <a:ahLst/>
              <a:cxnLst/>
              <a:rect r="r" b="b" t="t" l="l"/>
              <a:pathLst>
                <a:path h="782620" w="1387983">
                  <a:moveTo>
                    <a:pt x="693992" y="0"/>
                  </a:moveTo>
                  <a:lnTo>
                    <a:pt x="1387983" y="782620"/>
                  </a:lnTo>
                  <a:lnTo>
                    <a:pt x="0" y="782620"/>
                  </a:lnTo>
                  <a:close/>
                </a:path>
              </a:pathLst>
            </a:custGeom>
            <a:solidFill>
              <a:srgbClr val="3A58E4"/>
            </a:solidFill>
          </p:spPr>
        </p:sp>
        <p:sp>
          <p:nvSpPr>
            <p:cNvPr name="TextBox 31" id="31"/>
            <p:cNvSpPr txBox="true"/>
            <p:nvPr/>
          </p:nvSpPr>
          <p:spPr>
            <a:xfrm>
              <a:off x="293871" y="292771"/>
              <a:ext cx="800241" cy="489849"/>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32" id="32"/>
          <p:cNvGrpSpPr/>
          <p:nvPr/>
        </p:nvGrpSpPr>
        <p:grpSpPr>
          <a:xfrm rot="5400000">
            <a:off x="12179518" y="5004756"/>
            <a:ext cx="622999" cy="351870"/>
            <a:chOff x="0" y="0"/>
            <a:chExt cx="1387983" cy="784032"/>
          </a:xfrm>
        </p:grpSpPr>
        <p:sp>
          <p:nvSpPr>
            <p:cNvPr name="Freeform 33" id="33"/>
            <p:cNvSpPr/>
            <p:nvPr/>
          </p:nvSpPr>
          <p:spPr>
            <a:xfrm flipH="false" flipV="false" rot="0">
              <a:off x="0" y="0"/>
              <a:ext cx="1387983" cy="782620"/>
            </a:xfrm>
            <a:custGeom>
              <a:avLst/>
              <a:gdLst/>
              <a:ahLst/>
              <a:cxnLst/>
              <a:rect r="r" b="b" t="t" l="l"/>
              <a:pathLst>
                <a:path h="782620" w="1387983">
                  <a:moveTo>
                    <a:pt x="693992" y="0"/>
                  </a:moveTo>
                  <a:lnTo>
                    <a:pt x="1387983" y="782620"/>
                  </a:lnTo>
                  <a:lnTo>
                    <a:pt x="0" y="782620"/>
                  </a:lnTo>
                  <a:close/>
                </a:path>
              </a:pathLst>
            </a:custGeom>
            <a:solidFill>
              <a:srgbClr val="6984FE"/>
            </a:solidFill>
          </p:spPr>
        </p:sp>
        <p:sp>
          <p:nvSpPr>
            <p:cNvPr name="TextBox 34" id="34"/>
            <p:cNvSpPr txBox="true"/>
            <p:nvPr/>
          </p:nvSpPr>
          <p:spPr>
            <a:xfrm>
              <a:off x="293871" y="292771"/>
              <a:ext cx="800241" cy="489849"/>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35" id="35"/>
          <p:cNvGrpSpPr/>
          <p:nvPr/>
        </p:nvGrpSpPr>
        <p:grpSpPr>
          <a:xfrm rot="0">
            <a:off x="3269864" y="4392470"/>
            <a:ext cx="2135924" cy="1891827"/>
            <a:chOff x="0" y="0"/>
            <a:chExt cx="2847898" cy="2522436"/>
          </a:xfrm>
        </p:grpSpPr>
        <p:sp>
          <p:nvSpPr>
            <p:cNvPr name="TextBox 36" id="36"/>
            <p:cNvSpPr txBox="true"/>
            <p:nvPr/>
          </p:nvSpPr>
          <p:spPr>
            <a:xfrm rot="0">
              <a:off x="0" y="-28575"/>
              <a:ext cx="2847898" cy="788169"/>
            </a:xfrm>
            <a:prstGeom prst="rect">
              <a:avLst/>
            </a:prstGeom>
          </p:spPr>
          <p:txBody>
            <a:bodyPr anchor="t" rtlCol="false" tIns="0" lIns="0" bIns="0" rIns="0">
              <a:spAutoFit/>
            </a:bodyPr>
            <a:lstStyle/>
            <a:p>
              <a:pPr algn="just" marL="0" indent="0" lvl="0">
                <a:lnSpc>
                  <a:spcPts val="2353"/>
                </a:lnSpc>
              </a:pPr>
              <a:r>
                <a:rPr lang="en-US" b="true" sz="1824" spc="-5">
                  <a:solidFill>
                    <a:srgbClr val="FFFFFF"/>
                  </a:solidFill>
                  <a:latin typeface="Poppins Bold"/>
                  <a:ea typeface="Poppins Bold"/>
                  <a:cs typeface="Poppins Bold"/>
                  <a:sym typeface="Poppins Bold"/>
                </a:rPr>
                <a:t>DATA</a:t>
              </a:r>
            </a:p>
            <a:p>
              <a:pPr algn="just" marL="0" indent="0" lvl="0">
                <a:lnSpc>
                  <a:spcPts val="2353"/>
                </a:lnSpc>
              </a:pPr>
              <a:r>
                <a:rPr lang="en-US" b="true" sz="1824" spc="-5">
                  <a:solidFill>
                    <a:srgbClr val="FFFFFF"/>
                  </a:solidFill>
                  <a:latin typeface="Poppins Bold"/>
                  <a:ea typeface="Poppins Bold"/>
                  <a:cs typeface="Poppins Bold"/>
                  <a:sym typeface="Poppins Bold"/>
                </a:rPr>
                <a:t>COLLECTION</a:t>
              </a:r>
            </a:p>
          </p:txBody>
        </p:sp>
        <p:sp>
          <p:nvSpPr>
            <p:cNvPr name="TextBox 37" id="37"/>
            <p:cNvSpPr txBox="true"/>
            <p:nvPr/>
          </p:nvSpPr>
          <p:spPr>
            <a:xfrm rot="0">
              <a:off x="0" y="1046964"/>
              <a:ext cx="2847898" cy="1475472"/>
            </a:xfrm>
            <a:prstGeom prst="rect">
              <a:avLst/>
            </a:prstGeom>
          </p:spPr>
          <p:txBody>
            <a:bodyPr anchor="t" rtlCol="false" tIns="0" lIns="0" bIns="0" rIns="0">
              <a:spAutoFit/>
            </a:bodyPr>
            <a:lstStyle/>
            <a:p>
              <a:pPr algn="just" marL="0" indent="0" lvl="0">
                <a:lnSpc>
                  <a:spcPts val="2226"/>
                </a:lnSpc>
              </a:pPr>
              <a:r>
                <a:rPr lang="en-US" sz="1725" spc="-5">
                  <a:solidFill>
                    <a:srgbClr val="FFFFFF"/>
                  </a:solidFill>
                  <a:latin typeface="Poppins"/>
                  <a:ea typeface="Poppins"/>
                  <a:cs typeface="Poppins"/>
                  <a:sym typeface="Poppins"/>
                </a:rPr>
                <a:t>Gather customer data from CRM, transactions, and behavioral logs.</a:t>
              </a:r>
            </a:p>
          </p:txBody>
        </p:sp>
      </p:grpSp>
      <p:sp>
        <p:nvSpPr>
          <p:cNvPr name="TextBox 38" id="38"/>
          <p:cNvSpPr txBox="true"/>
          <p:nvPr/>
        </p:nvSpPr>
        <p:spPr>
          <a:xfrm rot="0">
            <a:off x="4470562" y="7518972"/>
            <a:ext cx="1445813" cy="1421462"/>
          </a:xfrm>
          <a:prstGeom prst="rect">
            <a:avLst/>
          </a:prstGeom>
        </p:spPr>
        <p:txBody>
          <a:bodyPr anchor="t" rtlCol="false" tIns="0" lIns="0" bIns="0" rIns="0">
            <a:spAutoFit/>
          </a:bodyPr>
          <a:lstStyle/>
          <a:p>
            <a:pPr algn="just" marL="0" indent="0" lvl="0">
              <a:lnSpc>
                <a:spcPts val="11537"/>
              </a:lnSpc>
            </a:pPr>
            <a:r>
              <a:rPr lang="en-US" sz="8944" spc="-26">
                <a:solidFill>
                  <a:srgbClr val="FFFFFF"/>
                </a:solidFill>
                <a:latin typeface="Bricolage Grotesque"/>
                <a:ea typeface="Bricolage Grotesque"/>
                <a:cs typeface="Bricolage Grotesque"/>
                <a:sym typeface="Bricolage Grotesque"/>
              </a:rPr>
              <a:t>01</a:t>
            </a:r>
          </a:p>
        </p:txBody>
      </p:sp>
      <p:grpSp>
        <p:nvGrpSpPr>
          <p:cNvPr name="Group 39" id="39"/>
          <p:cNvGrpSpPr/>
          <p:nvPr/>
        </p:nvGrpSpPr>
        <p:grpSpPr>
          <a:xfrm rot="0">
            <a:off x="6473980" y="6975138"/>
            <a:ext cx="2135924" cy="1615602"/>
            <a:chOff x="0" y="0"/>
            <a:chExt cx="2847898" cy="2154136"/>
          </a:xfrm>
        </p:grpSpPr>
        <p:sp>
          <p:nvSpPr>
            <p:cNvPr name="TextBox 40" id="40"/>
            <p:cNvSpPr txBox="true"/>
            <p:nvPr/>
          </p:nvSpPr>
          <p:spPr>
            <a:xfrm rot="0">
              <a:off x="0" y="-28575"/>
              <a:ext cx="2847898" cy="788169"/>
            </a:xfrm>
            <a:prstGeom prst="rect">
              <a:avLst/>
            </a:prstGeom>
          </p:spPr>
          <p:txBody>
            <a:bodyPr anchor="t" rtlCol="false" tIns="0" lIns="0" bIns="0" rIns="0">
              <a:spAutoFit/>
            </a:bodyPr>
            <a:lstStyle/>
            <a:p>
              <a:pPr algn="just" marL="0" indent="0" lvl="0">
                <a:lnSpc>
                  <a:spcPts val="2353"/>
                </a:lnSpc>
              </a:pPr>
              <a:r>
                <a:rPr lang="en-US" b="true" sz="1824" spc="-5">
                  <a:solidFill>
                    <a:srgbClr val="FFFFFF"/>
                  </a:solidFill>
                  <a:latin typeface="Poppins Bold"/>
                  <a:ea typeface="Poppins Bold"/>
                  <a:cs typeface="Poppins Bold"/>
                  <a:sym typeface="Poppins Bold"/>
                </a:rPr>
                <a:t>DATA PREPROCESSING</a:t>
              </a:r>
            </a:p>
          </p:txBody>
        </p:sp>
        <p:sp>
          <p:nvSpPr>
            <p:cNvPr name="TextBox 41" id="41"/>
            <p:cNvSpPr txBox="true"/>
            <p:nvPr/>
          </p:nvSpPr>
          <p:spPr>
            <a:xfrm rot="0">
              <a:off x="0" y="1046964"/>
              <a:ext cx="2847898" cy="1107172"/>
            </a:xfrm>
            <a:prstGeom prst="rect">
              <a:avLst/>
            </a:prstGeom>
          </p:spPr>
          <p:txBody>
            <a:bodyPr anchor="t" rtlCol="false" tIns="0" lIns="0" bIns="0" rIns="0">
              <a:spAutoFit/>
            </a:bodyPr>
            <a:lstStyle/>
            <a:p>
              <a:pPr algn="just" marL="0" indent="0" lvl="0">
                <a:lnSpc>
                  <a:spcPts val="2226"/>
                </a:lnSpc>
              </a:pPr>
              <a:r>
                <a:rPr lang="en-US" sz="1725" spc="-5">
                  <a:solidFill>
                    <a:srgbClr val="FFFFFF"/>
                  </a:solidFill>
                  <a:latin typeface="Poppins"/>
                  <a:ea typeface="Poppins"/>
                  <a:cs typeface="Poppins"/>
                  <a:sym typeface="Poppins"/>
                </a:rPr>
                <a:t>Clean, normalize, and transform raw data for analysis.</a:t>
              </a:r>
            </a:p>
          </p:txBody>
        </p:sp>
      </p:grpSp>
      <p:sp>
        <p:nvSpPr>
          <p:cNvPr name="TextBox 42" id="42"/>
          <p:cNvSpPr txBox="true"/>
          <p:nvPr/>
        </p:nvSpPr>
        <p:spPr>
          <a:xfrm rot="0">
            <a:off x="7425798" y="4070729"/>
            <a:ext cx="1578549" cy="1421462"/>
          </a:xfrm>
          <a:prstGeom prst="rect">
            <a:avLst/>
          </a:prstGeom>
        </p:spPr>
        <p:txBody>
          <a:bodyPr anchor="t" rtlCol="false" tIns="0" lIns="0" bIns="0" rIns="0">
            <a:spAutoFit/>
          </a:bodyPr>
          <a:lstStyle/>
          <a:p>
            <a:pPr algn="just" marL="0" indent="0" lvl="0">
              <a:lnSpc>
                <a:spcPts val="11537"/>
              </a:lnSpc>
            </a:pPr>
            <a:r>
              <a:rPr lang="en-US" sz="8944" spc="-26">
                <a:solidFill>
                  <a:srgbClr val="FFFFFF"/>
                </a:solidFill>
                <a:latin typeface="Bricolage Grotesque"/>
                <a:ea typeface="Bricolage Grotesque"/>
                <a:cs typeface="Bricolage Grotesque"/>
                <a:sym typeface="Bricolage Grotesque"/>
              </a:rPr>
              <a:t>02</a:t>
            </a:r>
          </a:p>
        </p:txBody>
      </p:sp>
      <p:grpSp>
        <p:nvGrpSpPr>
          <p:cNvPr name="Group 43" id="43"/>
          <p:cNvGrpSpPr/>
          <p:nvPr/>
        </p:nvGrpSpPr>
        <p:grpSpPr>
          <a:xfrm rot="0">
            <a:off x="9681912" y="4392470"/>
            <a:ext cx="2135924" cy="1891827"/>
            <a:chOff x="0" y="0"/>
            <a:chExt cx="2847898" cy="2522436"/>
          </a:xfrm>
        </p:grpSpPr>
        <p:sp>
          <p:nvSpPr>
            <p:cNvPr name="TextBox 44" id="44"/>
            <p:cNvSpPr txBox="true"/>
            <p:nvPr/>
          </p:nvSpPr>
          <p:spPr>
            <a:xfrm rot="0">
              <a:off x="0" y="-28575"/>
              <a:ext cx="2847898" cy="788169"/>
            </a:xfrm>
            <a:prstGeom prst="rect">
              <a:avLst/>
            </a:prstGeom>
          </p:spPr>
          <p:txBody>
            <a:bodyPr anchor="t" rtlCol="false" tIns="0" lIns="0" bIns="0" rIns="0">
              <a:spAutoFit/>
            </a:bodyPr>
            <a:lstStyle/>
            <a:p>
              <a:pPr algn="just" marL="0" indent="0" lvl="0">
                <a:lnSpc>
                  <a:spcPts val="2353"/>
                </a:lnSpc>
              </a:pPr>
              <a:r>
                <a:rPr lang="en-US" b="true" sz="1824" spc="-5">
                  <a:solidFill>
                    <a:srgbClr val="FFFFFF"/>
                  </a:solidFill>
                  <a:latin typeface="Poppins Bold"/>
                  <a:ea typeface="Poppins Bold"/>
                  <a:cs typeface="Poppins Bold"/>
                  <a:sym typeface="Poppins Bold"/>
                </a:rPr>
                <a:t>FEATURE ENGINEERING</a:t>
              </a:r>
            </a:p>
          </p:txBody>
        </p:sp>
        <p:sp>
          <p:nvSpPr>
            <p:cNvPr name="TextBox 45" id="45"/>
            <p:cNvSpPr txBox="true"/>
            <p:nvPr/>
          </p:nvSpPr>
          <p:spPr>
            <a:xfrm rot="0">
              <a:off x="0" y="1046964"/>
              <a:ext cx="2847898" cy="1475472"/>
            </a:xfrm>
            <a:prstGeom prst="rect">
              <a:avLst/>
            </a:prstGeom>
          </p:spPr>
          <p:txBody>
            <a:bodyPr anchor="t" rtlCol="false" tIns="0" lIns="0" bIns="0" rIns="0">
              <a:spAutoFit/>
            </a:bodyPr>
            <a:lstStyle/>
            <a:p>
              <a:pPr algn="just" marL="0" indent="0" lvl="0">
                <a:lnSpc>
                  <a:spcPts val="2226"/>
                </a:lnSpc>
              </a:pPr>
              <a:r>
                <a:rPr lang="en-US" sz="1725" spc="-5">
                  <a:solidFill>
                    <a:srgbClr val="FFFFFF"/>
                  </a:solidFill>
                  <a:latin typeface="Poppins"/>
                  <a:ea typeface="Poppins"/>
                  <a:cs typeface="Poppins"/>
                  <a:sym typeface="Poppins"/>
                </a:rPr>
                <a:t>Extract behavioral patterns and create predictive features.</a:t>
              </a:r>
            </a:p>
          </p:txBody>
        </p:sp>
      </p:grpSp>
      <p:sp>
        <p:nvSpPr>
          <p:cNvPr name="TextBox 46" id="46"/>
          <p:cNvSpPr txBox="true"/>
          <p:nvPr/>
        </p:nvSpPr>
        <p:spPr>
          <a:xfrm rot="0">
            <a:off x="10617138" y="7518972"/>
            <a:ext cx="1711285" cy="1421462"/>
          </a:xfrm>
          <a:prstGeom prst="rect">
            <a:avLst/>
          </a:prstGeom>
        </p:spPr>
        <p:txBody>
          <a:bodyPr anchor="t" rtlCol="false" tIns="0" lIns="0" bIns="0" rIns="0">
            <a:spAutoFit/>
          </a:bodyPr>
          <a:lstStyle/>
          <a:p>
            <a:pPr algn="just" marL="0" indent="0" lvl="0">
              <a:lnSpc>
                <a:spcPts val="11537"/>
              </a:lnSpc>
            </a:pPr>
            <a:r>
              <a:rPr lang="en-US" sz="8944" spc="-26">
                <a:solidFill>
                  <a:srgbClr val="FFFFFF"/>
                </a:solidFill>
                <a:latin typeface="Bricolage Grotesque"/>
                <a:ea typeface="Bricolage Grotesque"/>
                <a:cs typeface="Bricolage Grotesque"/>
                <a:sym typeface="Bricolage Grotesque"/>
              </a:rPr>
              <a:t>03</a:t>
            </a:r>
          </a:p>
        </p:txBody>
      </p:sp>
      <p:grpSp>
        <p:nvGrpSpPr>
          <p:cNvPr name="Group 47" id="47"/>
          <p:cNvGrpSpPr/>
          <p:nvPr/>
        </p:nvGrpSpPr>
        <p:grpSpPr>
          <a:xfrm rot="0">
            <a:off x="12886027" y="6717963"/>
            <a:ext cx="2135924" cy="1872777"/>
            <a:chOff x="0" y="0"/>
            <a:chExt cx="2847898" cy="2497036"/>
          </a:xfrm>
        </p:grpSpPr>
        <p:sp>
          <p:nvSpPr>
            <p:cNvPr name="TextBox 48" id="48"/>
            <p:cNvSpPr txBox="true"/>
            <p:nvPr/>
          </p:nvSpPr>
          <p:spPr>
            <a:xfrm rot="0">
              <a:off x="0" y="-28575"/>
              <a:ext cx="2847898" cy="394469"/>
            </a:xfrm>
            <a:prstGeom prst="rect">
              <a:avLst/>
            </a:prstGeom>
          </p:spPr>
          <p:txBody>
            <a:bodyPr anchor="t" rtlCol="false" tIns="0" lIns="0" bIns="0" rIns="0">
              <a:spAutoFit/>
            </a:bodyPr>
            <a:lstStyle/>
            <a:p>
              <a:pPr algn="just" marL="0" indent="0" lvl="0">
                <a:lnSpc>
                  <a:spcPts val="2353"/>
                </a:lnSpc>
              </a:pPr>
              <a:r>
                <a:rPr lang="en-US" b="true" sz="1824" spc="-5">
                  <a:solidFill>
                    <a:srgbClr val="FFFFFF"/>
                  </a:solidFill>
                  <a:latin typeface="Poppins Bold"/>
                  <a:ea typeface="Poppins Bold"/>
                  <a:cs typeface="Poppins Bold"/>
                  <a:sym typeface="Poppins Bold"/>
                </a:rPr>
                <a:t>MODEL &amp; WEB APP</a:t>
              </a:r>
            </a:p>
          </p:txBody>
        </p:sp>
        <p:sp>
          <p:nvSpPr>
            <p:cNvPr name="TextBox 49" id="49"/>
            <p:cNvSpPr txBox="true"/>
            <p:nvPr/>
          </p:nvSpPr>
          <p:spPr>
            <a:xfrm rot="0">
              <a:off x="0" y="653264"/>
              <a:ext cx="2847898" cy="1843772"/>
            </a:xfrm>
            <a:prstGeom prst="rect">
              <a:avLst/>
            </a:prstGeom>
          </p:spPr>
          <p:txBody>
            <a:bodyPr anchor="t" rtlCol="false" tIns="0" lIns="0" bIns="0" rIns="0">
              <a:spAutoFit/>
            </a:bodyPr>
            <a:lstStyle/>
            <a:p>
              <a:pPr algn="just" marL="0" indent="0" lvl="0">
                <a:lnSpc>
                  <a:spcPts val="2226"/>
                </a:lnSpc>
              </a:pPr>
              <a:r>
                <a:rPr lang="en-US" sz="1725" spc="-5">
                  <a:solidFill>
                    <a:srgbClr val="FFFFFF"/>
                  </a:solidFill>
                  <a:latin typeface="Poppins"/>
                  <a:ea typeface="Poppins"/>
                  <a:cs typeface="Poppins"/>
                  <a:sym typeface="Poppins"/>
                </a:rPr>
                <a:t>Train ML model, generate predictions, deploy via Flask application.</a:t>
              </a:r>
            </a:p>
          </p:txBody>
        </p:sp>
      </p:grpSp>
      <p:sp>
        <p:nvSpPr>
          <p:cNvPr name="TextBox 50" id="50"/>
          <p:cNvSpPr txBox="true"/>
          <p:nvPr/>
        </p:nvSpPr>
        <p:spPr>
          <a:xfrm rot="0">
            <a:off x="13837845" y="4070729"/>
            <a:ext cx="1578549" cy="1421462"/>
          </a:xfrm>
          <a:prstGeom prst="rect">
            <a:avLst/>
          </a:prstGeom>
        </p:spPr>
        <p:txBody>
          <a:bodyPr anchor="t" rtlCol="false" tIns="0" lIns="0" bIns="0" rIns="0">
            <a:spAutoFit/>
          </a:bodyPr>
          <a:lstStyle/>
          <a:p>
            <a:pPr algn="just" marL="0" indent="0" lvl="0">
              <a:lnSpc>
                <a:spcPts val="11537"/>
              </a:lnSpc>
            </a:pPr>
            <a:r>
              <a:rPr lang="en-US" sz="8944" spc="-26">
                <a:solidFill>
                  <a:srgbClr val="FFFFFF"/>
                </a:solidFill>
                <a:latin typeface="Bricolage Grotesque"/>
                <a:ea typeface="Bricolage Grotesque"/>
                <a:cs typeface="Bricolage Grotesque"/>
                <a:sym typeface="Bricolage Grotesque"/>
              </a:rPr>
              <a:t>04</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828142" y="1358088"/>
            <a:ext cx="47625" cy="2040668"/>
            <a:chOff x="0" y="0"/>
            <a:chExt cx="12543" cy="537460"/>
          </a:xfrm>
        </p:grpSpPr>
        <p:sp>
          <p:nvSpPr>
            <p:cNvPr name="Freeform 3" id="3"/>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3A58E4"/>
            </a:solidFill>
          </p:spPr>
        </p:sp>
        <p:sp>
          <p:nvSpPr>
            <p:cNvPr name="TextBox 4" id="4"/>
            <p:cNvSpPr txBox="true"/>
            <p:nvPr/>
          </p:nvSpPr>
          <p:spPr>
            <a:xfrm>
              <a:off x="0" y="-38100"/>
              <a:ext cx="12543" cy="57556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7828142" y="4449725"/>
            <a:ext cx="9021242" cy="379246"/>
            <a:chOff x="0" y="0"/>
            <a:chExt cx="12028323" cy="505662"/>
          </a:xfrm>
        </p:grpSpPr>
        <p:sp>
          <p:nvSpPr>
            <p:cNvPr name="TextBox 6" id="6"/>
            <p:cNvSpPr txBox="true"/>
            <p:nvPr/>
          </p:nvSpPr>
          <p:spPr>
            <a:xfrm rot="0">
              <a:off x="0" y="99408"/>
              <a:ext cx="11773903" cy="406254"/>
            </a:xfrm>
            <a:prstGeom prst="rect">
              <a:avLst/>
            </a:prstGeom>
          </p:spPr>
          <p:txBody>
            <a:bodyPr anchor="t" rtlCol="false" tIns="0" lIns="0" bIns="0" rIns="0">
              <a:spAutoFit/>
            </a:bodyPr>
            <a:lstStyle/>
            <a:p>
              <a:pPr algn="l" marL="0" indent="0" lvl="0">
                <a:lnSpc>
                  <a:spcPts val="2499"/>
                </a:lnSpc>
              </a:pPr>
              <a:r>
                <a:rPr lang="en-US" b="true" sz="1785" spc="-44">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INTERACTIVE DASHBOARD FOR CHURN PREDICTION AND INTERVENTION ANALYSIS</a:t>
              </a:r>
            </a:p>
          </p:txBody>
        </p:sp>
        <p:sp>
          <p:nvSpPr>
            <p:cNvPr name="Freeform 7" id="7"/>
            <p:cNvSpPr/>
            <p:nvPr/>
          </p:nvSpPr>
          <p:spPr>
            <a:xfrm flipH="false" flipV="false" rot="-8687136">
              <a:off x="11711303" y="44820"/>
              <a:ext cx="252200" cy="304858"/>
            </a:xfrm>
            <a:custGeom>
              <a:avLst/>
              <a:gdLst/>
              <a:ahLst/>
              <a:cxnLst/>
              <a:rect r="r" b="b" t="t" l="l"/>
              <a:pathLst>
                <a:path h="304858" w="252200">
                  <a:moveTo>
                    <a:pt x="0" y="0"/>
                  </a:moveTo>
                  <a:lnTo>
                    <a:pt x="252200" y="0"/>
                  </a:lnTo>
                  <a:lnTo>
                    <a:pt x="252200" y="304857"/>
                  </a:lnTo>
                  <a:lnTo>
                    <a:pt x="0" y="3048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8" id="8"/>
          <p:cNvGrpSpPr/>
          <p:nvPr/>
        </p:nvGrpSpPr>
        <p:grpSpPr>
          <a:xfrm rot="0">
            <a:off x="16438046" y="245225"/>
            <a:ext cx="1849954" cy="1602941"/>
            <a:chOff x="0" y="0"/>
            <a:chExt cx="2466605" cy="2137255"/>
          </a:xfrm>
        </p:grpSpPr>
        <p:grpSp>
          <p:nvGrpSpPr>
            <p:cNvPr name="Group 9" id="9"/>
            <p:cNvGrpSpPr/>
            <p:nvPr/>
          </p:nvGrpSpPr>
          <p:grpSpPr>
            <a:xfrm rot="0">
              <a:off x="0" y="0"/>
              <a:ext cx="2466605" cy="2137255"/>
              <a:chOff x="0" y="0"/>
              <a:chExt cx="787566" cy="682407"/>
            </a:xfrm>
          </p:grpSpPr>
          <p:sp>
            <p:nvSpPr>
              <p:cNvPr name="Freeform 10" id="10"/>
              <p:cNvSpPr/>
              <p:nvPr/>
            </p:nvSpPr>
            <p:spPr>
              <a:xfrm flipH="false" flipV="false" rot="0">
                <a:off x="0" y="0"/>
                <a:ext cx="787566" cy="682407"/>
              </a:xfrm>
              <a:custGeom>
                <a:avLst/>
                <a:gdLst/>
                <a:ahLst/>
                <a:cxnLst/>
                <a:rect r="r" b="b" t="t" l="l"/>
                <a:pathLst>
                  <a:path h="682407" w="787566">
                    <a:moveTo>
                      <a:pt x="0" y="0"/>
                    </a:moveTo>
                    <a:lnTo>
                      <a:pt x="787566" y="0"/>
                    </a:lnTo>
                    <a:lnTo>
                      <a:pt x="787566" y="682407"/>
                    </a:lnTo>
                    <a:lnTo>
                      <a:pt x="0" y="682407"/>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11" id="11"/>
              <p:cNvSpPr txBox="true"/>
              <p:nvPr/>
            </p:nvSpPr>
            <p:spPr>
              <a:xfrm>
                <a:off x="0" y="-38100"/>
                <a:ext cx="787566" cy="72050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2" id="12"/>
            <p:cNvSpPr txBox="true"/>
            <p:nvPr/>
          </p:nvSpPr>
          <p:spPr>
            <a:xfrm rot="0">
              <a:off x="319164" y="665474"/>
              <a:ext cx="1828278" cy="901557"/>
            </a:xfrm>
            <a:prstGeom prst="rect">
              <a:avLst/>
            </a:prstGeom>
          </p:spPr>
          <p:txBody>
            <a:bodyPr anchor="t" rtlCol="false" tIns="0" lIns="0" bIns="0" rIns="0">
              <a:spAutoFit/>
            </a:bodyPr>
            <a:lstStyle/>
            <a:p>
              <a:pPr algn="ctr" marL="0" indent="0" lvl="0">
                <a:lnSpc>
                  <a:spcPts val="4840"/>
                </a:lnSpc>
              </a:pPr>
              <a:r>
                <a:rPr lang="en-US" sz="4939" spc="-316">
                  <a:solidFill>
                    <a:srgbClr val="FFFFFF"/>
                  </a:solidFill>
                  <a:latin typeface="Bricolage Grotesque"/>
                  <a:ea typeface="Bricolage Grotesque"/>
                  <a:cs typeface="Bricolage Grotesque"/>
                  <a:sym typeface="Bricolage Grotesque"/>
                </a:rPr>
                <a:t>08</a:t>
              </a:r>
            </a:p>
          </p:txBody>
        </p:sp>
      </p:grpSp>
      <p:sp>
        <p:nvSpPr>
          <p:cNvPr name="AutoShape 13" id="13"/>
          <p:cNvSpPr/>
          <p:nvPr/>
        </p:nvSpPr>
        <p:spPr>
          <a:xfrm flipH="true">
            <a:off x="6542795" y="0"/>
            <a:ext cx="0" cy="10287000"/>
          </a:xfrm>
          <a:prstGeom prst="line">
            <a:avLst/>
          </a:prstGeom>
          <a:ln cap="rnd" w="19050">
            <a:solidFill>
              <a:srgbClr val="3A58E4"/>
            </a:solidFill>
            <a:prstDash val="solid"/>
            <a:headEnd type="none" len="sm" w="sm"/>
            <a:tailEnd type="none" len="sm" w="sm"/>
          </a:ln>
        </p:spPr>
      </p:sp>
      <p:sp>
        <p:nvSpPr>
          <p:cNvPr name="AutoShape 14" id="14"/>
          <p:cNvSpPr/>
          <p:nvPr/>
        </p:nvSpPr>
        <p:spPr>
          <a:xfrm>
            <a:off x="0" y="5320770"/>
            <a:ext cx="6542795" cy="0"/>
          </a:xfrm>
          <a:prstGeom prst="line">
            <a:avLst/>
          </a:prstGeom>
          <a:ln cap="rnd" w="19050">
            <a:solidFill>
              <a:srgbClr val="3A58E4"/>
            </a:solidFill>
            <a:prstDash val="solid"/>
            <a:headEnd type="none" len="sm" w="sm"/>
            <a:tailEnd type="none" len="sm" w="sm"/>
          </a:ln>
        </p:spPr>
      </p:sp>
      <p:grpSp>
        <p:nvGrpSpPr>
          <p:cNvPr name="Group 15" id="15"/>
          <p:cNvGrpSpPr/>
          <p:nvPr/>
        </p:nvGrpSpPr>
        <p:grpSpPr>
          <a:xfrm rot="0">
            <a:off x="0" y="0"/>
            <a:ext cx="6542795" cy="3330871"/>
            <a:chOff x="0" y="0"/>
            <a:chExt cx="1509267" cy="768352"/>
          </a:xfrm>
        </p:grpSpPr>
        <p:sp>
          <p:nvSpPr>
            <p:cNvPr name="Freeform 16" id="16"/>
            <p:cNvSpPr/>
            <p:nvPr/>
          </p:nvSpPr>
          <p:spPr>
            <a:xfrm flipH="false" flipV="false" rot="0">
              <a:off x="0" y="0"/>
              <a:ext cx="1509267" cy="768352"/>
            </a:xfrm>
            <a:custGeom>
              <a:avLst/>
              <a:gdLst/>
              <a:ahLst/>
              <a:cxnLst/>
              <a:rect r="r" b="b" t="t" l="l"/>
              <a:pathLst>
                <a:path h="768352" w="1509267">
                  <a:moveTo>
                    <a:pt x="0" y="0"/>
                  </a:moveTo>
                  <a:lnTo>
                    <a:pt x="1509267" y="0"/>
                  </a:lnTo>
                  <a:lnTo>
                    <a:pt x="1509267" y="768352"/>
                  </a:lnTo>
                  <a:lnTo>
                    <a:pt x="0" y="768352"/>
                  </a:lnTo>
                  <a:close/>
                </a:path>
              </a:pathLst>
            </a:custGeom>
            <a:blipFill>
              <a:blip r:embed="rId4"/>
              <a:stretch>
                <a:fillRect l="-5036" t="0" r="-5036" b="0"/>
              </a:stretch>
            </a:blipFill>
          </p:spPr>
        </p:sp>
      </p:grpSp>
      <p:sp>
        <p:nvSpPr>
          <p:cNvPr name="Freeform 17" id="17"/>
          <p:cNvSpPr/>
          <p:nvPr/>
        </p:nvSpPr>
        <p:spPr>
          <a:xfrm flipH="false" flipV="false" rot="0">
            <a:off x="72320" y="3330871"/>
            <a:ext cx="6416194" cy="2943429"/>
          </a:xfrm>
          <a:custGeom>
            <a:avLst/>
            <a:gdLst/>
            <a:ahLst/>
            <a:cxnLst/>
            <a:rect r="r" b="b" t="t" l="l"/>
            <a:pathLst>
              <a:path h="2943429" w="6416194">
                <a:moveTo>
                  <a:pt x="0" y="0"/>
                </a:moveTo>
                <a:lnTo>
                  <a:pt x="6416194" y="0"/>
                </a:lnTo>
                <a:lnTo>
                  <a:pt x="6416194" y="2943429"/>
                </a:lnTo>
                <a:lnTo>
                  <a:pt x="0" y="2943429"/>
                </a:lnTo>
                <a:lnTo>
                  <a:pt x="0" y="0"/>
                </a:lnTo>
                <a:close/>
              </a:path>
            </a:pathLst>
          </a:custGeom>
          <a:blipFill>
            <a:blip r:embed="rId5"/>
            <a:stretch>
              <a:fillRect l="0" t="0" r="0" b="0"/>
            </a:stretch>
          </a:blipFill>
        </p:spPr>
      </p:sp>
      <p:sp>
        <p:nvSpPr>
          <p:cNvPr name="TextBox 18" id="18"/>
          <p:cNvSpPr txBox="true"/>
          <p:nvPr/>
        </p:nvSpPr>
        <p:spPr>
          <a:xfrm rot="0">
            <a:off x="9741844" y="1781309"/>
            <a:ext cx="7107541" cy="1897894"/>
          </a:xfrm>
          <a:prstGeom prst="rect">
            <a:avLst/>
          </a:prstGeom>
        </p:spPr>
        <p:txBody>
          <a:bodyPr anchor="t" rtlCol="false" tIns="0" lIns="0" bIns="0" rIns="0">
            <a:spAutoFit/>
          </a:bodyPr>
          <a:lstStyle/>
          <a:p>
            <a:pPr algn="l" marL="0" indent="0" lvl="0">
              <a:lnSpc>
                <a:spcPts val="7233"/>
              </a:lnSpc>
            </a:pPr>
            <a:r>
              <a:rPr lang="en-US" sz="7381" spc="-472">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Frontend</a:t>
            </a:r>
          </a:p>
          <a:p>
            <a:pPr algn="l" marL="0" indent="0" lvl="0">
              <a:lnSpc>
                <a:spcPts val="7233"/>
              </a:lnSpc>
            </a:pPr>
            <a:r>
              <a:rPr lang="en-US" sz="7381" spc="-472">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View</a:t>
            </a:r>
          </a:p>
        </p:txBody>
      </p:sp>
      <p:sp>
        <p:nvSpPr>
          <p:cNvPr name="TextBox 19" id="19"/>
          <p:cNvSpPr txBox="true"/>
          <p:nvPr/>
        </p:nvSpPr>
        <p:spPr>
          <a:xfrm rot="0">
            <a:off x="7828142" y="7279715"/>
            <a:ext cx="9021242" cy="1786326"/>
          </a:xfrm>
          <a:prstGeom prst="rect">
            <a:avLst/>
          </a:prstGeom>
        </p:spPr>
        <p:txBody>
          <a:bodyPr anchor="t" rtlCol="false" tIns="0" lIns="0" bIns="0" rIns="0">
            <a:spAutoFit/>
          </a:bodyPr>
          <a:lstStyle/>
          <a:p>
            <a:pPr algn="just" marL="0" indent="0" lvl="0">
              <a:lnSpc>
                <a:spcPts val="2341"/>
              </a:lnSpc>
            </a:pPr>
            <a:r>
              <a:rPr lang="en-US" sz="1672" spc="-5">
                <a:solidFill>
                  <a:srgbClr val="3A58E4"/>
                </a:solidFill>
                <a:latin typeface="Poppins"/>
                <a:ea typeface="Poppins"/>
                <a:cs typeface="Poppins"/>
                <a:sym typeface="Poppins"/>
              </a:rPr>
              <a:t>The user interface features a clean input form capturing customer data fields including demographics, usage patterns, and behavioral metrics. The output dashboard displays churn probability percentage with color-coded risk levels, behavioral trend insights over time, and interactive intervention effect simulations. Users can explore how different retention strategies impact predicted outcomes in real-time.</a:t>
            </a:r>
          </a:p>
        </p:txBody>
      </p:sp>
      <p:sp>
        <p:nvSpPr>
          <p:cNvPr name="TextBox 20" id="20"/>
          <p:cNvSpPr txBox="true"/>
          <p:nvPr/>
        </p:nvSpPr>
        <p:spPr>
          <a:xfrm rot="0">
            <a:off x="1736067" y="8460815"/>
            <a:ext cx="3088700" cy="605226"/>
          </a:xfrm>
          <a:prstGeom prst="rect">
            <a:avLst/>
          </a:prstGeom>
        </p:spPr>
        <p:txBody>
          <a:bodyPr anchor="t" rtlCol="false" tIns="0" lIns="0" bIns="0" rIns="0">
            <a:spAutoFit/>
          </a:bodyPr>
          <a:lstStyle/>
          <a:p>
            <a:pPr algn="ctr" marL="0" indent="0" lvl="0">
              <a:lnSpc>
                <a:spcPts val="2341"/>
              </a:lnSpc>
            </a:pPr>
            <a:r>
              <a:rPr lang="en-US" sz="1672" spc="-5">
                <a:solidFill>
                  <a:srgbClr val="3A58E4"/>
                </a:solidFill>
                <a:latin typeface="Poppins"/>
                <a:ea typeface="Poppins"/>
                <a:cs typeface="Poppins"/>
                <a:sym typeface="Poppins"/>
              </a:rPr>
              <a:t>Churn probability displayed in dashboard</a:t>
            </a:r>
          </a:p>
        </p:txBody>
      </p:sp>
      <p:sp>
        <p:nvSpPr>
          <p:cNvPr name="TextBox 21" id="21"/>
          <p:cNvSpPr txBox="true"/>
          <p:nvPr/>
        </p:nvSpPr>
        <p:spPr>
          <a:xfrm rot="0">
            <a:off x="1028700" y="6269128"/>
            <a:ext cx="5116565" cy="1932325"/>
          </a:xfrm>
          <a:prstGeom prst="rect">
            <a:avLst/>
          </a:prstGeom>
        </p:spPr>
        <p:txBody>
          <a:bodyPr anchor="t" rtlCol="false" tIns="0" lIns="0" bIns="0" rIns="0">
            <a:spAutoFit/>
          </a:bodyPr>
          <a:lstStyle/>
          <a:p>
            <a:pPr algn="ctr" marL="0" indent="0" lvl="0">
              <a:lnSpc>
                <a:spcPts val="15818"/>
              </a:lnSpc>
              <a:spcBef>
                <a:spcPct val="0"/>
              </a:spcBef>
            </a:pPr>
            <a:r>
              <a:rPr lang="en-US" sz="11299" spc="-723">
                <a:gradFill>
                  <a:gsLst>
                    <a:gs pos="0">
                      <a:srgbClr val="3A58E4">
                        <a:alpha val="100000"/>
                      </a:srgbClr>
                    </a:gs>
                    <a:gs pos="100000">
                      <a:srgbClr val="293E9C">
                        <a:alpha val="100000"/>
                      </a:srgbClr>
                    </a:gs>
                  </a:gsLst>
                  <a:path path="circle">
                    <a:fillToRect l="0" r="100000" t="0" b="100000"/>
                  </a:path>
                  <a:tileRect r="0" l="-100000" b="0" t="-100000"/>
                </a:gradFill>
                <a:latin typeface="Bricolage Grotesque"/>
                <a:ea typeface="Bricolage Grotesque"/>
                <a:cs typeface="Bricolage Grotesque"/>
                <a:sym typeface="Bricolage Grotesque"/>
              </a:rPr>
              <a:t>62</a:t>
            </a:r>
            <a:r>
              <a:rPr lang="en-US" sz="11299" spc="-723">
                <a:gradFill>
                  <a:gsLst>
                    <a:gs pos="0">
                      <a:srgbClr val="3A58E4">
                        <a:alpha val="100000"/>
                      </a:srgbClr>
                    </a:gs>
                    <a:gs pos="100000">
                      <a:srgbClr val="293E9C">
                        <a:alpha val="100000"/>
                      </a:srgbClr>
                    </a:gs>
                  </a:gsLst>
                  <a:path path="circle">
                    <a:fillToRect l="0" r="100000" t="0" b="100000"/>
                  </a:path>
                  <a:tileRect r="0" l="-100000" b="0" t="-100000"/>
                </a:gradFill>
                <a:latin typeface="Bricolage Grotesque"/>
                <a:ea typeface="Bricolage Grotesque"/>
                <a:cs typeface="Bricolage Grotesque"/>
                <a:sym typeface="Bricolage Grotesque"/>
              </a:rPr>
              <a: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666284"/>
            <a:ext cx="47625" cy="2040668"/>
            <a:chOff x="0" y="0"/>
            <a:chExt cx="12543" cy="537460"/>
          </a:xfrm>
        </p:grpSpPr>
        <p:sp>
          <p:nvSpPr>
            <p:cNvPr name="Freeform 3" id="3"/>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3A58E4"/>
            </a:solidFill>
          </p:spPr>
        </p:sp>
        <p:sp>
          <p:nvSpPr>
            <p:cNvPr name="TextBox 4" id="4"/>
            <p:cNvSpPr txBox="true"/>
            <p:nvPr/>
          </p:nvSpPr>
          <p:spPr>
            <a:xfrm>
              <a:off x="0" y="-38100"/>
              <a:ext cx="12543" cy="57556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16438046" y="129"/>
            <a:ext cx="1849954" cy="1848037"/>
            <a:chOff x="0" y="0"/>
            <a:chExt cx="2466605" cy="2464050"/>
          </a:xfrm>
        </p:grpSpPr>
        <p:grpSp>
          <p:nvGrpSpPr>
            <p:cNvPr name="Group 6" id="6"/>
            <p:cNvGrpSpPr/>
            <p:nvPr/>
          </p:nvGrpSpPr>
          <p:grpSpPr>
            <a:xfrm rot="0">
              <a:off x="0" y="0"/>
              <a:ext cx="2466605" cy="2464050"/>
              <a:chOff x="0" y="0"/>
              <a:chExt cx="787566" cy="786750"/>
            </a:xfrm>
          </p:grpSpPr>
          <p:sp>
            <p:nvSpPr>
              <p:cNvPr name="Freeform 7" id="7"/>
              <p:cNvSpPr/>
              <p:nvPr/>
            </p:nvSpPr>
            <p:spPr>
              <a:xfrm flipH="false" flipV="false" rot="0">
                <a:off x="0" y="0"/>
                <a:ext cx="787566" cy="786750"/>
              </a:xfrm>
              <a:custGeom>
                <a:avLst/>
                <a:gdLst/>
                <a:ahLst/>
                <a:cxnLst/>
                <a:rect r="r" b="b" t="t" l="l"/>
                <a:pathLst>
                  <a:path h="786750" w="787566">
                    <a:moveTo>
                      <a:pt x="0" y="0"/>
                    </a:moveTo>
                    <a:lnTo>
                      <a:pt x="787566" y="0"/>
                    </a:lnTo>
                    <a:lnTo>
                      <a:pt x="787566" y="786750"/>
                    </a:lnTo>
                    <a:lnTo>
                      <a:pt x="0" y="786750"/>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8" id="8"/>
              <p:cNvSpPr txBox="true"/>
              <p:nvPr/>
            </p:nvSpPr>
            <p:spPr>
              <a:xfrm>
                <a:off x="0" y="-38100"/>
                <a:ext cx="787566" cy="82485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9" id="9"/>
            <p:cNvSpPr txBox="true"/>
            <p:nvPr/>
          </p:nvSpPr>
          <p:spPr>
            <a:xfrm rot="0">
              <a:off x="319164" y="694049"/>
              <a:ext cx="1828278" cy="1199777"/>
            </a:xfrm>
            <a:prstGeom prst="rect">
              <a:avLst/>
            </a:prstGeom>
          </p:spPr>
          <p:txBody>
            <a:bodyPr anchor="t" rtlCol="false" tIns="0" lIns="0" bIns="0" rIns="0">
              <a:spAutoFit/>
            </a:bodyPr>
            <a:lstStyle/>
            <a:p>
              <a:pPr algn="ctr" marL="0" indent="0" lvl="0">
                <a:lnSpc>
                  <a:spcPts val="6421"/>
                </a:lnSpc>
              </a:pPr>
              <a:r>
                <a:rPr lang="en-US" sz="6552" spc="-419">
                  <a:solidFill>
                    <a:srgbClr val="FFFFFF"/>
                  </a:solidFill>
                  <a:latin typeface="Bricolage Grotesque"/>
                  <a:ea typeface="Bricolage Grotesque"/>
                  <a:cs typeface="Bricolage Grotesque"/>
                  <a:sym typeface="Bricolage Grotesque"/>
                </a:rPr>
                <a:t>09</a:t>
              </a:r>
            </a:p>
          </p:txBody>
        </p:sp>
      </p:grpSp>
      <p:sp>
        <p:nvSpPr>
          <p:cNvPr name="Freeform 10" id="10"/>
          <p:cNvSpPr/>
          <p:nvPr/>
        </p:nvSpPr>
        <p:spPr>
          <a:xfrm flipH="false" flipV="false" rot="0">
            <a:off x="6377123" y="2944004"/>
            <a:ext cx="12468655" cy="6499286"/>
          </a:xfrm>
          <a:custGeom>
            <a:avLst/>
            <a:gdLst/>
            <a:ahLst/>
            <a:cxnLst/>
            <a:rect r="r" b="b" t="t" l="l"/>
            <a:pathLst>
              <a:path h="6499286" w="12468655">
                <a:moveTo>
                  <a:pt x="0" y="0"/>
                </a:moveTo>
                <a:lnTo>
                  <a:pt x="12468655" y="0"/>
                </a:lnTo>
                <a:lnTo>
                  <a:pt x="12468655" y="6499286"/>
                </a:lnTo>
                <a:lnTo>
                  <a:pt x="0" y="6499286"/>
                </a:lnTo>
                <a:lnTo>
                  <a:pt x="0" y="0"/>
                </a:lnTo>
                <a:close/>
              </a:path>
            </a:pathLst>
          </a:custGeom>
          <a:blipFill>
            <a:blip r:embed="rId2"/>
            <a:stretch>
              <a:fillRect l="0" t="0" r="0" b="0"/>
            </a:stretch>
          </a:blipFill>
        </p:spPr>
      </p:sp>
      <p:grpSp>
        <p:nvGrpSpPr>
          <p:cNvPr name="Group 11" id="11"/>
          <p:cNvGrpSpPr/>
          <p:nvPr/>
        </p:nvGrpSpPr>
        <p:grpSpPr>
          <a:xfrm rot="0">
            <a:off x="1028700" y="4407668"/>
            <a:ext cx="6730921" cy="379246"/>
            <a:chOff x="0" y="0"/>
            <a:chExt cx="8974562" cy="505662"/>
          </a:xfrm>
        </p:grpSpPr>
        <p:sp>
          <p:nvSpPr>
            <p:cNvPr name="TextBox 12" id="12"/>
            <p:cNvSpPr txBox="true"/>
            <p:nvPr/>
          </p:nvSpPr>
          <p:spPr>
            <a:xfrm rot="0">
              <a:off x="0" y="-49117"/>
              <a:ext cx="8974562" cy="554779"/>
            </a:xfrm>
            <a:prstGeom prst="rect">
              <a:avLst/>
            </a:prstGeom>
          </p:spPr>
          <p:txBody>
            <a:bodyPr anchor="t" rtlCol="false" tIns="0" lIns="0" bIns="0" rIns="0">
              <a:spAutoFit/>
            </a:bodyPr>
            <a:lstStyle/>
            <a:p>
              <a:pPr algn="l" marL="0" indent="0" lvl="0">
                <a:lnSpc>
                  <a:spcPts val="3316"/>
                </a:lnSpc>
              </a:pPr>
              <a:r>
                <a:rPr lang="en-US" b="true" sz="2368" spc="-59">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PROMPT → CODE GENERATION EXAMPLES</a:t>
              </a:r>
            </a:p>
          </p:txBody>
        </p:sp>
        <p:sp>
          <p:nvSpPr>
            <p:cNvPr name="Freeform 13" id="13"/>
            <p:cNvSpPr/>
            <p:nvPr/>
          </p:nvSpPr>
          <p:spPr>
            <a:xfrm flipH="false" flipV="false" rot="-8687136">
              <a:off x="8443725" y="44820"/>
              <a:ext cx="252200" cy="304858"/>
            </a:xfrm>
            <a:custGeom>
              <a:avLst/>
              <a:gdLst/>
              <a:ahLst/>
              <a:cxnLst/>
              <a:rect r="r" b="b" t="t" l="l"/>
              <a:pathLst>
                <a:path h="304858" w="252200">
                  <a:moveTo>
                    <a:pt x="0" y="0"/>
                  </a:moveTo>
                  <a:lnTo>
                    <a:pt x="252200" y="0"/>
                  </a:lnTo>
                  <a:lnTo>
                    <a:pt x="252200" y="304857"/>
                  </a:lnTo>
                  <a:lnTo>
                    <a:pt x="0" y="3048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sp>
        <p:nvSpPr>
          <p:cNvPr name="TextBox 14" id="14"/>
          <p:cNvSpPr txBox="true"/>
          <p:nvPr/>
        </p:nvSpPr>
        <p:spPr>
          <a:xfrm rot="0">
            <a:off x="1256766" y="1546639"/>
            <a:ext cx="5412331" cy="2489701"/>
          </a:xfrm>
          <a:prstGeom prst="rect">
            <a:avLst/>
          </a:prstGeom>
        </p:spPr>
        <p:txBody>
          <a:bodyPr anchor="t" rtlCol="false" tIns="0" lIns="0" bIns="0" rIns="0">
            <a:spAutoFit/>
          </a:bodyPr>
          <a:lstStyle/>
          <a:p>
            <a:pPr algn="l" marL="0" indent="0" lvl="0">
              <a:lnSpc>
                <a:spcPts val="9596"/>
              </a:lnSpc>
            </a:pPr>
            <a:r>
              <a:rPr lang="en-US" sz="9792" spc="-626">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Proof of Prompts</a:t>
            </a:r>
          </a:p>
        </p:txBody>
      </p:sp>
      <p:sp>
        <p:nvSpPr>
          <p:cNvPr name="TextBox 15" id="15"/>
          <p:cNvSpPr txBox="true"/>
          <p:nvPr/>
        </p:nvSpPr>
        <p:spPr>
          <a:xfrm rot="0">
            <a:off x="1028700" y="5480804"/>
            <a:ext cx="6570559" cy="3469300"/>
          </a:xfrm>
          <a:prstGeom prst="rect">
            <a:avLst/>
          </a:prstGeom>
        </p:spPr>
        <p:txBody>
          <a:bodyPr anchor="t" rtlCol="false" tIns="0" lIns="0" bIns="0" rIns="0">
            <a:spAutoFit/>
          </a:bodyPr>
          <a:lstStyle/>
          <a:p>
            <a:pPr algn="just" marL="0" indent="0" lvl="0">
              <a:lnSpc>
                <a:spcPts val="2503"/>
              </a:lnSpc>
            </a:pPr>
            <a:r>
              <a:rPr lang="en-US" sz="1788" spc="-5">
                <a:solidFill>
                  <a:srgbClr val="3A58E4"/>
                </a:solidFill>
                <a:latin typeface="Poppins"/>
                <a:ea typeface="Poppins"/>
                <a:cs typeface="Poppins"/>
                <a:sym typeface="Poppins"/>
              </a:rPr>
              <a:t>"Build a churn prediction model using behavioral features"</a:t>
            </a:r>
          </a:p>
          <a:p>
            <a:pPr algn="just" marL="0" indent="0" lvl="0">
              <a:lnSpc>
                <a:spcPts val="2503"/>
              </a:lnSpc>
            </a:pPr>
            <a:r>
              <a:rPr lang="en-US" sz="1788" spc="-5">
                <a:solidFill>
                  <a:srgbClr val="3A58E4"/>
                </a:solidFill>
                <a:latin typeface="Poppins"/>
                <a:ea typeface="Poppins"/>
                <a:cs typeface="Poppins"/>
                <a:sym typeface="Poppins"/>
              </a:rPr>
              <a:t>→ Generated: Random Forest classifier with feature importance</a:t>
            </a:r>
          </a:p>
          <a:p>
            <a:pPr algn="just" marL="0" indent="0" lvl="0">
              <a:lnSpc>
                <a:spcPts val="2503"/>
              </a:lnSpc>
            </a:pPr>
            <a:r>
              <a:rPr lang="en-US" sz="1788" spc="-5">
                <a:solidFill>
                  <a:srgbClr val="3A58E4"/>
                </a:solidFill>
                <a:latin typeface="Poppins"/>
                <a:ea typeface="Poppins"/>
                <a:cs typeface="Poppins"/>
                <a:sym typeface="Poppins"/>
              </a:rPr>
              <a:t>"Create a Flask web app for ML prediction"</a:t>
            </a:r>
          </a:p>
          <a:p>
            <a:pPr algn="just" marL="0" indent="0" lvl="0">
              <a:lnSpc>
                <a:spcPts val="2503"/>
              </a:lnSpc>
            </a:pPr>
            <a:r>
              <a:rPr lang="en-US" sz="1788" spc="-5">
                <a:solidFill>
                  <a:srgbClr val="3A58E4"/>
                </a:solidFill>
                <a:latin typeface="Poppins"/>
                <a:ea typeface="Poppins"/>
                <a:cs typeface="Poppins"/>
                <a:sym typeface="Poppins"/>
              </a:rPr>
              <a:t>→ Generated: RESTful API endpoints with model integration</a:t>
            </a:r>
          </a:p>
          <a:p>
            <a:pPr algn="just" marL="0" indent="0" lvl="0">
              <a:lnSpc>
                <a:spcPts val="2503"/>
              </a:lnSpc>
            </a:pPr>
            <a:r>
              <a:rPr lang="en-US" sz="1788" spc="-5">
                <a:solidFill>
                  <a:srgbClr val="3A58E4"/>
                </a:solidFill>
                <a:latin typeface="Poppins"/>
                <a:ea typeface="Poppins"/>
                <a:cs typeface="Poppins"/>
                <a:sym typeface="Poppins"/>
              </a:rPr>
              <a:t>"Generate frontend UI for prediction dashboard"</a:t>
            </a:r>
          </a:p>
          <a:p>
            <a:pPr algn="just" marL="0" indent="0" lvl="0">
              <a:lnSpc>
                <a:spcPts val="2503"/>
              </a:lnSpc>
            </a:pPr>
            <a:r>
              <a:rPr lang="en-US" sz="1788" spc="-5">
                <a:solidFill>
                  <a:srgbClr val="3A58E4"/>
                </a:solidFill>
                <a:latin typeface="Poppins"/>
                <a:ea typeface="Poppins"/>
                <a:cs typeface="Poppins"/>
                <a:sym typeface="Poppins"/>
              </a:rPr>
              <a:t>→ Generated: HTML/CSS forms with result display</a:t>
            </a:r>
          </a:p>
          <a:p>
            <a:pPr algn="just" marL="0" indent="0" lvl="0">
              <a:lnSpc>
                <a:spcPts val="2503"/>
              </a:lnSpc>
            </a:pPr>
            <a:r>
              <a:rPr lang="en-US" sz="1788" spc="-5">
                <a:solidFill>
                  <a:srgbClr val="3A58E4"/>
                </a:solidFill>
                <a:latin typeface="Poppins"/>
                <a:ea typeface="Poppins"/>
                <a:cs typeface="Poppins"/>
                <a:sym typeface="Poppins"/>
              </a:rPr>
              <a:t>"Implement intervention impact simulation logic"</a:t>
            </a:r>
          </a:p>
          <a:p>
            <a:pPr algn="just" marL="0" indent="0" lvl="0">
              <a:lnSpc>
                <a:spcPts val="2503"/>
              </a:lnSpc>
            </a:pPr>
            <a:r>
              <a:rPr lang="en-US" sz="1788" spc="-5">
                <a:solidFill>
                  <a:srgbClr val="3A58E4"/>
                </a:solidFill>
                <a:latin typeface="Poppins"/>
                <a:ea typeface="Poppins"/>
                <a:cs typeface="Poppins"/>
                <a:sym typeface="Poppins"/>
              </a:rPr>
              <a:t>→ Generated: Scenario analysis functions with probability adjustments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641386" y="0"/>
            <a:ext cx="4646614" cy="10287000"/>
            <a:chOff x="0" y="0"/>
            <a:chExt cx="1223800" cy="2709333"/>
          </a:xfrm>
        </p:grpSpPr>
        <p:sp>
          <p:nvSpPr>
            <p:cNvPr name="Freeform 3" id="3"/>
            <p:cNvSpPr/>
            <p:nvPr/>
          </p:nvSpPr>
          <p:spPr>
            <a:xfrm flipH="false" flipV="false" rot="0">
              <a:off x="0" y="0"/>
              <a:ext cx="1223800" cy="2709333"/>
            </a:xfrm>
            <a:custGeom>
              <a:avLst/>
              <a:gdLst/>
              <a:ahLst/>
              <a:cxnLst/>
              <a:rect r="r" b="b" t="t" l="l"/>
              <a:pathLst>
                <a:path h="2709333" w="1223800">
                  <a:moveTo>
                    <a:pt x="0" y="0"/>
                  </a:moveTo>
                  <a:lnTo>
                    <a:pt x="1223800" y="0"/>
                  </a:lnTo>
                  <a:lnTo>
                    <a:pt x="1223800" y="2709333"/>
                  </a:lnTo>
                  <a:lnTo>
                    <a:pt x="0" y="2709333"/>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4" id="4"/>
            <p:cNvSpPr txBox="true"/>
            <p:nvPr/>
          </p:nvSpPr>
          <p:spPr>
            <a:xfrm>
              <a:off x="0" y="-38100"/>
              <a:ext cx="1223800" cy="274743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15102839" y="1172167"/>
            <a:ext cx="1723707" cy="7858663"/>
            <a:chOff x="0" y="0"/>
            <a:chExt cx="2298277" cy="10478218"/>
          </a:xfrm>
        </p:grpSpPr>
        <p:sp>
          <p:nvSpPr>
            <p:cNvPr name="Freeform 6" id="6"/>
            <p:cNvSpPr/>
            <p:nvPr/>
          </p:nvSpPr>
          <p:spPr>
            <a:xfrm flipH="false" flipV="false" rot="0">
              <a:off x="689778" y="0"/>
              <a:ext cx="905696" cy="947395"/>
            </a:xfrm>
            <a:custGeom>
              <a:avLst/>
              <a:gdLst/>
              <a:ahLst/>
              <a:cxnLst/>
              <a:rect r="r" b="b" t="t" l="l"/>
              <a:pathLst>
                <a:path h="947395" w="905696">
                  <a:moveTo>
                    <a:pt x="0" y="0"/>
                  </a:moveTo>
                  <a:lnTo>
                    <a:pt x="905696" y="0"/>
                  </a:lnTo>
                  <a:lnTo>
                    <a:pt x="905696" y="947395"/>
                  </a:lnTo>
                  <a:lnTo>
                    <a:pt x="0" y="947395"/>
                  </a:lnTo>
                  <a:lnTo>
                    <a:pt x="0" y="0"/>
                  </a:lnTo>
                  <a:close/>
                </a:path>
              </a:pathLst>
            </a:custGeom>
            <a:blipFill>
              <a:blip r:embed="rId2"/>
              <a:stretch>
                <a:fillRect l="0" t="0" r="0" b="0"/>
              </a:stretch>
            </a:blipFill>
          </p:spPr>
        </p:sp>
        <p:sp>
          <p:nvSpPr>
            <p:cNvPr name="TextBox 7" id="7"/>
            <p:cNvSpPr txBox="true"/>
            <p:nvPr/>
          </p:nvSpPr>
          <p:spPr>
            <a:xfrm rot="0">
              <a:off x="0" y="1263035"/>
              <a:ext cx="2272228" cy="418685"/>
            </a:xfrm>
            <a:prstGeom prst="rect">
              <a:avLst/>
            </a:prstGeom>
          </p:spPr>
          <p:txBody>
            <a:bodyPr anchor="t" rtlCol="false" tIns="0" lIns="0" bIns="0" rIns="0">
              <a:spAutoFit/>
            </a:bodyPr>
            <a:lstStyle/>
            <a:p>
              <a:pPr algn="ctr" marL="0" indent="0" lvl="0">
                <a:lnSpc>
                  <a:spcPts val="2294"/>
                </a:lnSpc>
              </a:pPr>
              <a:r>
                <a:rPr lang="en-US" b="true" sz="2144">
                  <a:solidFill>
                    <a:srgbClr val="FFFFFF"/>
                  </a:solidFill>
                  <a:latin typeface="Poppins Bold"/>
                  <a:ea typeface="Poppins Bold"/>
                  <a:cs typeface="Poppins Bold"/>
                  <a:sym typeface="Poppins Bold"/>
                </a:rPr>
                <a:t>NovaByte</a:t>
              </a:r>
            </a:p>
          </p:txBody>
        </p:sp>
        <p:sp>
          <p:nvSpPr>
            <p:cNvPr name="TextBox 8" id="8"/>
            <p:cNvSpPr txBox="true"/>
            <p:nvPr/>
          </p:nvSpPr>
          <p:spPr>
            <a:xfrm rot="0">
              <a:off x="13024" y="1691245"/>
              <a:ext cx="2272228" cy="418685"/>
            </a:xfrm>
            <a:prstGeom prst="rect">
              <a:avLst/>
            </a:prstGeom>
          </p:spPr>
          <p:txBody>
            <a:bodyPr anchor="t" rtlCol="false" tIns="0" lIns="0" bIns="0" rIns="0">
              <a:spAutoFit/>
            </a:bodyPr>
            <a:lstStyle/>
            <a:p>
              <a:pPr algn="ctr" marL="0" indent="0" lvl="0">
                <a:lnSpc>
                  <a:spcPts val="2294"/>
                </a:lnSpc>
              </a:pPr>
              <a:r>
                <a:rPr lang="en-US" sz="2144">
                  <a:solidFill>
                    <a:srgbClr val="FFFFFF"/>
                  </a:solidFill>
                  <a:latin typeface="Poppins"/>
                  <a:ea typeface="Poppins"/>
                  <a:cs typeface="Poppins"/>
                  <a:sym typeface="Poppins"/>
                </a:rPr>
                <a:t>Analytics</a:t>
              </a:r>
            </a:p>
          </p:txBody>
        </p:sp>
        <p:sp>
          <p:nvSpPr>
            <p:cNvPr name="TextBox 9" id="9"/>
            <p:cNvSpPr txBox="true"/>
            <p:nvPr/>
          </p:nvSpPr>
          <p:spPr>
            <a:xfrm rot="0">
              <a:off x="13024" y="9631322"/>
              <a:ext cx="2272228" cy="418685"/>
            </a:xfrm>
            <a:prstGeom prst="rect">
              <a:avLst/>
            </a:prstGeom>
          </p:spPr>
          <p:txBody>
            <a:bodyPr anchor="t" rtlCol="false" tIns="0" lIns="0" bIns="0" rIns="0">
              <a:spAutoFit/>
            </a:bodyPr>
            <a:lstStyle/>
            <a:p>
              <a:pPr algn="ctr" marL="0" indent="0" lvl="0">
                <a:lnSpc>
                  <a:spcPts val="2294"/>
                </a:lnSpc>
              </a:pPr>
              <a:r>
                <a:rPr lang="en-US" b="true" sz="2144">
                  <a:solidFill>
                    <a:srgbClr val="FFFFFF"/>
                  </a:solidFill>
                  <a:latin typeface="Poppins Bold"/>
                  <a:ea typeface="Poppins Bold"/>
                  <a:cs typeface="Poppins Bold"/>
                  <a:sym typeface="Poppins Bold"/>
                </a:rPr>
                <a:t>10</a:t>
              </a:r>
            </a:p>
          </p:txBody>
        </p:sp>
        <p:sp>
          <p:nvSpPr>
            <p:cNvPr name="TextBox 10" id="10"/>
            <p:cNvSpPr txBox="true"/>
            <p:nvPr/>
          </p:nvSpPr>
          <p:spPr>
            <a:xfrm rot="0">
              <a:off x="26049" y="10059532"/>
              <a:ext cx="2272228" cy="418685"/>
            </a:xfrm>
            <a:prstGeom prst="rect">
              <a:avLst/>
            </a:prstGeom>
          </p:spPr>
          <p:txBody>
            <a:bodyPr anchor="t" rtlCol="false" tIns="0" lIns="0" bIns="0" rIns="0">
              <a:spAutoFit/>
            </a:bodyPr>
            <a:lstStyle/>
            <a:p>
              <a:pPr algn="ctr" marL="0" indent="0" lvl="0">
                <a:lnSpc>
                  <a:spcPts val="2294"/>
                </a:lnSpc>
              </a:pPr>
              <a:r>
                <a:rPr lang="en-US" sz="2144">
                  <a:solidFill>
                    <a:srgbClr val="FFFFFF"/>
                  </a:solidFill>
                  <a:latin typeface="Poppins"/>
                  <a:ea typeface="Poppins"/>
                  <a:cs typeface="Poppins"/>
                  <a:sym typeface="Poppins"/>
                </a:rPr>
                <a:t>of 10</a:t>
              </a:r>
            </a:p>
          </p:txBody>
        </p:sp>
      </p:grpSp>
      <p:grpSp>
        <p:nvGrpSpPr>
          <p:cNvPr name="Group 11" id="11"/>
          <p:cNvGrpSpPr/>
          <p:nvPr/>
        </p:nvGrpSpPr>
        <p:grpSpPr>
          <a:xfrm rot="0">
            <a:off x="8986465" y="0"/>
            <a:ext cx="4378150" cy="10287000"/>
            <a:chOff x="0" y="0"/>
            <a:chExt cx="678290" cy="1593725"/>
          </a:xfrm>
        </p:grpSpPr>
        <p:sp>
          <p:nvSpPr>
            <p:cNvPr name="Freeform 12" id="12"/>
            <p:cNvSpPr/>
            <p:nvPr/>
          </p:nvSpPr>
          <p:spPr>
            <a:xfrm flipH="false" flipV="false" rot="0">
              <a:off x="0" y="0"/>
              <a:ext cx="678290" cy="1593725"/>
            </a:xfrm>
            <a:custGeom>
              <a:avLst/>
              <a:gdLst/>
              <a:ahLst/>
              <a:cxnLst/>
              <a:rect r="r" b="b" t="t" l="l"/>
              <a:pathLst>
                <a:path h="1593725" w="678290">
                  <a:moveTo>
                    <a:pt x="0" y="0"/>
                  </a:moveTo>
                  <a:lnTo>
                    <a:pt x="678290" y="0"/>
                  </a:lnTo>
                  <a:lnTo>
                    <a:pt x="678290" y="1593725"/>
                  </a:lnTo>
                  <a:lnTo>
                    <a:pt x="0" y="1593725"/>
                  </a:lnTo>
                  <a:close/>
                </a:path>
              </a:pathLst>
            </a:custGeom>
            <a:blipFill>
              <a:blip r:embed="rId3"/>
              <a:stretch>
                <a:fillRect l="-16964" t="0" r="-16964" b="0"/>
              </a:stretch>
            </a:blipFill>
          </p:spPr>
        </p:sp>
      </p:grpSp>
      <p:sp>
        <p:nvSpPr>
          <p:cNvPr name="AutoShape 13" id="13"/>
          <p:cNvSpPr/>
          <p:nvPr/>
        </p:nvSpPr>
        <p:spPr>
          <a:xfrm>
            <a:off x="13503000" y="0"/>
            <a:ext cx="0" cy="10287000"/>
          </a:xfrm>
          <a:prstGeom prst="line">
            <a:avLst/>
          </a:prstGeom>
          <a:ln cap="rnd" w="19050">
            <a:solidFill>
              <a:srgbClr val="3A58E4"/>
            </a:solidFill>
            <a:prstDash val="solid"/>
            <a:headEnd type="none" len="sm" w="sm"/>
            <a:tailEnd type="none" len="sm" w="sm"/>
          </a:ln>
        </p:spPr>
      </p:sp>
      <p:sp>
        <p:nvSpPr>
          <p:cNvPr name="TextBox 14" id="14"/>
          <p:cNvSpPr txBox="true"/>
          <p:nvPr/>
        </p:nvSpPr>
        <p:spPr>
          <a:xfrm rot="0">
            <a:off x="14243920" y="5570824"/>
            <a:ext cx="3441546" cy="1221257"/>
          </a:xfrm>
          <a:prstGeom prst="rect">
            <a:avLst/>
          </a:prstGeom>
        </p:spPr>
        <p:txBody>
          <a:bodyPr anchor="t" rtlCol="false" tIns="0" lIns="0" bIns="0" rIns="0">
            <a:spAutoFit/>
          </a:bodyPr>
          <a:lstStyle/>
          <a:p>
            <a:pPr algn="just" marL="0" indent="0" lvl="0">
              <a:lnSpc>
                <a:spcPts val="2393"/>
              </a:lnSpc>
            </a:pPr>
            <a:r>
              <a:rPr lang="en-US" sz="1709" spc="-5">
                <a:solidFill>
                  <a:srgbClr val="FFFFFF"/>
                </a:solidFill>
                <a:latin typeface="Poppins"/>
                <a:ea typeface="Poppins"/>
                <a:cs typeface="Poppins"/>
                <a:sym typeface="Poppins"/>
              </a:rPr>
              <a:t>• scikit-learn documentation</a:t>
            </a:r>
          </a:p>
          <a:p>
            <a:pPr algn="just" marL="0" indent="0" lvl="0">
              <a:lnSpc>
                <a:spcPts val="2393"/>
              </a:lnSpc>
            </a:pPr>
            <a:r>
              <a:rPr lang="en-US" sz="1709" spc="-5">
                <a:solidFill>
                  <a:srgbClr val="FFFFFF"/>
                </a:solidFill>
                <a:latin typeface="Poppins"/>
                <a:ea typeface="Poppins"/>
                <a:cs typeface="Poppins"/>
                <a:sym typeface="Poppins"/>
              </a:rPr>
              <a:t>• Flask documentation</a:t>
            </a:r>
          </a:p>
          <a:p>
            <a:pPr algn="just" marL="0" indent="0" lvl="0">
              <a:lnSpc>
                <a:spcPts val="2393"/>
              </a:lnSpc>
            </a:pPr>
            <a:r>
              <a:rPr lang="en-US" sz="1709" spc="-5">
                <a:solidFill>
                  <a:srgbClr val="FFFFFF"/>
                </a:solidFill>
                <a:latin typeface="Poppins"/>
                <a:ea typeface="Poppins"/>
                <a:cs typeface="Poppins"/>
                <a:sym typeface="Poppins"/>
              </a:rPr>
              <a:t>• Kaggle datasets</a:t>
            </a:r>
          </a:p>
          <a:p>
            <a:pPr algn="just" marL="0" indent="0" lvl="0">
              <a:lnSpc>
                <a:spcPts val="2393"/>
              </a:lnSpc>
            </a:pPr>
            <a:r>
              <a:rPr lang="en-US" sz="1709" spc="-5">
                <a:solidFill>
                  <a:srgbClr val="FFFFFF"/>
                </a:solidFill>
                <a:latin typeface="Poppins"/>
                <a:ea typeface="Poppins"/>
                <a:cs typeface="Poppins"/>
                <a:sym typeface="Poppins"/>
              </a:rPr>
              <a:t>• Python official documentation</a:t>
            </a:r>
          </a:p>
        </p:txBody>
      </p:sp>
      <p:sp>
        <p:nvSpPr>
          <p:cNvPr name="TextBox 15" id="15"/>
          <p:cNvSpPr txBox="true"/>
          <p:nvPr/>
        </p:nvSpPr>
        <p:spPr>
          <a:xfrm rot="0">
            <a:off x="1028700" y="857250"/>
            <a:ext cx="6671890" cy="1460398"/>
          </a:xfrm>
          <a:prstGeom prst="rect">
            <a:avLst/>
          </a:prstGeom>
        </p:spPr>
        <p:txBody>
          <a:bodyPr anchor="t" rtlCol="false" tIns="0" lIns="0" bIns="0" rIns="0">
            <a:spAutoFit/>
          </a:bodyPr>
          <a:lstStyle/>
          <a:p>
            <a:pPr algn="l" marL="0" indent="0" lvl="0">
              <a:lnSpc>
                <a:spcPts val="11905"/>
              </a:lnSpc>
              <a:spcBef>
                <a:spcPct val="0"/>
              </a:spcBef>
            </a:pPr>
            <a:r>
              <a:rPr lang="en-US" b="true" sz="8504" spc="-544">
                <a:gradFill>
                  <a:gsLst>
                    <a:gs pos="0">
                      <a:srgbClr val="293E9C">
                        <a:alpha val="100000"/>
                      </a:srgbClr>
                    </a:gs>
                    <a:gs pos="100000">
                      <a:srgbClr val="3A58E4">
                        <a:alpha val="100000"/>
                      </a:srgbClr>
                    </a:gs>
                  </a:gsLst>
                  <a:path path="circle">
                    <a:fillToRect l="0" r="100000" t="0" b="100000"/>
                  </a:path>
                  <a:tileRect r="0" l="-100000" b="0" t="-100000"/>
                </a:gradFill>
                <a:latin typeface="Canva Sans Bold"/>
                <a:ea typeface="Canva Sans Bold"/>
                <a:cs typeface="Canva Sans Bold"/>
                <a:sym typeface="Canva Sans Bold"/>
              </a:rPr>
              <a:t>Thank You!</a:t>
            </a:r>
          </a:p>
        </p:txBody>
      </p:sp>
      <p:sp>
        <p:nvSpPr>
          <p:cNvPr name="TextBox 16" id="16"/>
          <p:cNvSpPr txBox="true"/>
          <p:nvPr/>
        </p:nvSpPr>
        <p:spPr>
          <a:xfrm rot="0">
            <a:off x="1028700" y="2316167"/>
            <a:ext cx="6671890" cy="2180870"/>
          </a:xfrm>
          <a:prstGeom prst="rect">
            <a:avLst/>
          </a:prstGeom>
        </p:spPr>
        <p:txBody>
          <a:bodyPr anchor="t" rtlCol="false" tIns="0" lIns="0" bIns="0" rIns="0">
            <a:spAutoFit/>
          </a:bodyPr>
          <a:lstStyle/>
          <a:p>
            <a:pPr algn="just" marL="0" indent="0" lvl="0">
              <a:lnSpc>
                <a:spcPts val="8339"/>
              </a:lnSpc>
            </a:pPr>
            <a:r>
              <a:rPr lang="en-US" sz="8510" spc="-544">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References &amp;</a:t>
            </a:r>
          </a:p>
          <a:p>
            <a:pPr algn="just" marL="0" indent="0" lvl="0">
              <a:lnSpc>
                <a:spcPts val="8339"/>
              </a:lnSpc>
            </a:pPr>
            <a:r>
              <a:rPr lang="en-US" sz="8510" spc="-544">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Key Resources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DAHG5_jx1NM</dc:identifier>
  <dcterms:modified xsi:type="dcterms:W3CDTF">2011-08-01T06:04:30Z</dcterms:modified>
  <cp:revision>1</cp:revision>
  <dc:title>Churn Insight Studio: NovaByte Analytics</dc:title>
</cp:coreProperties>
</file>