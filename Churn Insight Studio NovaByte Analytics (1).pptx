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Poppins" charset="1" panose="00000500000000000000"/>
      <p:regular r:id="rId17"/>
    </p:embeddedFont>
    <p:embeddedFont>
      <p:font typeface="Bricolage Grotesque" charset="1" panose="020B060504040200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721096" y="-1183313"/>
            <a:ext cx="9217842" cy="13809501"/>
          </a:xfrm>
          <a:custGeom>
            <a:avLst/>
            <a:gdLst/>
            <a:ahLst/>
            <a:cxnLst/>
            <a:rect r="r" b="b" t="t" l="l"/>
            <a:pathLst>
              <a:path h="13809501" w="9217842">
                <a:moveTo>
                  <a:pt x="0" y="0"/>
                </a:moveTo>
                <a:lnTo>
                  <a:pt x="9217842" y="0"/>
                </a:lnTo>
                <a:lnTo>
                  <a:pt x="9217842" y="13809501"/>
                </a:lnTo>
                <a:lnTo>
                  <a:pt x="0" y="13809501"/>
                </a:lnTo>
                <a:lnTo>
                  <a:pt x="0" y="0"/>
                </a:lnTo>
                <a:close/>
              </a:path>
            </a:pathLst>
          </a:custGeom>
          <a:blipFill>
            <a:blip r:embed="rId2"/>
            <a:stretch>
              <a:fillRect l="0" t="0" r="0" b="0"/>
            </a:stretch>
          </a:blipFill>
        </p:spPr>
      </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3320099" y="7330105"/>
            <a:ext cx="2772573" cy="2104426"/>
            <a:chOff x="0" y="0"/>
            <a:chExt cx="3696764" cy="2805901"/>
          </a:xfrm>
        </p:grpSpPr>
        <p:grpSp>
          <p:nvGrpSpPr>
            <p:cNvPr name="Group 8" id="8"/>
            <p:cNvGrpSpPr/>
            <p:nvPr/>
          </p:nvGrpSpPr>
          <p:grpSpPr>
            <a:xfrm rot="0">
              <a:off x="0" y="385418"/>
              <a:ext cx="134591" cy="13459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0" id="10"/>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sp>
          <p:nvSpPr>
            <p:cNvPr name="TextBox 11" id="11"/>
            <p:cNvSpPr txBox="true"/>
            <p:nvPr/>
          </p:nvSpPr>
          <p:spPr>
            <a:xfrm rot="0">
              <a:off x="506484" y="47625"/>
              <a:ext cx="2749098"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PRESENTED BY</a:t>
              </a:r>
            </a:p>
          </p:txBody>
        </p:sp>
        <p:sp>
          <p:nvSpPr>
            <p:cNvPr name="TextBox 12" id="12"/>
            <p:cNvSpPr txBox="true"/>
            <p:nvPr/>
          </p:nvSpPr>
          <p:spPr>
            <a:xfrm rot="0">
              <a:off x="506484" y="536670"/>
              <a:ext cx="3190280" cy="690116"/>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Gadi Poojitha Sharini</a:t>
              </a:r>
            </a:p>
          </p:txBody>
        </p:sp>
        <p:sp>
          <p:nvSpPr>
            <p:cNvPr name="TextBox 13" id="13"/>
            <p:cNvSpPr txBox="true"/>
            <p:nvPr/>
          </p:nvSpPr>
          <p:spPr>
            <a:xfrm rot="0">
              <a:off x="506484" y="1328908"/>
              <a:ext cx="2749098" cy="377279"/>
            </a:xfrm>
            <a:prstGeom prst="rect">
              <a:avLst/>
            </a:prstGeom>
          </p:spPr>
          <p:txBody>
            <a:bodyPr anchor="t" rtlCol="false" tIns="0" lIns="0" bIns="0" rIns="0">
              <a:spAutoFit/>
            </a:bodyPr>
            <a:lstStyle/>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2303A54011</a:t>
              </a:r>
            </a:p>
          </p:txBody>
        </p:sp>
        <p:sp>
          <p:nvSpPr>
            <p:cNvPr name="TextBox 14" id="14"/>
            <p:cNvSpPr txBox="true"/>
            <p:nvPr/>
          </p:nvSpPr>
          <p:spPr>
            <a:xfrm rot="0">
              <a:off x="506484" y="1806966"/>
              <a:ext cx="3190280" cy="998935"/>
            </a:xfrm>
            <a:prstGeom prst="rect">
              <a:avLst/>
            </a:prstGeom>
          </p:spPr>
          <p:txBody>
            <a:bodyPr anchor="t" rtlCol="false" tIns="0" lIns="0" bIns="0" rIns="0">
              <a:spAutoFit/>
            </a:bodyPr>
            <a:lstStyle/>
            <a:p>
              <a:pPr algn="l">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Anjali shinde</a:t>
              </a:r>
            </a:p>
            <a:p>
              <a:pPr algn="l">
                <a:lnSpc>
                  <a:spcPts val="1869"/>
                </a:lnSpc>
              </a:pPr>
            </a:p>
            <a:p>
              <a:pPr algn="l" marL="0" indent="0" lvl="0">
                <a:lnSpc>
                  <a:spcPts val="1869"/>
                </a:lnSpc>
              </a:pPr>
              <a:r>
                <a:rPr lang="en-US" sz="214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2303A54037</a:t>
              </a:r>
            </a:p>
          </p:txBody>
        </p:sp>
        <p:grpSp>
          <p:nvGrpSpPr>
            <p:cNvPr name="Group 15" id="15"/>
            <p:cNvGrpSpPr/>
            <p:nvPr/>
          </p:nvGrpSpPr>
          <p:grpSpPr>
            <a:xfrm rot="0">
              <a:off x="0" y="1661082"/>
              <a:ext cx="134591" cy="1345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76200" y="104775"/>
                <a:ext cx="660400" cy="631825"/>
              </a:xfrm>
              <a:prstGeom prst="rect">
                <a:avLst/>
              </a:prstGeom>
            </p:spPr>
            <p:txBody>
              <a:bodyPr anchor="ctr" rtlCol="false" tIns="50800" lIns="50800" bIns="50800" rIns="50800"/>
              <a:lstStyle/>
              <a:p>
                <a:pPr algn="ctr" marL="0" indent="0" lvl="0">
                  <a:lnSpc>
                    <a:spcPts val="1308"/>
                  </a:lnSpc>
                </a:pPr>
              </a:p>
            </p:txBody>
          </p:sp>
        </p:grpSp>
      </p:grpSp>
      <p:sp>
        <p:nvSpPr>
          <p:cNvPr name="TextBox 18" id="18"/>
          <p:cNvSpPr txBox="true"/>
          <p:nvPr/>
        </p:nvSpPr>
        <p:spPr>
          <a:xfrm rot="0">
            <a:off x="3320099" y="955532"/>
            <a:ext cx="5996813" cy="4263982"/>
          </a:xfrm>
          <a:prstGeom prst="rect">
            <a:avLst/>
          </a:prstGeom>
        </p:spPr>
        <p:txBody>
          <a:bodyPr anchor="t" rtlCol="false" tIns="0" lIns="0" bIns="0" rIns="0">
            <a:spAutoFit/>
          </a:bodyPr>
          <a:lstStyle/>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Customer Churn</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Prediction</a:t>
            </a:r>
          </a:p>
          <a:p>
            <a:pPr algn="l" marL="0" indent="0" lvl="0">
              <a:lnSpc>
                <a:spcPts val="8279"/>
              </a:lnSpc>
            </a:pPr>
            <a:r>
              <a:rPr lang="en-US" sz="8448" spc="-54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System</a:t>
            </a:r>
          </a:p>
        </p:txBody>
      </p:sp>
      <p:sp>
        <p:nvSpPr>
          <p:cNvPr name="TextBox 19" id="19"/>
          <p:cNvSpPr txBox="true"/>
          <p:nvPr/>
        </p:nvSpPr>
        <p:spPr>
          <a:xfrm rot="0">
            <a:off x="3320099" y="5923409"/>
            <a:ext cx="5696631" cy="747972"/>
          </a:xfrm>
          <a:prstGeom prst="rect">
            <a:avLst/>
          </a:prstGeom>
        </p:spPr>
        <p:txBody>
          <a:bodyPr anchor="t" rtlCol="false" tIns="0" lIns="0" bIns="0" rIns="0">
            <a:spAutoFit/>
          </a:bodyPr>
          <a:lstStyle/>
          <a:p>
            <a:pPr algn="just" marL="0" indent="0" lvl="0">
              <a:lnSpc>
                <a:spcPts val="2967"/>
              </a:lnSpc>
            </a:pPr>
            <a:r>
              <a:rPr lang="en-US" sz="2318" spc="-6">
                <a:solidFill>
                  <a:srgbClr val="3A58E4"/>
                </a:solidFill>
                <a:latin typeface="Poppins"/>
                <a:ea typeface="Poppins"/>
                <a:cs typeface="Poppins"/>
                <a:sym typeface="Poppins"/>
              </a:rPr>
              <a:t>With Behavioral Analysis | Data Science Project</a:t>
            </a:r>
          </a:p>
        </p:txBody>
      </p:sp>
      <p:sp>
        <p:nvSpPr>
          <p:cNvPr name="TextBox 20" id="20"/>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NovaByte</a:t>
            </a:r>
          </a:p>
        </p:txBody>
      </p:sp>
      <p:sp>
        <p:nvSpPr>
          <p:cNvPr name="TextBox 21" id="21"/>
          <p:cNvSpPr txBox="true"/>
          <p:nvPr/>
        </p:nvSpPr>
        <p:spPr>
          <a:xfrm rot="0">
            <a:off x="360740" y="2310991"/>
            <a:ext cx="1704171" cy="342132"/>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Analytics</a:t>
            </a:r>
          </a:p>
        </p:txBody>
      </p:sp>
      <p:grpSp>
        <p:nvGrpSpPr>
          <p:cNvPr name="Group 22" id="22"/>
          <p:cNvGrpSpPr/>
          <p:nvPr/>
        </p:nvGrpSpPr>
        <p:grpSpPr>
          <a:xfrm rot="0">
            <a:off x="360740" y="8287049"/>
            <a:ext cx="1713939" cy="684264"/>
            <a:chOff x="0" y="0"/>
            <a:chExt cx="2285252" cy="912352"/>
          </a:xfrm>
        </p:grpSpPr>
        <p:sp>
          <p:nvSpPr>
            <p:cNvPr name="TextBox 23" id="23"/>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2025</a:t>
              </a:r>
            </a:p>
          </p:txBody>
        </p:sp>
        <p:sp>
          <p:nvSpPr>
            <p:cNvPr name="TextBox 24" id="24"/>
            <p:cNvSpPr txBox="true"/>
            <p:nvPr/>
          </p:nvSpPr>
          <p:spPr>
            <a:xfrm rot="0">
              <a:off x="13024" y="456176"/>
              <a:ext cx="2272228" cy="456176"/>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Poppins"/>
                  <a:ea typeface="Poppins"/>
                  <a:cs typeface="Poppins"/>
                  <a:sym typeface="Poppins"/>
                </a:rPr>
                <a:t>Project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58088"/>
            <a:ext cx="5445624" cy="2370056"/>
            <a:chOff x="0" y="0"/>
            <a:chExt cx="7260833" cy="3160074"/>
          </a:xfrm>
        </p:grpSpPr>
        <p:sp>
          <p:nvSpPr>
            <p:cNvPr name="TextBox 3" id="3"/>
            <p:cNvSpPr txBox="true"/>
            <p:nvPr/>
          </p:nvSpPr>
          <p:spPr>
            <a:xfrm rot="0">
              <a:off x="304088" y="1655158"/>
              <a:ext cx="6956745" cy="1504916"/>
            </a:xfrm>
            <a:prstGeom prst="rect">
              <a:avLst/>
            </a:prstGeom>
          </p:spPr>
          <p:txBody>
            <a:bodyPr anchor="t" rtlCol="false" tIns="0" lIns="0" bIns="0" rIns="0">
              <a:spAutoFit/>
            </a:bodyPr>
            <a:lstStyle/>
            <a:p>
              <a:pPr algn="l" marL="0" indent="0" lvl="0">
                <a:lnSpc>
                  <a:spcPts val="8100"/>
                </a:lnSpc>
              </a:pPr>
              <a:r>
                <a:rPr lang="en-US" sz="8265" spc="-52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Introduction</a:t>
              </a:r>
            </a:p>
          </p:txBody>
        </p:sp>
        <p:grpSp>
          <p:nvGrpSpPr>
            <p:cNvPr name="Group 4" id="4"/>
            <p:cNvGrpSpPr/>
            <p:nvPr/>
          </p:nvGrpSpPr>
          <p:grpSpPr>
            <a:xfrm rot="0">
              <a:off x="0" y="0"/>
              <a:ext cx="63500" cy="2720890"/>
              <a:chOff x="0" y="0"/>
              <a:chExt cx="12543" cy="537460"/>
            </a:xfrm>
          </p:grpSpPr>
          <p:sp>
            <p:nvSpPr>
              <p:cNvPr name="Freeform 5" id="5"/>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6" id="6"/>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grpSp>
        <p:nvGrpSpPr>
          <p:cNvPr name="Group 7" id="7"/>
          <p:cNvGrpSpPr/>
          <p:nvPr/>
        </p:nvGrpSpPr>
        <p:grpSpPr>
          <a:xfrm rot="0">
            <a:off x="1028700" y="4353838"/>
            <a:ext cx="8201025" cy="338282"/>
            <a:chOff x="0" y="0"/>
            <a:chExt cx="10934700" cy="451042"/>
          </a:xfrm>
        </p:grpSpPr>
        <p:sp>
          <p:nvSpPr>
            <p:cNvPr name="TextBox 8" id="8"/>
            <p:cNvSpPr txBox="true"/>
            <p:nvPr/>
          </p:nvSpPr>
          <p:spPr>
            <a:xfrm rot="0">
              <a:off x="0" y="-30011"/>
              <a:ext cx="10820400" cy="481053"/>
            </a:xfrm>
            <a:prstGeom prst="rect">
              <a:avLst/>
            </a:prstGeom>
          </p:spPr>
          <p:txBody>
            <a:bodyPr anchor="t" rtlCol="false" tIns="0" lIns="0" bIns="0" rIns="0">
              <a:spAutoFit/>
            </a:bodyPr>
            <a:lstStyle/>
            <a:p>
              <a:pPr algn="l" marL="0" indent="0" lvl="0">
                <a:lnSpc>
                  <a:spcPts val="2951"/>
                </a:lnSpc>
              </a:pPr>
              <a:r>
                <a:rPr lang="en-US" b="true" sz="2108" spc="-52">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UNDERSTANDING CUSTOMER CHURN AND ITS BUSINESS IMPACT</a:t>
              </a:r>
            </a:p>
          </p:txBody>
        </p:sp>
      </p:grpSp>
      <p:sp>
        <p:nvSpPr>
          <p:cNvPr name="TextBox 9" id="9"/>
          <p:cNvSpPr txBox="true"/>
          <p:nvPr/>
        </p:nvSpPr>
        <p:spPr>
          <a:xfrm rot="0">
            <a:off x="1028700" y="5135612"/>
            <a:ext cx="8201025" cy="4122688"/>
          </a:xfrm>
          <a:prstGeom prst="rect">
            <a:avLst/>
          </a:prstGeom>
        </p:spPr>
        <p:txBody>
          <a:bodyPr anchor="t" rtlCol="false" tIns="0" lIns="0" bIns="0" rIns="0">
            <a:spAutoFit/>
          </a:bodyPr>
          <a:lstStyle/>
          <a:p>
            <a:pPr algn="just" marL="0" indent="0" lvl="0">
              <a:lnSpc>
                <a:spcPts val="2715"/>
              </a:lnSpc>
            </a:pPr>
            <a:r>
              <a:rPr lang="en-US" sz="1939" spc="-5">
                <a:solidFill>
                  <a:srgbClr val="3A58E4"/>
                </a:solidFill>
                <a:latin typeface="Poppins"/>
                <a:ea typeface="Poppins"/>
                <a:cs typeface="Poppins"/>
                <a:sym typeface="Poppins"/>
              </a:rPr>
              <a:t>What is customer churn?</a:t>
            </a:r>
          </a:p>
          <a:p>
            <a:pPr algn="just" marL="0" indent="0" lvl="0">
              <a:lnSpc>
                <a:spcPts val="2715"/>
              </a:lnSpc>
            </a:pPr>
            <a:r>
              <a:rPr lang="en-US" sz="1939" spc="-5">
                <a:solidFill>
                  <a:srgbClr val="3A58E4"/>
                </a:solidFill>
                <a:latin typeface="Poppins"/>
                <a:ea typeface="Poppins"/>
                <a:cs typeface="Poppins"/>
                <a:sym typeface="Poppins"/>
              </a:rPr>
              <a:t>Customer churn refers to when customers stop doing business with a company, representing lost revenue and growth potential.</a:t>
            </a:r>
          </a:p>
          <a:p>
            <a:pPr algn="just" marL="0" indent="0" lvl="0">
              <a:lnSpc>
                <a:spcPts val="2715"/>
              </a:lnSpc>
            </a:pPr>
            <a:r>
              <a:rPr lang="en-US" sz="1939" spc="-5">
                <a:solidFill>
                  <a:srgbClr val="3A58E4"/>
                </a:solidFill>
                <a:latin typeface="Poppins"/>
                <a:ea typeface="Poppins"/>
                <a:cs typeface="Poppins"/>
                <a:sym typeface="Poppins"/>
              </a:rPr>
              <a:t>Why predicting churn matters</a:t>
            </a:r>
          </a:p>
          <a:p>
            <a:pPr algn="just" marL="0" indent="0" lvl="0">
              <a:lnSpc>
                <a:spcPts val="2715"/>
              </a:lnSpc>
            </a:pPr>
            <a:r>
              <a:rPr lang="en-US" sz="1939" spc="-5">
                <a:solidFill>
                  <a:srgbClr val="3A58E4"/>
                </a:solidFill>
                <a:latin typeface="Poppins"/>
                <a:ea typeface="Poppins"/>
                <a:cs typeface="Poppins"/>
                <a:sym typeface="Poppins"/>
              </a:rPr>
              <a:t>Early identification enables proactive retention strategies, reducing acquisition costs and maximizing customer lifetime value.</a:t>
            </a:r>
          </a:p>
          <a:p>
            <a:pPr algn="just" marL="0" indent="0" lvl="0">
              <a:lnSpc>
                <a:spcPts val="2715"/>
              </a:lnSpc>
            </a:pPr>
            <a:r>
              <a:rPr lang="en-US" sz="1939" spc="-5">
                <a:solidFill>
                  <a:srgbClr val="3A58E4"/>
                </a:solidFill>
                <a:latin typeface="Poppins"/>
                <a:ea typeface="Poppins"/>
                <a:cs typeface="Poppins"/>
                <a:sym typeface="Poppins"/>
              </a:rPr>
              <a:t>Real-world business impact</a:t>
            </a:r>
          </a:p>
          <a:p>
            <a:pPr algn="just" marL="0" indent="0" lvl="0">
              <a:lnSpc>
                <a:spcPts val="2715"/>
              </a:lnSpc>
            </a:pPr>
            <a:r>
              <a:rPr lang="en-US" sz="1939" spc="-5">
                <a:solidFill>
                  <a:srgbClr val="3A58E4"/>
                </a:solidFill>
                <a:latin typeface="Poppins"/>
                <a:ea typeface="Poppins"/>
                <a:cs typeface="Poppins"/>
                <a:sym typeface="Poppins"/>
              </a:rPr>
              <a:t>Churn directly affects revenue streams, market share, and long-term sustainability across all industries.</a:t>
            </a:r>
          </a:p>
          <a:p>
            <a:pPr algn="just" marL="0" indent="0" lvl="0">
              <a:lnSpc>
                <a:spcPts val="2715"/>
              </a:lnSpc>
            </a:pPr>
            <a:r>
              <a:rPr lang="en-US" sz="1939" spc="-5">
                <a:solidFill>
                  <a:srgbClr val="3A58E4"/>
                </a:solidFill>
                <a:latin typeface="Poppins"/>
                <a:ea typeface="Poppins"/>
                <a:cs typeface="Poppins"/>
                <a:sym typeface="Poppins"/>
              </a:rPr>
              <a:t>Behavioral analysis enhancement</a:t>
            </a:r>
          </a:p>
          <a:p>
            <a:pPr algn="just" marL="0" indent="0" lvl="0">
              <a:lnSpc>
                <a:spcPts val="2715"/>
              </a:lnSpc>
            </a:pPr>
            <a:r>
              <a:rPr lang="en-US" sz="1939" spc="-5">
                <a:solidFill>
                  <a:srgbClr val="3A58E4"/>
                </a:solidFill>
                <a:latin typeface="Poppins"/>
                <a:ea typeface="Poppins"/>
                <a:cs typeface="Poppins"/>
                <a:sym typeface="Poppins"/>
              </a:rPr>
              <a:t>Our advanced system leverages behavioral patterns to detect early warning signals and enable timely interventions.</a:t>
            </a:r>
          </a:p>
        </p:txBody>
      </p:sp>
      <p:grpSp>
        <p:nvGrpSpPr>
          <p:cNvPr name="Group 10" id="10"/>
          <p:cNvGrpSpPr/>
          <p:nvPr/>
        </p:nvGrpSpPr>
        <p:grpSpPr>
          <a:xfrm rot="0">
            <a:off x="16438046" y="105992"/>
            <a:ext cx="1849954" cy="1742174"/>
            <a:chOff x="0" y="0"/>
            <a:chExt cx="2466605" cy="2322899"/>
          </a:xfrm>
        </p:grpSpPr>
        <p:grpSp>
          <p:nvGrpSpPr>
            <p:cNvPr name="Group 11" id="11"/>
            <p:cNvGrpSpPr/>
            <p:nvPr/>
          </p:nvGrpSpPr>
          <p:grpSpPr>
            <a:xfrm rot="0">
              <a:off x="0" y="0"/>
              <a:ext cx="2466605" cy="2322899"/>
              <a:chOff x="0" y="0"/>
              <a:chExt cx="787566" cy="741682"/>
            </a:xfrm>
          </p:grpSpPr>
          <p:sp>
            <p:nvSpPr>
              <p:cNvPr name="Freeform 12" id="12"/>
              <p:cNvSpPr/>
              <p:nvPr/>
            </p:nvSpPr>
            <p:spPr>
              <a:xfrm flipH="false" flipV="false" rot="0">
                <a:off x="0" y="0"/>
                <a:ext cx="787566" cy="741682"/>
              </a:xfrm>
              <a:custGeom>
                <a:avLst/>
                <a:gdLst/>
                <a:ahLst/>
                <a:cxnLst/>
                <a:rect r="r" b="b" t="t" l="l"/>
                <a:pathLst>
                  <a:path h="741682" w="787566">
                    <a:moveTo>
                      <a:pt x="0" y="0"/>
                    </a:moveTo>
                    <a:lnTo>
                      <a:pt x="787566" y="0"/>
                    </a:lnTo>
                    <a:lnTo>
                      <a:pt x="787566" y="741682"/>
                    </a:lnTo>
                    <a:lnTo>
                      <a:pt x="0" y="74168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3" id="13"/>
              <p:cNvSpPr txBox="true"/>
              <p:nvPr/>
            </p:nvSpPr>
            <p:spPr>
              <a:xfrm>
                <a:off x="0" y="-38100"/>
                <a:ext cx="787566" cy="7797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319164" y="684524"/>
              <a:ext cx="1828278" cy="1068151"/>
            </a:xfrm>
            <a:prstGeom prst="rect">
              <a:avLst/>
            </a:prstGeom>
          </p:spPr>
          <p:txBody>
            <a:bodyPr anchor="t" rtlCol="false" tIns="0" lIns="0" bIns="0" rIns="0">
              <a:spAutoFit/>
            </a:bodyPr>
            <a:lstStyle/>
            <a:p>
              <a:pPr algn="ctr" marL="0" indent="0" lvl="0">
                <a:lnSpc>
                  <a:spcPts val="5715"/>
                </a:lnSpc>
              </a:pPr>
              <a:r>
                <a:rPr lang="en-US" sz="5831" spc="-373">
                  <a:solidFill>
                    <a:srgbClr val="FFFFFF"/>
                  </a:solidFill>
                  <a:latin typeface="Bricolage Grotesque"/>
                  <a:ea typeface="Bricolage Grotesque"/>
                  <a:cs typeface="Bricolage Grotesque"/>
                  <a:sym typeface="Bricolage Grotesque"/>
                </a:rPr>
                <a:t>02</a:t>
              </a:r>
            </a:p>
          </p:txBody>
        </p:sp>
      </p:grpSp>
      <p:sp>
        <p:nvSpPr>
          <p:cNvPr name="Freeform 15" id="15"/>
          <p:cNvSpPr/>
          <p:nvPr/>
        </p:nvSpPr>
        <p:spPr>
          <a:xfrm flipH="false" flipV="false" rot="0">
            <a:off x="10738789" y="2612903"/>
            <a:ext cx="6493959" cy="6626489"/>
          </a:xfrm>
          <a:custGeom>
            <a:avLst/>
            <a:gdLst/>
            <a:ahLst/>
            <a:cxnLst/>
            <a:rect r="r" b="b" t="t" l="l"/>
            <a:pathLst>
              <a:path h="6626489" w="6493959">
                <a:moveTo>
                  <a:pt x="0" y="0"/>
                </a:moveTo>
                <a:lnTo>
                  <a:pt x="6493959" y="0"/>
                </a:lnTo>
                <a:lnTo>
                  <a:pt x="6493959" y="6626489"/>
                </a:lnTo>
                <a:lnTo>
                  <a:pt x="0" y="6626489"/>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2466659"/>
            <a:ext cx="5217559" cy="1261484"/>
          </a:xfrm>
          <a:prstGeom prst="rect">
            <a:avLst/>
          </a:prstGeom>
        </p:spPr>
        <p:txBody>
          <a:bodyPr anchor="t" rtlCol="false" tIns="0" lIns="0" bIns="0" rIns="0">
            <a:spAutoFit/>
          </a:bodyPr>
          <a:lstStyle/>
          <a:p>
            <a:pPr algn="l" marL="0" indent="0" lvl="0">
              <a:lnSpc>
                <a:spcPts val="9437"/>
              </a:lnSpc>
            </a:pPr>
            <a:r>
              <a:rPr lang="en-US" sz="9630" spc="-61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Objectives</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061"/>
              <a:ext cx="10820400" cy="554723"/>
            </a:xfrm>
            <a:prstGeom prst="rect">
              <a:avLst/>
            </a:prstGeom>
          </p:spPr>
          <p:txBody>
            <a:bodyPr anchor="t" rtlCol="false" tIns="0" lIns="0" bIns="0" rIns="0">
              <a:spAutoFit/>
            </a:bodyPr>
            <a:lstStyle/>
            <a:p>
              <a:pPr algn="l" marL="0" indent="0" lvl="0">
                <a:lnSpc>
                  <a:spcPts val="3318"/>
                </a:lnSpc>
              </a:pPr>
              <a:r>
                <a:rPr lang="en-US" b="true" sz="2370"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MAIN PROJECT GOALS &amp; DELIVERABLES</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0"/>
            <a:ext cx="1849954" cy="1848166"/>
            <a:chOff x="0" y="0"/>
            <a:chExt cx="2466605" cy="2464222"/>
          </a:xfrm>
        </p:grpSpPr>
        <p:grpSp>
          <p:nvGrpSpPr>
            <p:cNvPr name="Group 10" id="10"/>
            <p:cNvGrpSpPr/>
            <p:nvPr/>
          </p:nvGrpSpPr>
          <p:grpSpPr>
            <a:xfrm rot="0">
              <a:off x="0" y="0"/>
              <a:ext cx="2466605" cy="2464222"/>
              <a:chOff x="0" y="0"/>
              <a:chExt cx="787566" cy="786805"/>
            </a:xfrm>
          </p:grpSpPr>
          <p:sp>
            <p:nvSpPr>
              <p:cNvPr name="Freeform 11" id="11"/>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90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949"/>
            </a:xfrm>
            <a:prstGeom prst="rect">
              <a:avLst/>
            </a:prstGeom>
          </p:spPr>
          <p:txBody>
            <a:bodyPr anchor="t" rtlCol="false" tIns="0" lIns="0" bIns="0" rIns="0">
              <a:spAutoFit/>
            </a:bodyPr>
            <a:lstStyle/>
            <a:p>
              <a:pPr algn="ctr" marL="0" indent="0" lvl="0">
                <a:lnSpc>
                  <a:spcPts val="6425"/>
                </a:lnSpc>
              </a:pPr>
              <a:r>
                <a:rPr lang="en-US" sz="6557" spc="-419">
                  <a:solidFill>
                    <a:srgbClr val="FFFFFF"/>
                  </a:solidFill>
                  <a:latin typeface="Bricolage Grotesque"/>
                  <a:ea typeface="Bricolage Grotesque"/>
                  <a:cs typeface="Bricolage Grotesque"/>
                  <a:sym typeface="Bricolage Grotesque"/>
                </a:rPr>
                <a:t>03</a:t>
              </a:r>
            </a:p>
          </p:txBody>
        </p:sp>
      </p:grpSp>
      <p:sp>
        <p:nvSpPr>
          <p:cNvPr name="Freeform 14" id="14"/>
          <p:cNvSpPr/>
          <p:nvPr/>
        </p:nvSpPr>
        <p:spPr>
          <a:xfrm flipH="false" flipV="false" rot="0">
            <a:off x="9942708" y="2181426"/>
            <a:ext cx="6957161" cy="8209040"/>
          </a:xfrm>
          <a:custGeom>
            <a:avLst/>
            <a:gdLst/>
            <a:ahLst/>
            <a:cxnLst/>
            <a:rect r="r" b="b" t="t" l="l"/>
            <a:pathLst>
              <a:path h="8209040" w="6957161">
                <a:moveTo>
                  <a:pt x="0" y="0"/>
                </a:moveTo>
                <a:lnTo>
                  <a:pt x="6957161" y="0"/>
                </a:lnTo>
                <a:lnTo>
                  <a:pt x="6957161" y="8209040"/>
                </a:lnTo>
                <a:lnTo>
                  <a:pt x="0" y="8209040"/>
                </a:lnTo>
                <a:lnTo>
                  <a:pt x="0" y="0"/>
                </a:lnTo>
                <a:close/>
              </a:path>
            </a:pathLst>
          </a:custGeom>
          <a:blipFill>
            <a:blip r:embed="rId4"/>
            <a:stretch>
              <a:fillRect l="0" t="0" r="0" b="0"/>
            </a:stretch>
          </a:blipFill>
        </p:spPr>
      </p:sp>
      <p:sp>
        <p:nvSpPr>
          <p:cNvPr name="TextBox 15" id="15"/>
          <p:cNvSpPr txBox="true"/>
          <p:nvPr/>
        </p:nvSpPr>
        <p:spPr>
          <a:xfrm rot="0">
            <a:off x="1870201" y="5206470"/>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Predict customer churn using machine learning algorithms and historical data patterns.</a:t>
            </a:r>
          </a:p>
        </p:txBody>
      </p:sp>
      <p:sp>
        <p:nvSpPr>
          <p:cNvPr name="TextBox 16" id="16"/>
          <p:cNvSpPr txBox="true"/>
          <p:nvPr/>
        </p:nvSpPr>
        <p:spPr>
          <a:xfrm rot="0">
            <a:off x="1870201" y="6197762"/>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Analyze behavioral evolution over time to identify changing customer engagement trends.</a:t>
            </a:r>
          </a:p>
        </p:txBody>
      </p:sp>
      <p:sp>
        <p:nvSpPr>
          <p:cNvPr name="TextBox 17" id="17"/>
          <p:cNvSpPr txBox="true"/>
          <p:nvPr/>
        </p:nvSpPr>
        <p:spPr>
          <a:xfrm rot="0">
            <a:off x="1870201" y="7189053"/>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Detect early churn risk signals through proactive monitoring and alert systems.</a:t>
            </a:r>
          </a:p>
        </p:txBody>
      </p:sp>
      <p:sp>
        <p:nvSpPr>
          <p:cNvPr name="TextBox 18" id="18"/>
          <p:cNvSpPr txBox="true"/>
          <p:nvPr/>
        </p:nvSpPr>
        <p:spPr>
          <a:xfrm rot="0">
            <a:off x="1870201" y="8180345"/>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Simulate intervention impact scenarios and provide explainable insights for decisions.</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29"/>
            <a:ext cx="1849954" cy="1848037"/>
            <a:chOff x="0" y="0"/>
            <a:chExt cx="2466605" cy="2464050"/>
          </a:xfrm>
        </p:grpSpPr>
        <p:grpSp>
          <p:nvGrpSpPr>
            <p:cNvPr name="Group 3" id="3"/>
            <p:cNvGrpSpPr/>
            <p:nvPr/>
          </p:nvGrpSpPr>
          <p:grpSpPr>
            <a:xfrm rot="0">
              <a:off x="0" y="0"/>
              <a:ext cx="2466605" cy="2464050"/>
              <a:chOff x="0" y="0"/>
              <a:chExt cx="787566" cy="786750"/>
            </a:xfrm>
          </p:grpSpPr>
          <p:sp>
            <p:nvSpPr>
              <p:cNvPr name="Freeform 4" id="4"/>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04</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49117"/>
              <a:ext cx="937891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KEY ROLES IN THE CHURN PREDICTION PROJECT</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5814995"/>
            <a:ext cx="1984104" cy="744997"/>
          </a:xfrm>
          <a:prstGeom prst="rect">
            <a:avLst/>
          </a:prstGeom>
        </p:spPr>
        <p:txBody>
          <a:bodyPr anchor="t" rtlCol="false" tIns="0" lIns="0" bIns="0" rIns="0">
            <a:spAutoFit/>
          </a:bodyPr>
          <a:lstStyle/>
          <a:p>
            <a:pPr algn="ctr" marL="0" indent="0" lvl="0">
              <a:lnSpc>
                <a:spcPts val="2895"/>
              </a:lnSpc>
            </a:pPr>
            <a:r>
              <a:rPr lang="en-US" b="true" sz="2244"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CEO &amp; HEAD OF PROJECT</a:t>
            </a:r>
          </a:p>
        </p:txBody>
      </p:sp>
      <p:sp>
        <p:nvSpPr>
          <p:cNvPr name="TextBox 23" id="23"/>
          <p:cNvSpPr txBox="true"/>
          <p:nvPr/>
        </p:nvSpPr>
        <p:spPr>
          <a:xfrm rot="0">
            <a:off x="2124549" y="6494580"/>
            <a:ext cx="2425450" cy="1113748"/>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Poojitha Sharini and Anjali Shinde– Strategic leadership and project oversight</a:t>
            </a:r>
          </a:p>
        </p:txBody>
      </p:sp>
      <p:sp>
        <p:nvSpPr>
          <p:cNvPr name="TextBox 24" id="24"/>
          <p:cNvSpPr txBox="true"/>
          <p:nvPr/>
        </p:nvSpPr>
        <p:spPr>
          <a:xfrm rot="0">
            <a:off x="6215753" y="5814995"/>
            <a:ext cx="1984104" cy="744997"/>
          </a:xfrm>
          <a:prstGeom prst="rect">
            <a:avLst/>
          </a:prstGeom>
        </p:spPr>
        <p:txBody>
          <a:bodyPr anchor="t" rtlCol="false" tIns="0" lIns="0" bIns="0" rIns="0">
            <a:spAutoFit/>
          </a:bodyPr>
          <a:lstStyle/>
          <a:p>
            <a:pPr algn="ctr" marL="0" indent="0" lvl="0">
              <a:lnSpc>
                <a:spcPts val="2895"/>
              </a:lnSpc>
            </a:pPr>
            <a:r>
              <a:rPr lang="en-US" b="true" sz="2244" spc="-6">
                <a:solidFill>
                  <a:srgbClr val="FFFFFF"/>
                </a:solidFill>
                <a:latin typeface="Poppins Bold"/>
                <a:ea typeface="Poppins Bold"/>
                <a:cs typeface="Poppins Bold"/>
                <a:sym typeface="Poppins Bold"/>
              </a:rPr>
              <a:t>PROJECT GUIDE</a:t>
            </a:r>
          </a:p>
        </p:txBody>
      </p:sp>
      <p:sp>
        <p:nvSpPr>
          <p:cNvPr name="TextBox 25" id="25"/>
          <p:cNvSpPr txBox="true"/>
          <p:nvPr/>
        </p:nvSpPr>
        <p:spPr>
          <a:xfrm rot="0">
            <a:off x="599508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Supervisor providing mentorship and technical guidance</a:t>
            </a:r>
          </a:p>
        </p:txBody>
      </p:sp>
      <p:sp>
        <p:nvSpPr>
          <p:cNvPr name="TextBox 26" id="26"/>
          <p:cNvSpPr txBox="true"/>
          <p:nvPr/>
        </p:nvSpPr>
        <p:spPr>
          <a:xfrm rot="0">
            <a:off x="9901910" y="6181273"/>
            <a:ext cx="2354710" cy="378719"/>
          </a:xfrm>
          <a:prstGeom prst="rect">
            <a:avLst/>
          </a:prstGeom>
        </p:spPr>
        <p:txBody>
          <a:bodyPr anchor="t" rtlCol="false" tIns="0" lIns="0" bIns="0" rIns="0">
            <a:spAutoFit/>
          </a:bodyPr>
          <a:lstStyle/>
          <a:p>
            <a:pPr algn="ctr" marL="0" indent="0" lvl="0">
              <a:lnSpc>
                <a:spcPts val="2895"/>
              </a:lnSpc>
            </a:pPr>
            <a:r>
              <a:rPr lang="en-US" b="true" sz="2244" spc="-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DATA ANALYST</a:t>
            </a:r>
          </a:p>
        </p:txBody>
      </p:sp>
      <p:sp>
        <p:nvSpPr>
          <p:cNvPr name="TextBox 27" id="27"/>
          <p:cNvSpPr txBox="true"/>
          <p:nvPr/>
        </p:nvSpPr>
        <p:spPr>
          <a:xfrm rot="0">
            <a:off x="9866540"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3A58E4"/>
                </a:solidFill>
                <a:latin typeface="Poppins"/>
                <a:ea typeface="Poppins"/>
                <a:cs typeface="Poppins"/>
                <a:sym typeface="Poppins"/>
              </a:rPr>
              <a:t>Model support and data processing expertise</a:t>
            </a:r>
          </a:p>
        </p:txBody>
      </p:sp>
      <p:sp>
        <p:nvSpPr>
          <p:cNvPr name="TextBox 28" id="28"/>
          <p:cNvSpPr txBox="true"/>
          <p:nvPr/>
        </p:nvSpPr>
        <p:spPr>
          <a:xfrm rot="0">
            <a:off x="13958674" y="6181273"/>
            <a:ext cx="1984104" cy="378719"/>
          </a:xfrm>
          <a:prstGeom prst="rect">
            <a:avLst/>
          </a:prstGeom>
        </p:spPr>
        <p:txBody>
          <a:bodyPr anchor="t" rtlCol="false" tIns="0" lIns="0" bIns="0" rIns="0">
            <a:spAutoFit/>
          </a:bodyPr>
          <a:lstStyle/>
          <a:p>
            <a:pPr algn="ctr" marL="0" indent="0" lvl="0">
              <a:lnSpc>
                <a:spcPts val="2895"/>
              </a:lnSpc>
            </a:pPr>
            <a:r>
              <a:rPr lang="en-US" b="true" sz="2244" spc="-6">
                <a:solidFill>
                  <a:srgbClr val="FFFFFF"/>
                </a:solidFill>
                <a:latin typeface="Poppins Bold"/>
                <a:ea typeface="Poppins Bold"/>
                <a:cs typeface="Poppins Bold"/>
                <a:sym typeface="Poppins Bold"/>
              </a:rPr>
              <a:t>END USERS</a:t>
            </a:r>
          </a:p>
        </p:txBody>
      </p:sp>
      <p:sp>
        <p:nvSpPr>
          <p:cNvPr name="TextBox 29" id="29"/>
          <p:cNvSpPr txBox="true"/>
          <p:nvPr/>
        </p:nvSpPr>
        <p:spPr>
          <a:xfrm rot="0">
            <a:off x="13738001" y="6770805"/>
            <a:ext cx="2425450" cy="837523"/>
          </a:xfrm>
          <a:prstGeom prst="rect">
            <a:avLst/>
          </a:prstGeom>
        </p:spPr>
        <p:txBody>
          <a:bodyPr anchor="t" rtlCol="false" tIns="0" lIns="0" bIns="0" rIns="0">
            <a:spAutoFit/>
          </a:bodyPr>
          <a:lstStyle/>
          <a:p>
            <a:pPr algn="ctr" marL="0" indent="0" lvl="0">
              <a:lnSpc>
                <a:spcPts val="2226"/>
              </a:lnSpc>
            </a:pPr>
            <a:r>
              <a:rPr lang="en-US" sz="1725" spc="-5">
                <a:solidFill>
                  <a:srgbClr val="FFFFFF"/>
                </a:solidFill>
                <a:latin typeface="Poppins"/>
                <a:ea typeface="Poppins"/>
                <a:cs typeface="Poppins"/>
                <a:sym typeface="Poppins"/>
              </a:rPr>
              <a:t>Application users benefiting from churn insights</a:t>
            </a:r>
          </a:p>
        </p:txBody>
      </p:sp>
      <p:grpSp>
        <p:nvGrpSpPr>
          <p:cNvPr name="Group 30" id="30"/>
          <p:cNvGrpSpPr/>
          <p:nvPr/>
        </p:nvGrpSpPr>
        <p:grpSpPr>
          <a:xfrm rot="0">
            <a:off x="4176506" y="4926023"/>
            <a:ext cx="746986" cy="747004"/>
            <a:chOff x="0" y="0"/>
            <a:chExt cx="995981" cy="996005"/>
          </a:xfrm>
        </p:grpSpPr>
        <p:grpSp>
          <p:nvGrpSpPr>
            <p:cNvPr name="Group 31" id="31"/>
            <p:cNvGrpSpPr/>
            <p:nvPr/>
          </p:nvGrpSpPr>
          <p:grpSpPr>
            <a:xfrm rot="0">
              <a:off x="0" y="0"/>
              <a:ext cx="995981" cy="996005"/>
              <a:chOff x="0" y="0"/>
              <a:chExt cx="812800" cy="812819"/>
            </a:xfrm>
          </p:grpSpPr>
          <p:sp>
            <p:nvSpPr>
              <p:cNvPr name="Freeform 32" id="3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01</a:t>
              </a:r>
            </a:p>
          </p:txBody>
        </p:sp>
      </p:grpSp>
      <p:grpSp>
        <p:nvGrpSpPr>
          <p:cNvPr name="Group 35" id="35"/>
          <p:cNvGrpSpPr/>
          <p:nvPr/>
        </p:nvGrpSpPr>
        <p:grpSpPr>
          <a:xfrm rot="0">
            <a:off x="8047037" y="4926023"/>
            <a:ext cx="746986" cy="747004"/>
            <a:chOff x="0" y="0"/>
            <a:chExt cx="995981" cy="996005"/>
          </a:xfrm>
        </p:grpSpPr>
        <p:grpSp>
          <p:nvGrpSpPr>
            <p:cNvPr name="Group 36" id="36"/>
            <p:cNvGrpSpPr/>
            <p:nvPr/>
          </p:nvGrpSpPr>
          <p:grpSpPr>
            <a:xfrm rot="0">
              <a:off x="0" y="0"/>
              <a:ext cx="995981" cy="996005"/>
              <a:chOff x="0" y="0"/>
              <a:chExt cx="812800" cy="812819"/>
            </a:xfrm>
          </p:grpSpPr>
          <p:sp>
            <p:nvSpPr>
              <p:cNvPr name="Freeform 37" id="3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26023"/>
            <a:ext cx="746986" cy="747004"/>
            <a:chOff x="0" y="0"/>
            <a:chExt cx="995981" cy="996005"/>
          </a:xfrm>
        </p:grpSpPr>
        <p:grpSp>
          <p:nvGrpSpPr>
            <p:cNvPr name="Group 41" id="41"/>
            <p:cNvGrpSpPr/>
            <p:nvPr/>
          </p:nvGrpSpPr>
          <p:grpSpPr>
            <a:xfrm rot="0">
              <a:off x="0" y="0"/>
              <a:ext cx="995981" cy="996005"/>
              <a:chOff x="0" y="0"/>
              <a:chExt cx="812800" cy="812819"/>
            </a:xfrm>
          </p:grpSpPr>
          <p:sp>
            <p:nvSpPr>
              <p:cNvPr name="Freeform 42" id="4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03</a:t>
              </a:r>
            </a:p>
          </p:txBody>
        </p:sp>
      </p:grpSp>
      <p:grpSp>
        <p:nvGrpSpPr>
          <p:cNvPr name="Group 45" id="45"/>
          <p:cNvGrpSpPr/>
          <p:nvPr/>
        </p:nvGrpSpPr>
        <p:grpSpPr>
          <a:xfrm rot="0">
            <a:off x="15791068" y="4926023"/>
            <a:ext cx="746986" cy="747004"/>
            <a:chOff x="0" y="0"/>
            <a:chExt cx="995981" cy="996005"/>
          </a:xfrm>
        </p:grpSpPr>
        <p:grpSp>
          <p:nvGrpSpPr>
            <p:cNvPr name="Group 46" id="46"/>
            <p:cNvGrpSpPr/>
            <p:nvPr/>
          </p:nvGrpSpPr>
          <p:grpSpPr>
            <a:xfrm rot="0">
              <a:off x="0" y="0"/>
              <a:ext cx="995981" cy="996005"/>
              <a:chOff x="0" y="0"/>
              <a:chExt cx="812800" cy="812819"/>
            </a:xfrm>
          </p:grpSpPr>
          <p:sp>
            <p:nvSpPr>
              <p:cNvPr name="Freeform 47" id="4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Stakeholders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40321"/>
            <a:ext cx="1849954" cy="1707845"/>
            <a:chOff x="0" y="0"/>
            <a:chExt cx="2466605" cy="2277127"/>
          </a:xfrm>
        </p:grpSpPr>
        <p:grpSp>
          <p:nvGrpSpPr>
            <p:cNvPr name="Group 3" id="3"/>
            <p:cNvGrpSpPr/>
            <p:nvPr/>
          </p:nvGrpSpPr>
          <p:grpSpPr>
            <a:xfrm rot="0">
              <a:off x="0" y="0"/>
              <a:ext cx="2466605" cy="2277127"/>
              <a:chOff x="0" y="0"/>
              <a:chExt cx="787566" cy="727067"/>
            </a:xfrm>
          </p:grpSpPr>
          <p:sp>
            <p:nvSpPr>
              <p:cNvPr name="Freeform 4" id="4"/>
              <p:cNvSpPr/>
              <p:nvPr/>
            </p:nvSpPr>
            <p:spPr>
              <a:xfrm flipH="false" flipV="false" rot="0">
                <a:off x="0" y="0"/>
                <a:ext cx="787566" cy="727067"/>
              </a:xfrm>
              <a:custGeom>
                <a:avLst/>
                <a:gdLst/>
                <a:ahLst/>
                <a:cxnLst/>
                <a:rect r="r" b="b" t="t" l="l"/>
                <a:pathLst>
                  <a:path h="727067" w="787566">
                    <a:moveTo>
                      <a:pt x="0" y="0"/>
                    </a:moveTo>
                    <a:lnTo>
                      <a:pt x="787566" y="0"/>
                    </a:lnTo>
                    <a:lnTo>
                      <a:pt x="787566" y="727067"/>
                    </a:lnTo>
                    <a:lnTo>
                      <a:pt x="0" y="72706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65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84524"/>
              <a:ext cx="1828278" cy="1022379"/>
            </a:xfrm>
            <a:prstGeom prst="rect">
              <a:avLst/>
            </a:prstGeom>
          </p:spPr>
          <p:txBody>
            <a:bodyPr anchor="t" rtlCol="false" tIns="0" lIns="0" bIns="0" rIns="0">
              <a:spAutoFit/>
            </a:bodyPr>
            <a:lstStyle/>
            <a:p>
              <a:pPr algn="ctr" marL="0" indent="0" lvl="0">
                <a:lnSpc>
                  <a:spcPts val="5513"/>
                </a:lnSpc>
              </a:pPr>
              <a:r>
                <a:rPr lang="en-US" sz="5625" spc="-360">
                  <a:solidFill>
                    <a:srgbClr val="FFFFFF"/>
                  </a:solidFill>
                  <a:latin typeface="Bricolage Grotesque"/>
                  <a:ea typeface="Bricolage Grotesque"/>
                  <a:cs typeface="Bricolage Grotesque"/>
                  <a:sym typeface="Bricolage Grotesque"/>
                </a:rPr>
                <a:t>05</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47487"/>
              <a:ext cx="9378912" cy="458175"/>
            </a:xfrm>
            <a:prstGeom prst="rect">
              <a:avLst/>
            </a:prstGeom>
          </p:spPr>
          <p:txBody>
            <a:bodyPr anchor="t" rtlCol="false" tIns="0" lIns="0" bIns="0" rIns="0">
              <a:spAutoFit/>
            </a:bodyPr>
            <a:lstStyle/>
            <a:p>
              <a:pPr algn="l" marL="0" indent="0" lvl="0">
                <a:lnSpc>
                  <a:spcPts val="2847"/>
                </a:lnSpc>
              </a:pPr>
              <a:r>
                <a:rPr lang="en-US" b="true" sz="2033" spc="-5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TECH STACK POWERING THE CHURN PREDICTION SYSTEM</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245002"/>
            <a:ext cx="1984104" cy="314990"/>
          </a:xfrm>
          <a:prstGeom prst="rect">
            <a:avLst/>
          </a:prstGeom>
        </p:spPr>
        <p:txBody>
          <a:bodyPr anchor="t" rtlCol="false" tIns="0" lIns="0" bIns="0" rIns="0">
            <a:spAutoFit/>
          </a:bodyPr>
          <a:lstStyle/>
          <a:p>
            <a:pPr algn="ctr" marL="0" indent="0" lvl="0">
              <a:lnSpc>
                <a:spcPts val="2486"/>
              </a:lnSpc>
            </a:pPr>
            <a:r>
              <a:rPr lang="en-US" b="true" sz="1927"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PYTHON</a:t>
            </a:r>
          </a:p>
        </p:txBody>
      </p:sp>
      <p:sp>
        <p:nvSpPr>
          <p:cNvPr name="TextBox 23" id="23"/>
          <p:cNvSpPr txBox="true"/>
          <p:nvPr/>
        </p:nvSpPr>
        <p:spPr>
          <a:xfrm rot="0">
            <a:off x="2124549"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3A58E4"/>
                </a:solidFill>
                <a:latin typeface="Poppins"/>
                <a:ea typeface="Poppins"/>
                <a:cs typeface="Poppins"/>
                <a:sym typeface="Poppins"/>
              </a:rPr>
              <a:t>Core programming language for ML model development and data processing</a:t>
            </a:r>
          </a:p>
        </p:txBody>
      </p:sp>
      <p:sp>
        <p:nvSpPr>
          <p:cNvPr name="TextBox 24" id="24"/>
          <p:cNvSpPr txBox="true"/>
          <p:nvPr/>
        </p:nvSpPr>
        <p:spPr>
          <a:xfrm rot="0">
            <a:off x="6215753" y="6245002"/>
            <a:ext cx="1984104" cy="314990"/>
          </a:xfrm>
          <a:prstGeom prst="rect">
            <a:avLst/>
          </a:prstGeom>
        </p:spPr>
        <p:txBody>
          <a:bodyPr anchor="t" rtlCol="false" tIns="0" lIns="0" bIns="0" rIns="0">
            <a:spAutoFit/>
          </a:bodyPr>
          <a:lstStyle/>
          <a:p>
            <a:pPr algn="ctr" marL="0" indent="0" lvl="0">
              <a:lnSpc>
                <a:spcPts val="2486"/>
              </a:lnSpc>
            </a:pPr>
            <a:r>
              <a:rPr lang="en-US" b="true" sz="1927" spc="-5">
                <a:solidFill>
                  <a:srgbClr val="FFFFFF"/>
                </a:solidFill>
                <a:latin typeface="Poppins Bold"/>
                <a:ea typeface="Poppins Bold"/>
                <a:cs typeface="Poppins Bold"/>
                <a:sym typeface="Poppins Bold"/>
              </a:rPr>
              <a:t>FLASK</a:t>
            </a:r>
          </a:p>
        </p:txBody>
      </p:sp>
      <p:sp>
        <p:nvSpPr>
          <p:cNvPr name="TextBox 25" id="25"/>
          <p:cNvSpPr txBox="true"/>
          <p:nvPr/>
        </p:nvSpPr>
        <p:spPr>
          <a:xfrm rot="0">
            <a:off x="5995080"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FFFFFF"/>
                </a:solidFill>
                <a:latin typeface="Poppins"/>
                <a:ea typeface="Poppins"/>
                <a:cs typeface="Poppins"/>
                <a:sym typeface="Poppins"/>
              </a:rPr>
              <a:t>Lightweight web framework for deploying the prediction API</a:t>
            </a:r>
          </a:p>
        </p:txBody>
      </p:sp>
      <p:sp>
        <p:nvSpPr>
          <p:cNvPr name="TextBox 26" id="26"/>
          <p:cNvSpPr txBox="true"/>
          <p:nvPr/>
        </p:nvSpPr>
        <p:spPr>
          <a:xfrm rot="0">
            <a:off x="9901910" y="6245002"/>
            <a:ext cx="2354710" cy="314990"/>
          </a:xfrm>
          <a:prstGeom prst="rect">
            <a:avLst/>
          </a:prstGeom>
        </p:spPr>
        <p:txBody>
          <a:bodyPr anchor="t" rtlCol="false" tIns="0" lIns="0" bIns="0" rIns="0">
            <a:spAutoFit/>
          </a:bodyPr>
          <a:lstStyle/>
          <a:p>
            <a:pPr algn="ctr" marL="0" indent="0" lvl="0">
              <a:lnSpc>
                <a:spcPts val="2486"/>
              </a:lnSpc>
            </a:pPr>
            <a:r>
              <a:rPr lang="en-US" b="true" sz="1927" spc="-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SCIKIT-LEARN</a:t>
            </a:r>
          </a:p>
        </p:txBody>
      </p:sp>
      <p:sp>
        <p:nvSpPr>
          <p:cNvPr name="TextBox 27" id="27"/>
          <p:cNvSpPr txBox="true"/>
          <p:nvPr/>
        </p:nvSpPr>
        <p:spPr>
          <a:xfrm rot="0">
            <a:off x="9866540"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3A58E4"/>
                </a:solidFill>
                <a:latin typeface="Poppins"/>
                <a:ea typeface="Poppins"/>
                <a:cs typeface="Poppins"/>
                <a:sym typeface="Poppins"/>
              </a:rPr>
              <a:t>Machine learning library for building churn prediction models</a:t>
            </a:r>
          </a:p>
        </p:txBody>
      </p:sp>
      <p:sp>
        <p:nvSpPr>
          <p:cNvPr name="TextBox 28" id="28"/>
          <p:cNvSpPr txBox="true"/>
          <p:nvPr/>
        </p:nvSpPr>
        <p:spPr>
          <a:xfrm rot="0">
            <a:off x="13958674" y="5936558"/>
            <a:ext cx="1984104" cy="623434"/>
          </a:xfrm>
          <a:prstGeom prst="rect">
            <a:avLst/>
          </a:prstGeom>
        </p:spPr>
        <p:txBody>
          <a:bodyPr anchor="t" rtlCol="false" tIns="0" lIns="0" bIns="0" rIns="0">
            <a:spAutoFit/>
          </a:bodyPr>
          <a:lstStyle/>
          <a:p>
            <a:pPr algn="ctr" marL="0" indent="0" lvl="0">
              <a:lnSpc>
                <a:spcPts val="2486"/>
              </a:lnSpc>
            </a:pPr>
            <a:r>
              <a:rPr lang="en-US" b="true" sz="1927" spc="-5">
                <a:solidFill>
                  <a:srgbClr val="FFFFFF"/>
                </a:solidFill>
                <a:latin typeface="Poppins Bold"/>
                <a:ea typeface="Poppins Bold"/>
                <a:cs typeface="Poppins Bold"/>
                <a:sym typeface="Poppins Bold"/>
              </a:rPr>
              <a:t>PANDAS &amp; NUMPY</a:t>
            </a:r>
          </a:p>
        </p:txBody>
      </p:sp>
      <p:sp>
        <p:nvSpPr>
          <p:cNvPr name="TextBox 29" id="29"/>
          <p:cNvSpPr txBox="true"/>
          <p:nvPr/>
        </p:nvSpPr>
        <p:spPr>
          <a:xfrm rot="0">
            <a:off x="13738001" y="6975395"/>
            <a:ext cx="2425450" cy="632933"/>
          </a:xfrm>
          <a:prstGeom prst="rect">
            <a:avLst/>
          </a:prstGeom>
        </p:spPr>
        <p:txBody>
          <a:bodyPr anchor="t" rtlCol="false" tIns="0" lIns="0" bIns="0" rIns="0">
            <a:spAutoFit/>
          </a:bodyPr>
          <a:lstStyle/>
          <a:p>
            <a:pPr algn="ctr" marL="0" indent="0" lvl="0">
              <a:lnSpc>
                <a:spcPts val="1666"/>
              </a:lnSpc>
            </a:pPr>
            <a:r>
              <a:rPr lang="en-US" sz="1291" spc="-3">
                <a:solidFill>
                  <a:srgbClr val="FFFFFF"/>
                </a:solidFill>
                <a:latin typeface="Poppins"/>
                <a:ea typeface="Poppins"/>
                <a:cs typeface="Poppins"/>
                <a:sym typeface="Poppins"/>
              </a:rPr>
              <a:t>Data manipulation and numerical computing libraries</a:t>
            </a:r>
          </a:p>
        </p:txBody>
      </p:sp>
      <p:grpSp>
        <p:nvGrpSpPr>
          <p:cNvPr name="Group 30" id="30"/>
          <p:cNvGrpSpPr/>
          <p:nvPr/>
        </p:nvGrpSpPr>
        <p:grpSpPr>
          <a:xfrm rot="0">
            <a:off x="4176506" y="4979576"/>
            <a:ext cx="746986" cy="693451"/>
            <a:chOff x="0" y="0"/>
            <a:chExt cx="995981" cy="924602"/>
          </a:xfrm>
        </p:grpSpPr>
        <p:grpSp>
          <p:nvGrpSpPr>
            <p:cNvPr name="Group 31" id="31"/>
            <p:cNvGrpSpPr/>
            <p:nvPr/>
          </p:nvGrpSpPr>
          <p:grpSpPr>
            <a:xfrm rot="0">
              <a:off x="0" y="0"/>
              <a:ext cx="995981" cy="924602"/>
              <a:chOff x="0" y="0"/>
              <a:chExt cx="812800" cy="754549"/>
            </a:xfrm>
          </p:grpSpPr>
          <p:sp>
            <p:nvSpPr>
              <p:cNvPr name="Freeform 32" id="32"/>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solidFill>
                    <a:srgbClr val="FFFFFF"/>
                  </a:solidFill>
                  <a:latin typeface="Poppins"/>
                  <a:ea typeface="Poppins"/>
                  <a:cs typeface="Poppins"/>
                  <a:sym typeface="Poppins"/>
                </a:rPr>
                <a:t>01</a:t>
              </a:r>
            </a:p>
          </p:txBody>
        </p:sp>
      </p:grpSp>
      <p:grpSp>
        <p:nvGrpSpPr>
          <p:cNvPr name="Group 35" id="35"/>
          <p:cNvGrpSpPr/>
          <p:nvPr/>
        </p:nvGrpSpPr>
        <p:grpSpPr>
          <a:xfrm rot="0">
            <a:off x="8047037" y="4979576"/>
            <a:ext cx="746986" cy="693451"/>
            <a:chOff x="0" y="0"/>
            <a:chExt cx="995981" cy="924602"/>
          </a:xfrm>
        </p:grpSpPr>
        <p:grpSp>
          <p:nvGrpSpPr>
            <p:cNvPr name="Group 36" id="36"/>
            <p:cNvGrpSpPr/>
            <p:nvPr/>
          </p:nvGrpSpPr>
          <p:grpSpPr>
            <a:xfrm rot="0">
              <a:off x="0" y="0"/>
              <a:ext cx="995981" cy="924602"/>
              <a:chOff x="0" y="0"/>
              <a:chExt cx="812800" cy="754549"/>
            </a:xfrm>
          </p:grpSpPr>
          <p:sp>
            <p:nvSpPr>
              <p:cNvPr name="Freeform 37" id="37"/>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79576"/>
            <a:ext cx="746986" cy="693451"/>
            <a:chOff x="0" y="0"/>
            <a:chExt cx="995981" cy="924602"/>
          </a:xfrm>
        </p:grpSpPr>
        <p:grpSp>
          <p:nvGrpSpPr>
            <p:cNvPr name="Group 41" id="41"/>
            <p:cNvGrpSpPr/>
            <p:nvPr/>
          </p:nvGrpSpPr>
          <p:grpSpPr>
            <a:xfrm rot="0">
              <a:off x="0" y="0"/>
              <a:ext cx="995981" cy="924602"/>
              <a:chOff x="0" y="0"/>
              <a:chExt cx="812800" cy="754549"/>
            </a:xfrm>
          </p:grpSpPr>
          <p:sp>
            <p:nvSpPr>
              <p:cNvPr name="Freeform 42" id="42"/>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solidFill>
                    <a:srgbClr val="FFFFFF"/>
                  </a:solidFill>
                  <a:latin typeface="Poppins"/>
                  <a:ea typeface="Poppins"/>
                  <a:cs typeface="Poppins"/>
                  <a:sym typeface="Poppins"/>
                </a:rPr>
                <a:t>03</a:t>
              </a:r>
            </a:p>
          </p:txBody>
        </p:sp>
      </p:grpSp>
      <p:grpSp>
        <p:nvGrpSpPr>
          <p:cNvPr name="Group 45" id="45"/>
          <p:cNvGrpSpPr/>
          <p:nvPr/>
        </p:nvGrpSpPr>
        <p:grpSpPr>
          <a:xfrm rot="0">
            <a:off x="15791068" y="4979576"/>
            <a:ext cx="746986" cy="693451"/>
            <a:chOff x="0" y="0"/>
            <a:chExt cx="995981" cy="924602"/>
          </a:xfrm>
        </p:grpSpPr>
        <p:grpSp>
          <p:nvGrpSpPr>
            <p:cNvPr name="Group 46" id="46"/>
            <p:cNvGrpSpPr/>
            <p:nvPr/>
          </p:nvGrpSpPr>
          <p:grpSpPr>
            <a:xfrm rot="0">
              <a:off x="0" y="0"/>
              <a:ext cx="995981" cy="924602"/>
              <a:chOff x="0" y="0"/>
              <a:chExt cx="812800" cy="754549"/>
            </a:xfrm>
          </p:grpSpPr>
          <p:sp>
            <p:nvSpPr>
              <p:cNvPr name="Freeform 47" id="47"/>
              <p:cNvSpPr/>
              <p:nvPr/>
            </p:nvSpPr>
            <p:spPr>
              <a:xfrm flipH="false" flipV="false" rot="0">
                <a:off x="0" y="0"/>
                <a:ext cx="812800" cy="754549"/>
              </a:xfrm>
              <a:custGeom>
                <a:avLst/>
                <a:gdLst/>
                <a:ahLst/>
                <a:cxnLst/>
                <a:rect r="r" b="b" t="t" l="l"/>
                <a:pathLst>
                  <a:path h="754549" w="812800">
                    <a:moveTo>
                      <a:pt x="406400" y="0"/>
                    </a:moveTo>
                    <a:cubicBezTo>
                      <a:pt x="181951" y="0"/>
                      <a:pt x="0" y="168912"/>
                      <a:pt x="0" y="377274"/>
                    </a:cubicBezTo>
                    <a:cubicBezTo>
                      <a:pt x="0" y="585637"/>
                      <a:pt x="181951" y="754549"/>
                      <a:pt x="406400" y="754549"/>
                    </a:cubicBezTo>
                    <a:cubicBezTo>
                      <a:pt x="630849" y="754549"/>
                      <a:pt x="812800" y="585637"/>
                      <a:pt x="812800" y="377274"/>
                    </a:cubicBezTo>
                    <a:cubicBezTo>
                      <a:pt x="812800" y="168912"/>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2639"/>
                <a:ext cx="660400" cy="651171"/>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405855"/>
            </a:xfrm>
            <a:prstGeom prst="rect">
              <a:avLst/>
            </a:prstGeom>
          </p:spPr>
          <p:txBody>
            <a:bodyPr anchor="t" rtlCol="false" tIns="0" lIns="0" bIns="0" rIns="0">
              <a:spAutoFit/>
            </a:bodyPr>
            <a:lstStyle/>
            <a:p>
              <a:pPr algn="ctr" marL="0" indent="0" lvl="0">
                <a:lnSpc>
                  <a:spcPts val="2464"/>
                </a:lnSpc>
              </a:pPr>
              <a:r>
                <a:rPr lang="en-US" sz="1910" spc="-5">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179682"/>
            <a:ext cx="11560683" cy="1625377"/>
          </a:xfrm>
          <a:prstGeom prst="rect">
            <a:avLst/>
          </a:prstGeom>
        </p:spPr>
        <p:txBody>
          <a:bodyPr anchor="t" rtlCol="false" tIns="0" lIns="0" bIns="0" rIns="0">
            <a:spAutoFit/>
          </a:bodyPr>
          <a:lstStyle/>
          <a:p>
            <a:pPr algn="ctr" marL="0" indent="0" lvl="0">
              <a:lnSpc>
                <a:spcPts val="6228"/>
              </a:lnSpc>
            </a:pPr>
            <a:r>
              <a:rPr lang="en-US" sz="6355" spc="-40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Programming Languages, Tools &amp; Software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74650"/>
            <a:ext cx="1849954" cy="1673517"/>
            <a:chOff x="0" y="0"/>
            <a:chExt cx="2466605" cy="2231355"/>
          </a:xfrm>
        </p:grpSpPr>
        <p:grpSp>
          <p:nvGrpSpPr>
            <p:cNvPr name="Group 3" id="3"/>
            <p:cNvGrpSpPr/>
            <p:nvPr/>
          </p:nvGrpSpPr>
          <p:grpSpPr>
            <a:xfrm rot="0">
              <a:off x="0" y="0"/>
              <a:ext cx="2466605" cy="2231355"/>
              <a:chOff x="0" y="0"/>
              <a:chExt cx="787566" cy="712452"/>
            </a:xfrm>
          </p:grpSpPr>
          <p:sp>
            <p:nvSpPr>
              <p:cNvPr name="Freeform 4" id="4"/>
              <p:cNvSpPr/>
              <p:nvPr/>
            </p:nvSpPr>
            <p:spPr>
              <a:xfrm flipH="false" flipV="false" rot="0">
                <a:off x="0" y="0"/>
                <a:ext cx="787566" cy="712452"/>
              </a:xfrm>
              <a:custGeom>
                <a:avLst/>
                <a:gdLst/>
                <a:ahLst/>
                <a:cxnLst/>
                <a:rect r="r" b="b" t="t" l="l"/>
                <a:pathLst>
                  <a:path h="712452" w="787566">
                    <a:moveTo>
                      <a:pt x="0" y="0"/>
                    </a:moveTo>
                    <a:lnTo>
                      <a:pt x="787566" y="0"/>
                    </a:lnTo>
                    <a:lnTo>
                      <a:pt x="787566" y="712452"/>
                    </a:lnTo>
                    <a:lnTo>
                      <a:pt x="0" y="712452"/>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505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74999"/>
              <a:ext cx="1828278" cy="986133"/>
            </a:xfrm>
            <a:prstGeom prst="rect">
              <a:avLst/>
            </a:prstGeom>
          </p:spPr>
          <p:txBody>
            <a:bodyPr anchor="t" rtlCol="false" tIns="0" lIns="0" bIns="0" rIns="0">
              <a:spAutoFit/>
            </a:bodyPr>
            <a:lstStyle/>
            <a:p>
              <a:pPr algn="ctr" marL="0" indent="0" lvl="0">
                <a:lnSpc>
                  <a:spcPts val="5311"/>
                </a:lnSpc>
              </a:pPr>
              <a:r>
                <a:rPr lang="en-US" sz="5419" spc="-346">
                  <a:solidFill>
                    <a:srgbClr val="FFFFFF"/>
                  </a:solidFill>
                  <a:latin typeface="Bricolage Grotesque"/>
                  <a:ea typeface="Bricolage Grotesque"/>
                  <a:cs typeface="Bricolage Grotesque"/>
                  <a:sym typeface="Bricolage Grotesque"/>
                </a:rPr>
                <a:t>06</a:t>
              </a:r>
            </a:p>
          </p:txBody>
        </p:sp>
      </p:grpSp>
      <p:sp>
        <p:nvSpPr>
          <p:cNvPr name="TextBox 7" id="7"/>
          <p:cNvSpPr txBox="true"/>
          <p:nvPr/>
        </p:nvSpPr>
        <p:spPr>
          <a:xfrm rot="0">
            <a:off x="9144000" y="5795383"/>
            <a:ext cx="6563388" cy="2987365"/>
          </a:xfrm>
          <a:prstGeom prst="rect">
            <a:avLst/>
          </a:prstGeom>
        </p:spPr>
        <p:txBody>
          <a:bodyPr anchor="t" rtlCol="false" tIns="0" lIns="0" bIns="0" rIns="0">
            <a:spAutoFit/>
          </a:bodyPr>
          <a:lstStyle/>
          <a:p>
            <a:pPr algn="just" marL="0" indent="0" lvl="0">
              <a:lnSpc>
                <a:spcPts val="2666"/>
              </a:lnSpc>
            </a:pPr>
            <a:r>
              <a:rPr lang="en-US" sz="1904" spc="-5">
                <a:solidFill>
                  <a:srgbClr val="3A58E4"/>
                </a:solidFill>
                <a:latin typeface="Poppins"/>
                <a:ea typeface="Poppins"/>
                <a:cs typeface="Poppins"/>
                <a:sym typeface="Poppins"/>
              </a:rPr>
              <a:t>These AI-generated prompts were used to accelerate development of the Customer Churn Prediction System. Each prompt was carefully crafted to generate specific components of the machine learning pipeline, web application framework, and user interface elements. The structured approach enabled rapid prototyping while maintaining code quality and consistency across the entire project architecture.</a:t>
            </a:r>
          </a:p>
        </p:txBody>
      </p:sp>
      <p:grpSp>
        <p:nvGrpSpPr>
          <p:cNvPr name="Group 8" id="8"/>
          <p:cNvGrpSpPr/>
          <p:nvPr/>
        </p:nvGrpSpPr>
        <p:grpSpPr>
          <a:xfrm rot="0">
            <a:off x="9144000" y="1783947"/>
            <a:ext cx="40440" cy="1732806"/>
            <a:chOff x="0" y="0"/>
            <a:chExt cx="12543" cy="537460"/>
          </a:xfrm>
        </p:grpSpPr>
        <p:sp>
          <p:nvSpPr>
            <p:cNvPr name="Freeform 9" id="9"/>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10" id="10"/>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144000" y="4074029"/>
            <a:ext cx="6563388" cy="360869"/>
            <a:chOff x="0" y="0"/>
            <a:chExt cx="8751183" cy="481159"/>
          </a:xfrm>
        </p:grpSpPr>
        <p:sp>
          <p:nvSpPr>
            <p:cNvPr name="TextBox 12" id="12"/>
            <p:cNvSpPr txBox="true"/>
            <p:nvPr/>
          </p:nvSpPr>
          <p:spPr>
            <a:xfrm rot="0">
              <a:off x="0" y="101653"/>
              <a:ext cx="8507297" cy="379507"/>
            </a:xfrm>
            <a:prstGeom prst="rect">
              <a:avLst/>
            </a:prstGeom>
          </p:spPr>
          <p:txBody>
            <a:bodyPr anchor="t" rtlCol="false" tIns="0" lIns="0" bIns="0" rIns="0">
              <a:spAutoFit/>
            </a:bodyPr>
            <a:lstStyle/>
            <a:p>
              <a:pPr algn="just" marL="0" indent="0" lvl="0">
                <a:lnSpc>
                  <a:spcPts val="2329"/>
                </a:lnSpc>
              </a:pPr>
              <a:r>
                <a:rPr lang="en-US" b="true" sz="1663" spc="-4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SAMPLE AI PROMPTS USED TO GENERATE SYSTEM COMPONENTS</a:t>
              </a:r>
            </a:p>
          </p:txBody>
        </p:sp>
        <p:sp>
          <p:nvSpPr>
            <p:cNvPr name="Freeform 13" id="13"/>
            <p:cNvSpPr/>
            <p:nvPr/>
          </p:nvSpPr>
          <p:spPr>
            <a:xfrm flipH="false" flipV="false" rot="-8687136">
              <a:off x="8481990" y="59395"/>
              <a:ext cx="214153" cy="216192"/>
            </a:xfrm>
            <a:custGeom>
              <a:avLst/>
              <a:gdLst/>
              <a:ahLst/>
              <a:cxnLst/>
              <a:rect r="r" b="b" t="t" l="l"/>
              <a:pathLst>
                <a:path h="216192" w="214153">
                  <a:moveTo>
                    <a:pt x="0" y="0"/>
                  </a:moveTo>
                  <a:lnTo>
                    <a:pt x="214153" y="0"/>
                  </a:lnTo>
                  <a:lnTo>
                    <a:pt x="214153" y="216192"/>
                  </a:lnTo>
                  <a:lnTo>
                    <a:pt x="0" y="216192"/>
                  </a:lnTo>
                  <a:lnTo>
                    <a:pt x="0" y="0"/>
                  </a:lnTo>
                  <a:close/>
                </a:path>
              </a:pathLst>
            </a:custGeom>
            <a:blipFill>
              <a:blip r:embed="rId2"/>
              <a:stretch>
                <a:fillRect l="0" t="0" r="0" b="0"/>
              </a:stretch>
            </a:blipFill>
          </p:spPr>
        </p:sp>
      </p:grpSp>
      <p:sp>
        <p:nvSpPr>
          <p:cNvPr name="TextBox 14" id="14"/>
          <p:cNvSpPr txBox="true"/>
          <p:nvPr/>
        </p:nvSpPr>
        <p:spPr>
          <a:xfrm rot="0">
            <a:off x="9337659" y="1305653"/>
            <a:ext cx="4908339" cy="2490795"/>
          </a:xfrm>
          <a:prstGeom prst="rect">
            <a:avLst/>
          </a:prstGeom>
        </p:spPr>
        <p:txBody>
          <a:bodyPr anchor="t" rtlCol="false" tIns="0" lIns="0" bIns="0" rIns="0">
            <a:spAutoFit/>
          </a:bodyPr>
          <a:lstStyle/>
          <a:p>
            <a:pPr algn="l" marL="0" indent="0" lvl="0">
              <a:lnSpc>
                <a:spcPts val="6441"/>
              </a:lnSpc>
            </a:pPr>
            <a:r>
              <a:rPr lang="en-US" sz="6572" spc="-420">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Prompts Used to Generate Code</a:t>
            </a:r>
          </a:p>
        </p:txBody>
      </p:sp>
      <p:grpSp>
        <p:nvGrpSpPr>
          <p:cNvPr name="Group 15" id="15"/>
          <p:cNvGrpSpPr/>
          <p:nvPr/>
        </p:nvGrpSpPr>
        <p:grpSpPr>
          <a:xfrm rot="0">
            <a:off x="1664564" y="1504251"/>
            <a:ext cx="6376039" cy="1593100"/>
            <a:chOff x="0" y="0"/>
            <a:chExt cx="2754311" cy="688185"/>
          </a:xfrm>
        </p:grpSpPr>
        <p:sp>
          <p:nvSpPr>
            <p:cNvPr name="Freeform 16" id="16"/>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8" id="18"/>
          <p:cNvGrpSpPr/>
          <p:nvPr/>
        </p:nvGrpSpPr>
        <p:grpSpPr>
          <a:xfrm rot="0">
            <a:off x="2288087" y="1821243"/>
            <a:ext cx="5128994" cy="904893"/>
            <a:chOff x="0" y="0"/>
            <a:chExt cx="6838659" cy="1206524"/>
          </a:xfrm>
        </p:grpSpPr>
        <p:sp>
          <p:nvSpPr>
            <p:cNvPr name="TextBox 19" id="19"/>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solidFill>
                    <a:srgbClr val="FFFFFF"/>
                  </a:solidFill>
                  <a:latin typeface="Poppins Bold"/>
                  <a:ea typeface="Poppins Bold"/>
                  <a:cs typeface="Poppins Bold"/>
                  <a:sym typeface="Poppins Bold"/>
                </a:rPr>
                <a:t>ML Model Prompt</a:t>
              </a:r>
            </a:p>
          </p:txBody>
        </p:sp>
        <p:sp>
          <p:nvSpPr>
            <p:cNvPr name="TextBox 20" id="20"/>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"Build a churn prediction model using behavioral features"</a:t>
              </a:r>
            </a:p>
          </p:txBody>
        </p:sp>
        <p:sp>
          <p:nvSpPr>
            <p:cNvPr name="TextBox 21" id="21"/>
            <p:cNvSpPr txBox="true"/>
            <p:nvPr/>
          </p:nvSpPr>
          <p:spPr>
            <a:xfrm rot="0">
              <a:off x="0" y="22571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01</a:t>
              </a:r>
            </a:p>
          </p:txBody>
        </p:sp>
      </p:grpSp>
      <p:grpSp>
        <p:nvGrpSpPr>
          <p:cNvPr name="Group 22" id="22"/>
          <p:cNvGrpSpPr/>
          <p:nvPr/>
        </p:nvGrpSpPr>
        <p:grpSpPr>
          <a:xfrm rot="0">
            <a:off x="1664564" y="3400724"/>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0">
            <a:off x="2288087" y="3734859"/>
            <a:ext cx="5128994" cy="905806"/>
            <a:chOff x="0" y="0"/>
            <a:chExt cx="6838659" cy="1207741"/>
          </a:xfrm>
        </p:grpSpPr>
        <p:sp>
          <p:nvSpPr>
            <p:cNvPr name="TextBox 26" id="26"/>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Flask App Prompt</a:t>
              </a:r>
            </a:p>
          </p:txBody>
        </p:sp>
        <p:sp>
          <p:nvSpPr>
            <p:cNvPr name="TextBox 27" id="27"/>
            <p:cNvSpPr txBox="true"/>
            <p:nvPr/>
          </p:nvSpPr>
          <p:spPr>
            <a:xfrm rot="0">
              <a:off x="1589864" y="534605"/>
              <a:ext cx="5248795" cy="673136"/>
            </a:xfrm>
            <a:prstGeom prst="rect">
              <a:avLst/>
            </a:prstGeom>
          </p:spPr>
          <p:txBody>
            <a:bodyPr anchor="t" rtlCol="false" tIns="0" lIns="0" bIns="0" rIns="0">
              <a:spAutoFit/>
            </a:bodyPr>
            <a:lstStyle/>
            <a:p>
              <a:pPr algn="just" marL="0" indent="0" lvl="0">
                <a:lnSpc>
                  <a:spcPts val="2098"/>
                </a:lnSpc>
              </a:pPr>
              <a:r>
                <a:rPr lang="en-US" sz="1498">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"Create a Flask web app for ML prediction with REST API endpoints"</a:t>
              </a:r>
            </a:p>
          </p:txBody>
        </p:sp>
        <p:sp>
          <p:nvSpPr>
            <p:cNvPr name="TextBox 28" id="28"/>
            <p:cNvSpPr txBox="true"/>
            <p:nvPr/>
          </p:nvSpPr>
          <p:spPr>
            <a:xfrm rot="0">
              <a:off x="0" y="18954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664564" y="5293177"/>
            <a:ext cx="6376039" cy="1593100"/>
            <a:chOff x="0" y="0"/>
            <a:chExt cx="2754311" cy="688185"/>
          </a:xfrm>
        </p:grpSpPr>
        <p:sp>
          <p:nvSpPr>
            <p:cNvPr name="Freeform 30" id="3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31" id="3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0">
            <a:off x="2288087" y="5639303"/>
            <a:ext cx="5128994" cy="904893"/>
            <a:chOff x="0" y="0"/>
            <a:chExt cx="6838659" cy="1206524"/>
          </a:xfrm>
        </p:grpSpPr>
        <p:sp>
          <p:nvSpPr>
            <p:cNvPr name="TextBox 33" id="33"/>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solidFill>
                    <a:srgbClr val="FFFFFF"/>
                  </a:solidFill>
                  <a:latin typeface="Poppins Bold"/>
                  <a:ea typeface="Poppins Bold"/>
                  <a:cs typeface="Poppins Bold"/>
                  <a:sym typeface="Poppins Bold"/>
                </a:rPr>
                <a:t>Frontend UI Prompt</a:t>
              </a:r>
            </a:p>
          </p:txBody>
        </p:sp>
        <p:sp>
          <p:nvSpPr>
            <p:cNvPr name="TextBox 34" id="34"/>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solidFill>
                    <a:srgbClr val="FFFFFF"/>
                  </a:solidFill>
                  <a:latin typeface="Poppins"/>
                  <a:ea typeface="Poppins"/>
                  <a:cs typeface="Poppins"/>
                  <a:sym typeface="Poppins"/>
                </a:rPr>
                <a:t>"Generate frontend UI for prediction dashboard with input forms"</a:t>
              </a:r>
            </a:p>
          </p:txBody>
        </p:sp>
        <p:sp>
          <p:nvSpPr>
            <p:cNvPr name="TextBox 35" id="35"/>
            <p:cNvSpPr txBox="true"/>
            <p:nvPr/>
          </p:nvSpPr>
          <p:spPr>
            <a:xfrm rot="0">
              <a:off x="0" y="231775"/>
              <a:ext cx="1165955" cy="931982"/>
            </a:xfrm>
            <a:prstGeom prst="rect">
              <a:avLst/>
            </a:prstGeom>
          </p:spPr>
          <p:txBody>
            <a:bodyPr anchor="t" rtlCol="false" tIns="0" lIns="0" bIns="0" rIns="0">
              <a:spAutoFit/>
            </a:bodyPr>
            <a:lstStyle/>
            <a:p>
              <a:pPr algn="l" marL="0" indent="0" lvl="0">
                <a:lnSpc>
                  <a:spcPts val="4642"/>
                </a:lnSpc>
              </a:pPr>
              <a:r>
                <a:rPr lang="en-US" sz="5158" spc="-154">
                  <a:solidFill>
                    <a:srgbClr val="FFFFFF"/>
                  </a:solidFill>
                  <a:latin typeface="Poppins"/>
                  <a:ea typeface="Poppins"/>
                  <a:cs typeface="Poppins"/>
                  <a:sym typeface="Poppins"/>
                </a:rPr>
                <a:t>03</a:t>
              </a:r>
            </a:p>
          </p:txBody>
        </p:sp>
      </p:grpSp>
      <p:grpSp>
        <p:nvGrpSpPr>
          <p:cNvPr name="Group 36" id="36"/>
          <p:cNvGrpSpPr/>
          <p:nvPr/>
        </p:nvGrpSpPr>
        <p:grpSpPr>
          <a:xfrm rot="0">
            <a:off x="1664564" y="7189649"/>
            <a:ext cx="6376039" cy="1593100"/>
            <a:chOff x="0" y="0"/>
            <a:chExt cx="2754311" cy="688185"/>
          </a:xfrm>
        </p:grpSpPr>
        <p:sp>
          <p:nvSpPr>
            <p:cNvPr name="Freeform 37" id="3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8" id="3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9" id="39"/>
          <p:cNvGrpSpPr/>
          <p:nvPr/>
        </p:nvGrpSpPr>
        <p:grpSpPr>
          <a:xfrm rot="0">
            <a:off x="2288087" y="7532526"/>
            <a:ext cx="5128994" cy="904893"/>
            <a:chOff x="0" y="0"/>
            <a:chExt cx="6838659" cy="1206524"/>
          </a:xfrm>
        </p:grpSpPr>
        <p:sp>
          <p:nvSpPr>
            <p:cNvPr name="TextBox 40" id="40"/>
            <p:cNvSpPr txBox="true"/>
            <p:nvPr/>
          </p:nvSpPr>
          <p:spPr>
            <a:xfrm rot="0">
              <a:off x="1589864" y="-76200"/>
              <a:ext cx="4202931" cy="440483"/>
            </a:xfrm>
            <a:prstGeom prst="rect">
              <a:avLst/>
            </a:prstGeom>
          </p:spPr>
          <p:txBody>
            <a:bodyPr anchor="t" rtlCol="false" tIns="0" lIns="0" bIns="0" rIns="0">
              <a:spAutoFit/>
            </a:bodyPr>
            <a:lstStyle/>
            <a:p>
              <a:pPr algn="just" marL="0" indent="0" lvl="0">
                <a:lnSpc>
                  <a:spcPts val="2806"/>
                </a:lnSpc>
              </a:pPr>
              <a:r>
                <a:rPr lang="en-US" b="true" sz="184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Simulation Prompt</a:t>
              </a:r>
            </a:p>
          </p:txBody>
        </p:sp>
        <p:sp>
          <p:nvSpPr>
            <p:cNvPr name="TextBox 41" id="41"/>
            <p:cNvSpPr txBox="true"/>
            <p:nvPr/>
          </p:nvSpPr>
          <p:spPr>
            <a:xfrm rot="0">
              <a:off x="1589864" y="534605"/>
              <a:ext cx="5248795" cy="671919"/>
            </a:xfrm>
            <a:prstGeom prst="rect">
              <a:avLst/>
            </a:prstGeom>
          </p:spPr>
          <p:txBody>
            <a:bodyPr anchor="t" rtlCol="false" tIns="0" lIns="0" bIns="0" rIns="0">
              <a:spAutoFit/>
            </a:bodyPr>
            <a:lstStyle/>
            <a:p>
              <a:pPr algn="just" marL="0" indent="0" lvl="0">
                <a:lnSpc>
                  <a:spcPts val="2085"/>
                </a:lnSpc>
              </a:pPr>
              <a:r>
                <a:rPr lang="en-US" sz="1489">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"Implement intervention impact simulation logic for churn analysis"</a:t>
              </a:r>
            </a:p>
          </p:txBody>
        </p:sp>
        <p:sp>
          <p:nvSpPr>
            <p:cNvPr name="TextBox 42" id="42"/>
            <p:cNvSpPr txBox="true"/>
            <p:nvPr/>
          </p:nvSpPr>
          <p:spPr>
            <a:xfrm rot="0">
              <a:off x="0" y="195609"/>
              <a:ext cx="1165955" cy="931982"/>
            </a:xfrm>
            <a:prstGeom prst="rect">
              <a:avLst/>
            </a:prstGeom>
          </p:spPr>
          <p:txBody>
            <a:bodyPr anchor="t" rtlCol="false" tIns="0" lIns="0" bIns="0" rIns="0">
              <a:spAutoFit/>
            </a:bodyPr>
            <a:lstStyle/>
            <a:p>
              <a:pPr algn="l" marL="0" indent="0" lvl="0">
                <a:lnSpc>
                  <a:spcPts val="4642"/>
                </a:lnSpc>
              </a:pPr>
              <a:r>
                <a:rPr lang="en-US" sz="5158" spc="-154">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129"/>
            <a:ext cx="1849954" cy="1848037"/>
            <a:chOff x="0" y="0"/>
            <a:chExt cx="2466605" cy="2464050"/>
          </a:xfrm>
        </p:grpSpPr>
        <p:grpSp>
          <p:nvGrpSpPr>
            <p:cNvPr name="Group 3" id="3"/>
            <p:cNvGrpSpPr/>
            <p:nvPr/>
          </p:nvGrpSpPr>
          <p:grpSpPr>
            <a:xfrm rot="0">
              <a:off x="0" y="0"/>
              <a:ext cx="2466605" cy="2464050"/>
              <a:chOff x="0" y="0"/>
              <a:chExt cx="787566" cy="786750"/>
            </a:xfrm>
          </p:grpSpPr>
          <p:sp>
            <p:nvSpPr>
              <p:cNvPr name="Freeform 4" id="4"/>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07</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49117"/>
              <a:ext cx="9403826"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DATA-TO-APPLICATION PIPELINE OVERVIEW</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247968"/>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Workflow Flowchart</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392470"/>
            <a:ext cx="2135924" cy="1891827"/>
            <a:chOff x="0" y="0"/>
            <a:chExt cx="2847898" cy="2522436"/>
          </a:xfrm>
        </p:grpSpPr>
        <p:sp>
          <p:nvSpPr>
            <p:cNvPr name="TextBox 36" id="36"/>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DATA</a:t>
              </a:r>
            </a:p>
            <a:p>
              <a:pPr algn="just" marL="0" indent="0" lvl="0">
                <a:lnSpc>
                  <a:spcPts val="2353"/>
                </a:lnSpc>
              </a:pPr>
              <a:r>
                <a:rPr lang="en-US" b="true" sz="1824" spc="-5">
                  <a:solidFill>
                    <a:srgbClr val="FFFFFF"/>
                  </a:solidFill>
                  <a:latin typeface="Poppins Bold"/>
                  <a:ea typeface="Poppins Bold"/>
                  <a:cs typeface="Poppins Bold"/>
                  <a:sym typeface="Poppins Bold"/>
                </a:rPr>
                <a:t>COLLECTION</a:t>
              </a:r>
            </a:p>
          </p:txBody>
        </p:sp>
        <p:sp>
          <p:nvSpPr>
            <p:cNvPr name="TextBox 37" id="37"/>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Gather customer data from CRM, transactions, and behavioral logs.</a:t>
              </a:r>
            </a:p>
          </p:txBody>
        </p:sp>
      </p:grpSp>
      <p:sp>
        <p:nvSpPr>
          <p:cNvPr name="TextBox 38" id="38"/>
          <p:cNvSpPr txBox="true"/>
          <p:nvPr/>
        </p:nvSpPr>
        <p:spPr>
          <a:xfrm rot="0">
            <a:off x="4470562" y="7518972"/>
            <a:ext cx="1445813"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01</a:t>
            </a:r>
          </a:p>
        </p:txBody>
      </p:sp>
      <p:grpSp>
        <p:nvGrpSpPr>
          <p:cNvPr name="Group 39" id="39"/>
          <p:cNvGrpSpPr/>
          <p:nvPr/>
        </p:nvGrpSpPr>
        <p:grpSpPr>
          <a:xfrm rot="0">
            <a:off x="6473980" y="6975138"/>
            <a:ext cx="2135924" cy="1615602"/>
            <a:chOff x="0" y="0"/>
            <a:chExt cx="2847898" cy="2154136"/>
          </a:xfrm>
        </p:grpSpPr>
        <p:sp>
          <p:nvSpPr>
            <p:cNvPr name="TextBox 40" id="40"/>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DATA PREPROCESSING</a:t>
              </a:r>
            </a:p>
          </p:txBody>
        </p:sp>
        <p:sp>
          <p:nvSpPr>
            <p:cNvPr name="TextBox 41" id="41"/>
            <p:cNvSpPr txBox="true"/>
            <p:nvPr/>
          </p:nvSpPr>
          <p:spPr>
            <a:xfrm rot="0">
              <a:off x="0" y="1046964"/>
              <a:ext cx="2847898" cy="11071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Clean, normalize, and transform raw data for analysis.</a:t>
              </a:r>
            </a:p>
          </p:txBody>
        </p:sp>
      </p:grpSp>
      <p:sp>
        <p:nvSpPr>
          <p:cNvPr name="TextBox 42" id="42"/>
          <p:cNvSpPr txBox="true"/>
          <p:nvPr/>
        </p:nvSpPr>
        <p:spPr>
          <a:xfrm rot="0">
            <a:off x="7425798"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02</a:t>
            </a:r>
          </a:p>
        </p:txBody>
      </p:sp>
      <p:grpSp>
        <p:nvGrpSpPr>
          <p:cNvPr name="Group 43" id="43"/>
          <p:cNvGrpSpPr/>
          <p:nvPr/>
        </p:nvGrpSpPr>
        <p:grpSpPr>
          <a:xfrm rot="0">
            <a:off x="9681912" y="4392470"/>
            <a:ext cx="2135924" cy="1891827"/>
            <a:chOff x="0" y="0"/>
            <a:chExt cx="2847898" cy="2522436"/>
          </a:xfrm>
        </p:grpSpPr>
        <p:sp>
          <p:nvSpPr>
            <p:cNvPr name="TextBox 44" id="44"/>
            <p:cNvSpPr txBox="true"/>
            <p:nvPr/>
          </p:nvSpPr>
          <p:spPr>
            <a:xfrm rot="0">
              <a:off x="0" y="-28575"/>
              <a:ext cx="2847898" cy="7881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FEATURE ENGINEERING</a:t>
              </a:r>
            </a:p>
          </p:txBody>
        </p:sp>
        <p:sp>
          <p:nvSpPr>
            <p:cNvPr name="TextBox 45" id="45"/>
            <p:cNvSpPr txBox="true"/>
            <p:nvPr/>
          </p:nvSpPr>
          <p:spPr>
            <a:xfrm rot="0">
              <a:off x="0" y="1046964"/>
              <a:ext cx="2847898" cy="14754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Extract behavioral patterns and create predictive features.</a:t>
              </a:r>
            </a:p>
          </p:txBody>
        </p:sp>
      </p:grpSp>
      <p:sp>
        <p:nvSpPr>
          <p:cNvPr name="TextBox 46" id="46"/>
          <p:cNvSpPr txBox="true"/>
          <p:nvPr/>
        </p:nvSpPr>
        <p:spPr>
          <a:xfrm rot="0">
            <a:off x="10617138" y="7518972"/>
            <a:ext cx="1711285"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03</a:t>
            </a:r>
          </a:p>
        </p:txBody>
      </p:sp>
      <p:grpSp>
        <p:nvGrpSpPr>
          <p:cNvPr name="Group 47" id="47"/>
          <p:cNvGrpSpPr/>
          <p:nvPr/>
        </p:nvGrpSpPr>
        <p:grpSpPr>
          <a:xfrm rot="0">
            <a:off x="12886027" y="6717963"/>
            <a:ext cx="2135924" cy="1872777"/>
            <a:chOff x="0" y="0"/>
            <a:chExt cx="2847898" cy="2497036"/>
          </a:xfrm>
        </p:grpSpPr>
        <p:sp>
          <p:nvSpPr>
            <p:cNvPr name="TextBox 48" id="48"/>
            <p:cNvSpPr txBox="true"/>
            <p:nvPr/>
          </p:nvSpPr>
          <p:spPr>
            <a:xfrm rot="0">
              <a:off x="0" y="-28575"/>
              <a:ext cx="2847898" cy="394469"/>
            </a:xfrm>
            <a:prstGeom prst="rect">
              <a:avLst/>
            </a:prstGeom>
          </p:spPr>
          <p:txBody>
            <a:bodyPr anchor="t" rtlCol="false" tIns="0" lIns="0" bIns="0" rIns="0">
              <a:spAutoFit/>
            </a:bodyPr>
            <a:lstStyle/>
            <a:p>
              <a:pPr algn="just" marL="0" indent="0" lvl="0">
                <a:lnSpc>
                  <a:spcPts val="2353"/>
                </a:lnSpc>
              </a:pPr>
              <a:r>
                <a:rPr lang="en-US" b="true" sz="1824" spc="-5">
                  <a:solidFill>
                    <a:srgbClr val="FFFFFF"/>
                  </a:solidFill>
                  <a:latin typeface="Poppins Bold"/>
                  <a:ea typeface="Poppins Bold"/>
                  <a:cs typeface="Poppins Bold"/>
                  <a:sym typeface="Poppins Bold"/>
                </a:rPr>
                <a:t>MODEL &amp; WEB APP</a:t>
              </a:r>
            </a:p>
          </p:txBody>
        </p:sp>
        <p:sp>
          <p:nvSpPr>
            <p:cNvPr name="TextBox 49" id="49"/>
            <p:cNvSpPr txBox="true"/>
            <p:nvPr/>
          </p:nvSpPr>
          <p:spPr>
            <a:xfrm rot="0">
              <a:off x="0" y="653264"/>
              <a:ext cx="2847898" cy="1843772"/>
            </a:xfrm>
            <a:prstGeom prst="rect">
              <a:avLst/>
            </a:prstGeom>
          </p:spPr>
          <p:txBody>
            <a:bodyPr anchor="t" rtlCol="false" tIns="0" lIns="0" bIns="0" rIns="0">
              <a:spAutoFit/>
            </a:bodyPr>
            <a:lstStyle/>
            <a:p>
              <a:pPr algn="just" marL="0" indent="0" lvl="0">
                <a:lnSpc>
                  <a:spcPts val="2226"/>
                </a:lnSpc>
              </a:pPr>
              <a:r>
                <a:rPr lang="en-US" sz="1725" spc="-5">
                  <a:solidFill>
                    <a:srgbClr val="FFFFFF"/>
                  </a:solidFill>
                  <a:latin typeface="Poppins"/>
                  <a:ea typeface="Poppins"/>
                  <a:cs typeface="Poppins"/>
                  <a:sym typeface="Poppins"/>
                </a:rPr>
                <a:t>Train ML model, generate predictions, deploy via Flask application.</a:t>
              </a:r>
            </a:p>
          </p:txBody>
        </p:sp>
      </p:grpSp>
      <p:sp>
        <p:nvSpPr>
          <p:cNvPr name="TextBox 50" id="50"/>
          <p:cNvSpPr txBox="true"/>
          <p:nvPr/>
        </p:nvSpPr>
        <p:spPr>
          <a:xfrm rot="0">
            <a:off x="13837845" y="4070729"/>
            <a:ext cx="1578549" cy="1421462"/>
          </a:xfrm>
          <a:prstGeom prst="rect">
            <a:avLst/>
          </a:prstGeom>
        </p:spPr>
        <p:txBody>
          <a:bodyPr anchor="t" rtlCol="false" tIns="0" lIns="0" bIns="0" rIns="0">
            <a:spAutoFit/>
          </a:bodyPr>
          <a:lstStyle/>
          <a:p>
            <a:pPr algn="just" marL="0" indent="0" lvl="0">
              <a:lnSpc>
                <a:spcPts val="11537"/>
              </a:lnSpc>
            </a:pPr>
            <a:r>
              <a:rPr lang="en-US" sz="8944" spc="-26">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99408"/>
              <a:ext cx="11773903" cy="406254"/>
            </a:xfrm>
            <a:prstGeom prst="rect">
              <a:avLst/>
            </a:prstGeom>
          </p:spPr>
          <p:txBody>
            <a:bodyPr anchor="t" rtlCol="false" tIns="0" lIns="0" bIns="0" rIns="0">
              <a:spAutoFit/>
            </a:bodyPr>
            <a:lstStyle/>
            <a:p>
              <a:pPr algn="l" marL="0" indent="0" lvl="0">
                <a:lnSpc>
                  <a:spcPts val="2499"/>
                </a:lnSpc>
              </a:pPr>
              <a:r>
                <a:rPr lang="en-US" b="true" sz="1785" spc="-4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INTERACTIVE DASHBOARD FOR CHURN PREDICTION AND INTERVENTION ANALYSIS</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245225"/>
            <a:ext cx="1849954" cy="1602941"/>
            <a:chOff x="0" y="0"/>
            <a:chExt cx="2466605" cy="2137255"/>
          </a:xfrm>
        </p:grpSpPr>
        <p:grpSp>
          <p:nvGrpSpPr>
            <p:cNvPr name="Group 9" id="9"/>
            <p:cNvGrpSpPr/>
            <p:nvPr/>
          </p:nvGrpSpPr>
          <p:grpSpPr>
            <a:xfrm rot="0">
              <a:off x="0" y="0"/>
              <a:ext cx="2466605" cy="2137255"/>
              <a:chOff x="0" y="0"/>
              <a:chExt cx="787566" cy="682407"/>
            </a:xfrm>
          </p:grpSpPr>
          <p:sp>
            <p:nvSpPr>
              <p:cNvPr name="Freeform 10" id="10"/>
              <p:cNvSpPr/>
              <p:nvPr/>
            </p:nvSpPr>
            <p:spPr>
              <a:xfrm flipH="false" flipV="false" rot="0">
                <a:off x="0" y="0"/>
                <a:ext cx="787566" cy="682407"/>
              </a:xfrm>
              <a:custGeom>
                <a:avLst/>
                <a:gdLst/>
                <a:ahLst/>
                <a:cxnLst/>
                <a:rect r="r" b="b" t="t" l="l"/>
                <a:pathLst>
                  <a:path h="682407" w="787566">
                    <a:moveTo>
                      <a:pt x="0" y="0"/>
                    </a:moveTo>
                    <a:lnTo>
                      <a:pt x="787566" y="0"/>
                    </a:lnTo>
                    <a:lnTo>
                      <a:pt x="787566" y="682407"/>
                    </a:lnTo>
                    <a:lnTo>
                      <a:pt x="0" y="68240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7205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65474"/>
              <a:ext cx="1828278" cy="901557"/>
            </a:xfrm>
            <a:prstGeom prst="rect">
              <a:avLst/>
            </a:prstGeom>
          </p:spPr>
          <p:txBody>
            <a:bodyPr anchor="t" rtlCol="false" tIns="0" lIns="0" bIns="0" rIns="0">
              <a:spAutoFit/>
            </a:bodyPr>
            <a:lstStyle/>
            <a:p>
              <a:pPr algn="ctr" marL="0" indent="0" lvl="0">
                <a:lnSpc>
                  <a:spcPts val="4840"/>
                </a:lnSpc>
              </a:pPr>
              <a:r>
                <a:rPr lang="en-US" sz="4939" spc="-316">
                  <a:solidFill>
                    <a:srgbClr val="FFFFFF"/>
                  </a:solidFill>
                  <a:latin typeface="Bricolage Grotesque"/>
                  <a:ea typeface="Bricolage Grotesque"/>
                  <a:cs typeface="Bricolage Grotesque"/>
                  <a:sym typeface="Bricolage Grotesque"/>
                </a:rPr>
                <a:t>08</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0" y="0"/>
            <a:ext cx="6542795" cy="3330871"/>
            <a:chOff x="0" y="0"/>
            <a:chExt cx="1509267" cy="768352"/>
          </a:xfrm>
        </p:grpSpPr>
        <p:sp>
          <p:nvSpPr>
            <p:cNvPr name="Freeform 16" id="16"/>
            <p:cNvSpPr/>
            <p:nvPr/>
          </p:nvSpPr>
          <p:spPr>
            <a:xfrm flipH="false" flipV="false" rot="0">
              <a:off x="0" y="0"/>
              <a:ext cx="1509267" cy="768352"/>
            </a:xfrm>
            <a:custGeom>
              <a:avLst/>
              <a:gdLst/>
              <a:ahLst/>
              <a:cxnLst/>
              <a:rect r="r" b="b" t="t" l="l"/>
              <a:pathLst>
                <a:path h="768352" w="1509267">
                  <a:moveTo>
                    <a:pt x="0" y="0"/>
                  </a:moveTo>
                  <a:lnTo>
                    <a:pt x="1509267" y="0"/>
                  </a:lnTo>
                  <a:lnTo>
                    <a:pt x="1509267" y="768352"/>
                  </a:lnTo>
                  <a:lnTo>
                    <a:pt x="0" y="768352"/>
                  </a:lnTo>
                  <a:close/>
                </a:path>
              </a:pathLst>
            </a:custGeom>
            <a:blipFill>
              <a:blip r:embed="rId4"/>
              <a:stretch>
                <a:fillRect l="-5036" t="0" r="-5036" b="0"/>
              </a:stretch>
            </a:blipFill>
          </p:spPr>
        </p:sp>
      </p:grpSp>
      <p:sp>
        <p:nvSpPr>
          <p:cNvPr name="Freeform 17" id="17"/>
          <p:cNvSpPr/>
          <p:nvPr/>
        </p:nvSpPr>
        <p:spPr>
          <a:xfrm flipH="false" flipV="false" rot="0">
            <a:off x="72320" y="3330871"/>
            <a:ext cx="6416194" cy="2943429"/>
          </a:xfrm>
          <a:custGeom>
            <a:avLst/>
            <a:gdLst/>
            <a:ahLst/>
            <a:cxnLst/>
            <a:rect r="r" b="b" t="t" l="l"/>
            <a:pathLst>
              <a:path h="2943429" w="6416194">
                <a:moveTo>
                  <a:pt x="0" y="0"/>
                </a:moveTo>
                <a:lnTo>
                  <a:pt x="6416194" y="0"/>
                </a:lnTo>
                <a:lnTo>
                  <a:pt x="6416194" y="2943429"/>
                </a:lnTo>
                <a:lnTo>
                  <a:pt x="0" y="2943429"/>
                </a:lnTo>
                <a:lnTo>
                  <a:pt x="0" y="0"/>
                </a:lnTo>
                <a:close/>
              </a:path>
            </a:pathLst>
          </a:custGeom>
          <a:blipFill>
            <a:blip r:embed="rId5"/>
            <a:stretch>
              <a:fillRect l="0" t="0" r="0" b="0"/>
            </a:stretch>
          </a:blipFill>
        </p:spPr>
      </p:sp>
      <p:sp>
        <p:nvSpPr>
          <p:cNvPr name="Freeform 18" id="18"/>
          <p:cNvSpPr/>
          <p:nvPr/>
        </p:nvSpPr>
        <p:spPr>
          <a:xfrm flipH="false" flipV="false" rot="0">
            <a:off x="0" y="6274300"/>
            <a:ext cx="6542795" cy="3214148"/>
          </a:xfrm>
          <a:custGeom>
            <a:avLst/>
            <a:gdLst/>
            <a:ahLst/>
            <a:cxnLst/>
            <a:rect r="r" b="b" t="t" l="l"/>
            <a:pathLst>
              <a:path h="3214148" w="6542795">
                <a:moveTo>
                  <a:pt x="0" y="0"/>
                </a:moveTo>
                <a:lnTo>
                  <a:pt x="6542795" y="0"/>
                </a:lnTo>
                <a:lnTo>
                  <a:pt x="6542795" y="3214148"/>
                </a:lnTo>
                <a:lnTo>
                  <a:pt x="0" y="3214148"/>
                </a:lnTo>
                <a:lnTo>
                  <a:pt x="0" y="0"/>
                </a:lnTo>
                <a:close/>
              </a:path>
            </a:pathLst>
          </a:custGeom>
          <a:blipFill>
            <a:blip r:embed="rId6"/>
            <a:stretch>
              <a:fillRect l="0" t="0" r="0" b="0"/>
            </a:stretch>
          </a:blipFill>
        </p:spPr>
      </p:sp>
      <p:sp>
        <p:nvSpPr>
          <p:cNvPr name="TextBox 19" id="19"/>
          <p:cNvSpPr txBox="true"/>
          <p:nvPr/>
        </p:nvSpPr>
        <p:spPr>
          <a:xfrm rot="0">
            <a:off x="9741844" y="1781309"/>
            <a:ext cx="7107541" cy="1897894"/>
          </a:xfrm>
          <a:prstGeom prst="rect">
            <a:avLst/>
          </a:prstGeom>
        </p:spPr>
        <p:txBody>
          <a:bodyPr anchor="t" rtlCol="false" tIns="0" lIns="0" bIns="0" rIns="0">
            <a:spAutoFit/>
          </a:bodyPr>
          <a:lstStyle/>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Frontend</a:t>
            </a:r>
          </a:p>
          <a:p>
            <a:pPr algn="l" marL="0" indent="0" lvl="0">
              <a:lnSpc>
                <a:spcPts val="7233"/>
              </a:lnSpc>
            </a:pPr>
            <a:r>
              <a:rPr lang="en-US" sz="7381" spc="-47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View</a:t>
            </a:r>
          </a:p>
        </p:txBody>
      </p:sp>
      <p:sp>
        <p:nvSpPr>
          <p:cNvPr name="TextBox 20" id="20"/>
          <p:cNvSpPr txBox="true"/>
          <p:nvPr/>
        </p:nvSpPr>
        <p:spPr>
          <a:xfrm rot="0">
            <a:off x="7828142" y="7279715"/>
            <a:ext cx="9021242" cy="1786326"/>
          </a:xfrm>
          <a:prstGeom prst="rect">
            <a:avLst/>
          </a:prstGeom>
        </p:spPr>
        <p:txBody>
          <a:bodyPr anchor="t" rtlCol="false" tIns="0" lIns="0" bIns="0" rIns="0">
            <a:spAutoFit/>
          </a:bodyPr>
          <a:lstStyle/>
          <a:p>
            <a:pPr algn="just" marL="0" indent="0" lvl="0">
              <a:lnSpc>
                <a:spcPts val="2341"/>
              </a:lnSpc>
            </a:pPr>
            <a:r>
              <a:rPr lang="en-US" sz="1672" spc="-5">
                <a:solidFill>
                  <a:srgbClr val="3A58E4"/>
                </a:solidFill>
                <a:latin typeface="Poppins"/>
                <a:ea typeface="Poppins"/>
                <a:cs typeface="Poppins"/>
                <a:sym typeface="Poppins"/>
              </a:rPr>
              <a:t>The user interface features a clean input form capturing customer data fields including demographics, usage patterns, and behavioral metrics. The output dashboard displays churn probability percentage with color-coded risk levels, behavioral trend insights over time, and interactive intervention effect simulations. Users can explore how different retention strategies impact predicted outcomes in real-time.</a:t>
            </a:r>
          </a:p>
        </p:txBody>
      </p:sp>
      <p:sp>
        <p:nvSpPr>
          <p:cNvPr name="TextBox 21" id="21"/>
          <p:cNvSpPr txBox="true"/>
          <p:nvPr/>
        </p:nvSpPr>
        <p:spPr>
          <a:xfrm rot="0">
            <a:off x="1970384" y="9589693"/>
            <a:ext cx="3088700" cy="605226"/>
          </a:xfrm>
          <a:prstGeom prst="rect">
            <a:avLst/>
          </a:prstGeom>
        </p:spPr>
        <p:txBody>
          <a:bodyPr anchor="t" rtlCol="false" tIns="0" lIns="0" bIns="0" rIns="0">
            <a:spAutoFit/>
          </a:bodyPr>
          <a:lstStyle/>
          <a:p>
            <a:pPr algn="ctr" marL="0" indent="0" lvl="0">
              <a:lnSpc>
                <a:spcPts val="2341"/>
              </a:lnSpc>
            </a:pPr>
            <a:r>
              <a:rPr lang="en-US" sz="1672" spc="-5">
                <a:solidFill>
                  <a:srgbClr val="3A58E4"/>
                </a:solidFill>
                <a:latin typeface="Poppins"/>
                <a:ea typeface="Poppins"/>
                <a:cs typeface="Poppins"/>
                <a:sym typeface="Poppins"/>
              </a:rPr>
              <a:t>Churn probability displayed in dashboard</a:t>
            </a:r>
          </a:p>
        </p:txBody>
      </p:sp>
      <p:sp>
        <p:nvSpPr>
          <p:cNvPr name="TextBox 22" id="22"/>
          <p:cNvSpPr txBox="true"/>
          <p:nvPr/>
        </p:nvSpPr>
        <p:spPr>
          <a:xfrm rot="0">
            <a:off x="249423" y="9383673"/>
            <a:ext cx="3441922" cy="969640"/>
          </a:xfrm>
          <a:prstGeom prst="rect">
            <a:avLst/>
          </a:prstGeom>
        </p:spPr>
        <p:txBody>
          <a:bodyPr anchor="t" rtlCol="false" tIns="0" lIns="0" bIns="0" rIns="0">
            <a:spAutoFit/>
          </a:bodyPr>
          <a:lstStyle/>
          <a:p>
            <a:pPr algn="l" marL="0" indent="0" lvl="0">
              <a:lnSpc>
                <a:spcPts val="7980"/>
              </a:lnSpc>
              <a:spcBef>
                <a:spcPct val="0"/>
              </a:spcBef>
            </a:pPr>
            <a:r>
              <a:rPr lang="en-US" sz="5700" spc="-364">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62</a:t>
            </a:r>
            <a:r>
              <a:rPr lang="en-US" sz="5700" spc="-364">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129"/>
            <a:ext cx="1849954" cy="1848037"/>
            <a:chOff x="0" y="0"/>
            <a:chExt cx="2466605" cy="2464050"/>
          </a:xfrm>
        </p:grpSpPr>
        <p:grpSp>
          <p:nvGrpSpPr>
            <p:cNvPr name="Group 6" id="6"/>
            <p:cNvGrpSpPr/>
            <p:nvPr/>
          </p:nvGrpSpPr>
          <p:grpSpPr>
            <a:xfrm rot="0">
              <a:off x="0" y="0"/>
              <a:ext cx="2466605" cy="2464050"/>
              <a:chOff x="0" y="0"/>
              <a:chExt cx="787566" cy="786750"/>
            </a:xfrm>
          </p:grpSpPr>
          <p:sp>
            <p:nvSpPr>
              <p:cNvPr name="Freeform 7" id="7"/>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09</a:t>
              </a:r>
            </a:p>
          </p:txBody>
        </p:sp>
      </p:grpSp>
      <p:sp>
        <p:nvSpPr>
          <p:cNvPr name="Freeform 10" id="10"/>
          <p:cNvSpPr/>
          <p:nvPr/>
        </p:nvSpPr>
        <p:spPr>
          <a:xfrm flipH="false" flipV="false" rot="0">
            <a:off x="6377123" y="2944004"/>
            <a:ext cx="12468655" cy="6499286"/>
          </a:xfrm>
          <a:custGeom>
            <a:avLst/>
            <a:gdLst/>
            <a:ahLst/>
            <a:cxnLst/>
            <a:rect r="r" b="b" t="t" l="l"/>
            <a:pathLst>
              <a:path h="6499286" w="12468655">
                <a:moveTo>
                  <a:pt x="0" y="0"/>
                </a:moveTo>
                <a:lnTo>
                  <a:pt x="12468655" y="0"/>
                </a:lnTo>
                <a:lnTo>
                  <a:pt x="12468655" y="6499286"/>
                </a:lnTo>
                <a:lnTo>
                  <a:pt x="0" y="6499286"/>
                </a:lnTo>
                <a:lnTo>
                  <a:pt x="0" y="0"/>
                </a:lnTo>
                <a:close/>
              </a:path>
            </a:pathLst>
          </a:custGeom>
          <a:blipFill>
            <a:blip r:embed="rId2"/>
            <a:stretch>
              <a:fillRect l="0" t="0" r="0" b="0"/>
            </a:stretch>
          </a:blipFill>
        </p:spPr>
      </p:sp>
      <p:grpSp>
        <p:nvGrpSpPr>
          <p:cNvPr name="Group 11" id="11"/>
          <p:cNvGrpSpPr/>
          <p:nvPr/>
        </p:nvGrpSpPr>
        <p:grpSpPr>
          <a:xfrm rot="0">
            <a:off x="1028700" y="4407668"/>
            <a:ext cx="6730921" cy="379246"/>
            <a:chOff x="0" y="0"/>
            <a:chExt cx="8974562" cy="505662"/>
          </a:xfrm>
        </p:grpSpPr>
        <p:sp>
          <p:nvSpPr>
            <p:cNvPr name="TextBox 12" id="12"/>
            <p:cNvSpPr txBox="true"/>
            <p:nvPr/>
          </p:nvSpPr>
          <p:spPr>
            <a:xfrm rot="0">
              <a:off x="0" y="-49117"/>
              <a:ext cx="897456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PROMPT → CODE GENERATION EXAMPLES</a:t>
              </a:r>
            </a:p>
          </p:txBody>
        </p:sp>
        <p:sp>
          <p:nvSpPr>
            <p:cNvPr name="Freeform 13" id="13"/>
            <p:cNvSpPr/>
            <p:nvPr/>
          </p:nvSpPr>
          <p:spPr>
            <a:xfrm flipH="false" flipV="false" rot="-8687136">
              <a:off x="8443725"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1256766" y="1546639"/>
            <a:ext cx="5412331"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Proof of Prompts</a:t>
            </a:r>
          </a:p>
        </p:txBody>
      </p:sp>
      <p:sp>
        <p:nvSpPr>
          <p:cNvPr name="TextBox 15" id="15"/>
          <p:cNvSpPr txBox="true"/>
          <p:nvPr/>
        </p:nvSpPr>
        <p:spPr>
          <a:xfrm rot="0">
            <a:off x="1028700" y="5480804"/>
            <a:ext cx="6570559" cy="3469300"/>
          </a:xfrm>
          <a:prstGeom prst="rect">
            <a:avLst/>
          </a:prstGeom>
        </p:spPr>
        <p:txBody>
          <a:bodyPr anchor="t" rtlCol="false" tIns="0" lIns="0" bIns="0" rIns="0">
            <a:spAutoFit/>
          </a:bodyPr>
          <a:lstStyle/>
          <a:p>
            <a:pPr algn="just" marL="0" indent="0" lvl="0">
              <a:lnSpc>
                <a:spcPts val="2503"/>
              </a:lnSpc>
            </a:pPr>
            <a:r>
              <a:rPr lang="en-US" sz="1788" spc="-5">
                <a:solidFill>
                  <a:srgbClr val="3A58E4"/>
                </a:solidFill>
                <a:latin typeface="Poppins"/>
                <a:ea typeface="Poppins"/>
                <a:cs typeface="Poppins"/>
                <a:sym typeface="Poppins"/>
              </a:rPr>
              <a:t>"Build a churn prediction model using behavioral features"</a:t>
            </a:r>
          </a:p>
          <a:p>
            <a:pPr algn="just" marL="0" indent="0" lvl="0">
              <a:lnSpc>
                <a:spcPts val="2503"/>
              </a:lnSpc>
            </a:pPr>
            <a:r>
              <a:rPr lang="en-US" sz="1788" spc="-5">
                <a:solidFill>
                  <a:srgbClr val="3A58E4"/>
                </a:solidFill>
                <a:latin typeface="Poppins"/>
                <a:ea typeface="Poppins"/>
                <a:cs typeface="Poppins"/>
                <a:sym typeface="Poppins"/>
              </a:rPr>
              <a:t>→ Generated: Random Forest classifier with feature importance</a:t>
            </a:r>
          </a:p>
          <a:p>
            <a:pPr algn="just" marL="0" indent="0" lvl="0">
              <a:lnSpc>
                <a:spcPts val="2503"/>
              </a:lnSpc>
            </a:pPr>
            <a:r>
              <a:rPr lang="en-US" sz="1788" spc="-5">
                <a:solidFill>
                  <a:srgbClr val="3A58E4"/>
                </a:solidFill>
                <a:latin typeface="Poppins"/>
                <a:ea typeface="Poppins"/>
                <a:cs typeface="Poppins"/>
                <a:sym typeface="Poppins"/>
              </a:rPr>
              <a:t>"Create a Flask web app for ML prediction"</a:t>
            </a:r>
          </a:p>
          <a:p>
            <a:pPr algn="just" marL="0" indent="0" lvl="0">
              <a:lnSpc>
                <a:spcPts val="2503"/>
              </a:lnSpc>
            </a:pPr>
            <a:r>
              <a:rPr lang="en-US" sz="1788" spc="-5">
                <a:solidFill>
                  <a:srgbClr val="3A58E4"/>
                </a:solidFill>
                <a:latin typeface="Poppins"/>
                <a:ea typeface="Poppins"/>
                <a:cs typeface="Poppins"/>
                <a:sym typeface="Poppins"/>
              </a:rPr>
              <a:t>→ Generated: RESTful API endpoints with model integration</a:t>
            </a:r>
          </a:p>
          <a:p>
            <a:pPr algn="just" marL="0" indent="0" lvl="0">
              <a:lnSpc>
                <a:spcPts val="2503"/>
              </a:lnSpc>
            </a:pPr>
            <a:r>
              <a:rPr lang="en-US" sz="1788" spc="-5">
                <a:solidFill>
                  <a:srgbClr val="3A58E4"/>
                </a:solidFill>
                <a:latin typeface="Poppins"/>
                <a:ea typeface="Poppins"/>
                <a:cs typeface="Poppins"/>
                <a:sym typeface="Poppins"/>
              </a:rPr>
              <a:t>"Generate frontend UI for prediction dashboard"</a:t>
            </a:r>
          </a:p>
          <a:p>
            <a:pPr algn="just" marL="0" indent="0" lvl="0">
              <a:lnSpc>
                <a:spcPts val="2503"/>
              </a:lnSpc>
            </a:pPr>
            <a:r>
              <a:rPr lang="en-US" sz="1788" spc="-5">
                <a:solidFill>
                  <a:srgbClr val="3A58E4"/>
                </a:solidFill>
                <a:latin typeface="Poppins"/>
                <a:ea typeface="Poppins"/>
                <a:cs typeface="Poppins"/>
                <a:sym typeface="Poppins"/>
              </a:rPr>
              <a:t>→ Generated: HTML/CSS forms with result display</a:t>
            </a:r>
          </a:p>
          <a:p>
            <a:pPr algn="just" marL="0" indent="0" lvl="0">
              <a:lnSpc>
                <a:spcPts val="2503"/>
              </a:lnSpc>
            </a:pPr>
            <a:r>
              <a:rPr lang="en-US" sz="1788" spc="-5">
                <a:solidFill>
                  <a:srgbClr val="3A58E4"/>
                </a:solidFill>
                <a:latin typeface="Poppins"/>
                <a:ea typeface="Poppins"/>
                <a:cs typeface="Poppins"/>
                <a:sym typeface="Poppins"/>
              </a:rPr>
              <a:t>"Implement intervention impact simulation logic"</a:t>
            </a:r>
          </a:p>
          <a:p>
            <a:pPr algn="just" marL="0" indent="0" lvl="0">
              <a:lnSpc>
                <a:spcPts val="2503"/>
              </a:lnSpc>
            </a:pPr>
            <a:r>
              <a:rPr lang="en-US" sz="1788" spc="-5">
                <a:solidFill>
                  <a:srgbClr val="3A58E4"/>
                </a:solidFill>
                <a:latin typeface="Poppins"/>
                <a:ea typeface="Poppins"/>
                <a:cs typeface="Poppins"/>
                <a:sym typeface="Poppins"/>
              </a:rPr>
              <a:t>→ Generated: Scenario analysis functions with probability adjustments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858663"/>
            <a:chOff x="0" y="0"/>
            <a:chExt cx="2298277" cy="10478218"/>
          </a:xfrm>
        </p:grpSpPr>
        <p:sp>
          <p:nvSpPr>
            <p:cNvPr name="Freeform 6" id="6"/>
            <p:cNvSpPr/>
            <p:nvPr/>
          </p:nvSpPr>
          <p:spPr>
            <a:xfrm flipH="false" flipV="false" rot="0">
              <a:off x="689778" y="0"/>
              <a:ext cx="905696" cy="947395"/>
            </a:xfrm>
            <a:custGeom>
              <a:avLst/>
              <a:gdLst/>
              <a:ahLst/>
              <a:cxnLst/>
              <a:rect r="r" b="b" t="t" l="l"/>
              <a:pathLst>
                <a:path h="947395" w="905696">
                  <a:moveTo>
                    <a:pt x="0" y="0"/>
                  </a:moveTo>
                  <a:lnTo>
                    <a:pt x="905696" y="0"/>
                  </a:lnTo>
                  <a:lnTo>
                    <a:pt x="905696" y="947395"/>
                  </a:lnTo>
                  <a:lnTo>
                    <a:pt x="0" y="947395"/>
                  </a:lnTo>
                  <a:lnTo>
                    <a:pt x="0" y="0"/>
                  </a:lnTo>
                  <a:close/>
                </a:path>
              </a:pathLst>
            </a:custGeom>
            <a:blipFill>
              <a:blip r:embed="rId2"/>
              <a:stretch>
                <a:fillRect l="0" t="0" r="0" b="0"/>
              </a:stretch>
            </a:blipFill>
          </p:spPr>
        </p:sp>
        <p:sp>
          <p:nvSpPr>
            <p:cNvPr name="TextBox 7" id="7"/>
            <p:cNvSpPr txBox="true"/>
            <p:nvPr/>
          </p:nvSpPr>
          <p:spPr>
            <a:xfrm rot="0">
              <a:off x="0" y="1263035"/>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NovaByte</a:t>
              </a:r>
            </a:p>
          </p:txBody>
        </p:sp>
        <p:sp>
          <p:nvSpPr>
            <p:cNvPr name="TextBox 8" id="8"/>
            <p:cNvSpPr txBox="true"/>
            <p:nvPr/>
          </p:nvSpPr>
          <p:spPr>
            <a:xfrm rot="0">
              <a:off x="13024" y="1691245"/>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Analytics</a:t>
              </a:r>
            </a:p>
          </p:txBody>
        </p:sp>
        <p:sp>
          <p:nvSpPr>
            <p:cNvPr name="TextBox 9" id="9"/>
            <p:cNvSpPr txBox="true"/>
            <p:nvPr/>
          </p:nvSpPr>
          <p:spPr>
            <a:xfrm rot="0">
              <a:off x="13024" y="9631322"/>
              <a:ext cx="2272228" cy="418685"/>
            </a:xfrm>
            <a:prstGeom prst="rect">
              <a:avLst/>
            </a:prstGeom>
          </p:spPr>
          <p:txBody>
            <a:bodyPr anchor="t" rtlCol="false" tIns="0" lIns="0" bIns="0" rIns="0">
              <a:spAutoFit/>
            </a:bodyPr>
            <a:lstStyle/>
            <a:p>
              <a:pPr algn="ctr" marL="0" indent="0" lvl="0">
                <a:lnSpc>
                  <a:spcPts val="2294"/>
                </a:lnSpc>
              </a:pPr>
              <a:r>
                <a:rPr lang="en-US" b="true" sz="2144">
                  <a:solidFill>
                    <a:srgbClr val="FFFFFF"/>
                  </a:solidFill>
                  <a:latin typeface="Poppins Bold"/>
                  <a:ea typeface="Poppins Bold"/>
                  <a:cs typeface="Poppins Bold"/>
                  <a:sym typeface="Poppins Bold"/>
                </a:rPr>
                <a:t>10</a:t>
              </a:r>
            </a:p>
          </p:txBody>
        </p:sp>
        <p:sp>
          <p:nvSpPr>
            <p:cNvPr name="TextBox 10" id="10"/>
            <p:cNvSpPr txBox="true"/>
            <p:nvPr/>
          </p:nvSpPr>
          <p:spPr>
            <a:xfrm rot="0">
              <a:off x="26049" y="10059532"/>
              <a:ext cx="2272228" cy="418685"/>
            </a:xfrm>
            <a:prstGeom prst="rect">
              <a:avLst/>
            </a:prstGeom>
          </p:spPr>
          <p:txBody>
            <a:bodyPr anchor="t" rtlCol="false" tIns="0" lIns="0" bIns="0" rIns="0">
              <a:spAutoFit/>
            </a:bodyPr>
            <a:lstStyle/>
            <a:p>
              <a:pPr algn="ctr" marL="0" indent="0" lvl="0">
                <a:lnSpc>
                  <a:spcPts val="2294"/>
                </a:lnSpc>
              </a:pPr>
              <a:r>
                <a:rPr lang="en-US" sz="2144">
                  <a:solidFill>
                    <a:srgbClr val="FFFFFF"/>
                  </a:solidFill>
                  <a:latin typeface="Poppins"/>
                  <a:ea typeface="Poppins"/>
                  <a:cs typeface="Poppins"/>
                  <a:sym typeface="Poppins"/>
                </a:rPr>
                <a:t>of 10</a:t>
              </a:r>
            </a:p>
          </p:txBody>
        </p:sp>
      </p:grpSp>
      <p:grpSp>
        <p:nvGrpSpPr>
          <p:cNvPr name="Group 11" id="11"/>
          <p:cNvGrpSpPr/>
          <p:nvPr/>
        </p:nvGrpSpPr>
        <p:grpSpPr>
          <a:xfrm rot="0">
            <a:off x="8986465" y="0"/>
            <a:ext cx="4378150" cy="10287000"/>
            <a:chOff x="0" y="0"/>
            <a:chExt cx="678290" cy="1593725"/>
          </a:xfrm>
        </p:grpSpPr>
        <p:sp>
          <p:nvSpPr>
            <p:cNvPr name="Freeform 12" id="12"/>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3"/>
              <a:stretch>
                <a:fillRect l="-16964" t="0" r="-16964" b="0"/>
              </a:stretch>
            </a:blipFill>
          </p:spPr>
        </p:sp>
      </p:grpSp>
      <p:sp>
        <p:nvSpPr>
          <p:cNvPr name="AutoShape 13" id="13"/>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4" id="14"/>
          <p:cNvSpPr txBox="true"/>
          <p:nvPr/>
        </p:nvSpPr>
        <p:spPr>
          <a:xfrm rot="0">
            <a:off x="14243920" y="5570824"/>
            <a:ext cx="3441546" cy="1221257"/>
          </a:xfrm>
          <a:prstGeom prst="rect">
            <a:avLst/>
          </a:prstGeom>
        </p:spPr>
        <p:txBody>
          <a:bodyPr anchor="t" rtlCol="false" tIns="0" lIns="0" bIns="0" rIns="0">
            <a:spAutoFit/>
          </a:bodyPr>
          <a:lstStyle/>
          <a:p>
            <a:pPr algn="just" marL="0" indent="0" lvl="0">
              <a:lnSpc>
                <a:spcPts val="2393"/>
              </a:lnSpc>
            </a:pPr>
            <a:r>
              <a:rPr lang="en-US" sz="1709" spc="-5">
                <a:solidFill>
                  <a:srgbClr val="FFFFFF"/>
                </a:solidFill>
                <a:latin typeface="Poppins"/>
                <a:ea typeface="Poppins"/>
                <a:cs typeface="Poppins"/>
                <a:sym typeface="Poppins"/>
              </a:rPr>
              <a:t>• scikit-learn documentation</a:t>
            </a:r>
          </a:p>
          <a:p>
            <a:pPr algn="just" marL="0" indent="0" lvl="0">
              <a:lnSpc>
                <a:spcPts val="2393"/>
              </a:lnSpc>
            </a:pPr>
            <a:r>
              <a:rPr lang="en-US" sz="1709" spc="-5">
                <a:solidFill>
                  <a:srgbClr val="FFFFFF"/>
                </a:solidFill>
                <a:latin typeface="Poppins"/>
                <a:ea typeface="Poppins"/>
                <a:cs typeface="Poppins"/>
                <a:sym typeface="Poppins"/>
              </a:rPr>
              <a:t>• Flask documentation</a:t>
            </a:r>
          </a:p>
          <a:p>
            <a:pPr algn="just" marL="0" indent="0" lvl="0">
              <a:lnSpc>
                <a:spcPts val="2393"/>
              </a:lnSpc>
            </a:pPr>
            <a:r>
              <a:rPr lang="en-US" sz="1709" spc="-5">
                <a:solidFill>
                  <a:srgbClr val="FFFFFF"/>
                </a:solidFill>
                <a:latin typeface="Poppins"/>
                <a:ea typeface="Poppins"/>
                <a:cs typeface="Poppins"/>
                <a:sym typeface="Poppins"/>
              </a:rPr>
              <a:t>• Kaggle datasets</a:t>
            </a:r>
          </a:p>
          <a:p>
            <a:pPr algn="just" marL="0" indent="0" lvl="0">
              <a:lnSpc>
                <a:spcPts val="2393"/>
              </a:lnSpc>
            </a:pPr>
            <a:r>
              <a:rPr lang="en-US" sz="1709" spc="-5">
                <a:solidFill>
                  <a:srgbClr val="FFFFFF"/>
                </a:solidFill>
                <a:latin typeface="Poppins"/>
                <a:ea typeface="Poppins"/>
                <a:cs typeface="Poppins"/>
                <a:sym typeface="Poppins"/>
              </a:rPr>
              <a:t>• Python official documentation</a:t>
            </a:r>
          </a:p>
        </p:txBody>
      </p:sp>
      <p:sp>
        <p:nvSpPr>
          <p:cNvPr name="TextBox 15" id="15"/>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16" id="16"/>
          <p:cNvSpPr txBox="true"/>
          <p:nvPr/>
        </p:nvSpPr>
        <p:spPr>
          <a:xfrm rot="0">
            <a:off x="1028700" y="2316167"/>
            <a:ext cx="6671890" cy="2180870"/>
          </a:xfrm>
          <a:prstGeom prst="rect">
            <a:avLst/>
          </a:prstGeom>
        </p:spPr>
        <p:txBody>
          <a:bodyPr anchor="t" rtlCol="false" tIns="0" lIns="0" bIns="0" rIns="0">
            <a:spAutoFit/>
          </a:bodyPr>
          <a:lstStyle/>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References &amp;</a:t>
            </a:r>
          </a:p>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Key 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DAHG5_jx1NM</dc:identifier>
  <dcterms:modified xsi:type="dcterms:W3CDTF">2011-08-01T06:04:30Z</dcterms:modified>
  <cp:revision>1</cp:revision>
  <dc:title>Churn Insight Studio: NovaByte Analytics</dc:title>
</cp:coreProperties>
</file>